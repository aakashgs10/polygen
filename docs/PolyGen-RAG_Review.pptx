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3" r:id="rId32"/>
    <p:sldId id="274" r:id="rId20"/>
    <p:sldId id="276" r:id="rId21"/>
    <p:sldId id="284" r:id="rId33"/>
    <p:sldId id="277" r:id="rId22"/>
    <p:sldId id="278" r:id="rId23"/>
    <p:sldId id="279" r:id="rId24"/>
    <p:sldId id="281" r:id="rId25"/>
    <p:sldId id="285" r:id="rId34"/>
    <p:sldId id="282"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11111"/>
                </a:solidFill>
                <a:latin typeface="Arial"/>
              </a:defRPr>
            </a:pPr>
            <a:r>
              <a:rPr lang="en-IN" sz="1250" b="0" i="0" u="none" strike="noStrike">
                <a:solidFill>
                  <a:srgbClr val="111111"/>
                </a:solidFill>
                <a:latin typeface="Arial"/>
              </a:rPr>
              <a:t>Lift over constant baseline (%)</a:t>
            </a:r>
          </a:p>
        </c:rich>
      </c:tx>
      <c:overlay val="0"/>
    </c:title>
    <c:autoTitleDeleted val="0"/>
    <c:plotArea>
      <c:layout/>
      <c:barChart>
        <c:barDir val="col"/>
        <c:grouping val="clustered"/>
        <c:varyColors val="0"/>
        <c:ser>
          <c:idx val="0"/>
          <c:order val="0"/>
          <c:tx>
            <c:strRef>
              <c:f>Sheet1!$B$1</c:f>
              <c:strCache>
                <c:ptCount val="1"/>
                <c:pt idx="0">
                  <c:v>Lift</c:v>
                </c:pt>
              </c:strCache>
            </c:strRef>
          </c:tx>
          <c:spPr>
            <a:solidFill>
              <a:srgbClr val="9C5A0B"/>
            </a:solidFill>
            <a:effectLst/>
          </c:spPr>
          <c:invertIfNegative val="0"/>
          <c:dPt>
            <c:idx val="0"/>
            <c:invertIfNegative val="0"/>
            <c:bubble3D val="0"/>
            <c:extLst>
              <c:ext xmlns:c16="http://schemas.microsoft.com/office/drawing/2014/chart" uri="{C3380CC4-5D6E-409C-BE32-E72D297353CC}">
                <c16:uniqueId val="{00000001-AF0D-4DB0-8112-C2A8AC16B44D}"/>
              </c:ext>
            </c:extLst>
          </c:dPt>
          <c:dPt>
            <c:idx val="1"/>
            <c:invertIfNegative val="0"/>
            <c:bubble3D val="0"/>
            <c:spPr>
              <a:solidFill>
                <a:srgbClr val="156B33"/>
              </a:solidFill>
              <a:effectLst/>
            </c:spPr>
            <c:extLst>
              <c:ext xmlns:c16="http://schemas.microsoft.com/office/drawing/2014/chart" uri="{C3380CC4-5D6E-409C-BE32-E72D297353CC}">
                <c16:uniqueId val="{00000003-AF0D-4DB0-8112-C2A8AC16B44D}"/>
              </c:ext>
            </c:extLst>
          </c:dPt>
          <c:dPt>
            <c:idx val="2"/>
            <c:invertIfNegative val="0"/>
            <c:bubble3D val="0"/>
            <c:spPr>
              <a:solidFill>
                <a:srgbClr val="156B33"/>
              </a:solidFill>
              <a:effectLst/>
            </c:spPr>
            <c:extLst>
              <c:ext xmlns:c16="http://schemas.microsoft.com/office/drawing/2014/chart" uri="{C3380CC4-5D6E-409C-BE32-E72D297353CC}">
                <c16:uniqueId val="{00000005-AF0D-4DB0-8112-C2A8AC16B44D}"/>
              </c:ext>
            </c:extLst>
          </c:dPt>
          <c:dPt>
            <c:idx val="3"/>
            <c:invertIfNegative val="0"/>
            <c:bubble3D val="0"/>
            <c:spPr>
              <a:solidFill>
                <a:srgbClr val="156B33"/>
              </a:solidFill>
              <a:effectLst/>
            </c:spPr>
            <c:extLst>
              <c:ext xmlns:c16="http://schemas.microsoft.com/office/drawing/2014/chart" uri="{C3380CC4-5D6E-409C-BE32-E72D297353CC}">
                <c16:uniqueId val="{00000007-AF0D-4DB0-8112-C2A8AC16B44D}"/>
              </c:ext>
            </c:extLst>
          </c:dPt>
          <c:dPt>
            <c:idx val="4"/>
            <c:invertIfNegative val="0"/>
            <c:bubble3D val="0"/>
            <c:spPr>
              <a:solidFill>
                <a:srgbClr val="156B33"/>
              </a:solidFill>
              <a:effectLst/>
            </c:spPr>
            <c:extLst>
              <c:ext xmlns:c16="http://schemas.microsoft.com/office/drawing/2014/chart" uri="{C3380CC4-5D6E-409C-BE32-E72D297353CC}">
                <c16:uniqueId val="{00000009-AF0D-4DB0-8112-C2A8AC16B44D}"/>
              </c:ext>
            </c:extLst>
          </c:dPt>
          <c:dLbls>
            <c:numFmt formatCode="0.0" sourceLinked="0"/>
            <c:spPr>
              <a:noFill/>
              <a:ln>
                <a:noFill/>
              </a:ln>
              <a:effectLst/>
            </c:spPr>
            <c:txPr>
              <a:bodyPr/>
              <a:lstStyle/>
              <a:p>
                <a:pPr>
                  <a:defRPr sz="1100" b="0" i="0" u="none" strike="noStrike">
                    <a:solidFill>
                      <a:srgbClr val="11111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Tg</c:v>
                </c:pt>
                <c:pt idx="1">
                  <c:v>FFV</c:v>
                </c:pt>
                <c:pt idx="2">
                  <c:v>Tc</c:v>
                </c:pt>
                <c:pt idx="3">
                  <c:v>Density</c:v>
                </c:pt>
                <c:pt idx="4">
                  <c:v>Rg</c:v>
                </c:pt>
              </c:strCache>
            </c:strRef>
          </c:cat>
          <c:val>
            <c:numRef>
              <c:f>Sheet1!$B$2:$B$6</c:f>
              <c:numCache>
                <c:formatCode>General</c:formatCode>
                <c:ptCount val="5"/>
                <c:pt idx="0">
                  <c:v>24.4</c:v>
                </c:pt>
                <c:pt idx="1">
                  <c:v>40.799999999999997</c:v>
                </c:pt>
                <c:pt idx="2">
                  <c:v>66</c:v>
                </c:pt>
                <c:pt idx="3">
                  <c:v>49.6</c:v>
                </c:pt>
                <c:pt idx="4">
                  <c:v>58.3</c:v>
                </c:pt>
              </c:numCache>
            </c:numRef>
          </c:val>
          <c:extLst>
            <c:ext xmlns:c16="http://schemas.microsoft.com/office/drawing/2014/chart" uri="{C3380CC4-5D6E-409C-BE32-E72D297353CC}">
              <c16:uniqueId val="{0000000A-AF0D-4DB0-8112-C2A8AC16B44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5C5C"/>
                </a:solidFill>
                <a:latin typeface="Arial"/>
              </a:defRPr>
            </a:pPr>
            <a:endParaRPr lang="en-US"/>
          </a:p>
        </c:txPr>
        <c:crossAx val="2094734552"/>
        <c:crosses val="autoZero"/>
        <c:auto val="1"/>
        <c:lblAlgn val="ctr"/>
        <c:lblOffset val="100"/>
        <c:noMultiLvlLbl val="1"/>
      </c:catAx>
      <c:valAx>
        <c:axId val="2094734552"/>
        <c:scaling>
          <c:orientation val="minMax"/>
          <c:max val="80"/>
        </c:scaling>
        <c:delete val="0"/>
        <c:axPos val="l"/>
        <c:majorGridlines>
          <c:spPr>
            <a:ln w="6350" cap="flat">
              <a:solidFill>
                <a:srgbClr val="D5D5D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5C5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7538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reverse the usual direction. Conventional ML predicts properties of polymers that already exist. We start from required properties and generate structures to match. The validation step at the end is what makes this usable rather than speculative.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mismatch between these two datasets is the central engineering problem of the project and is what forces pseudo-labelling in Phase 3a.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pre-empts the obvious question: why does the work log not follow the architecture diagram left to right? Because the dependency runs the other way during training.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gate that determines whether the C-VAE actually listens to the requested property. Until it passes, no claim about conditioning can be made, and Tiers 1 and 5 are not worth building on top.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chart" Target="../charts/char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301234"/>
            <a:ext cx="11365992" cy="6272784"/>
          </a:xfrm>
          <a:prstGeom prst="roundRect">
            <a:avLst>
              <a:gd name="adj" fmla="val 2332"/>
            </a:avLst>
          </a:prstGeom>
          <a:solidFill>
            <a:srgbClr val="FFFFFF"/>
          </a:solidFill>
          <a:ln w="12700">
            <a:solidFill>
              <a:srgbClr val="333333"/>
            </a:solidFill>
            <a:prstDash val="solid"/>
          </a:ln>
        </p:spPr>
        <p:txBody>
          <a:bodyPr/>
          <a:lstStyle/>
          <a:p>
            <a:endParaRPr lang="en-IN" dirty="0"/>
          </a:p>
        </p:txBody>
      </p:sp>
      <p:sp>
        <p:nvSpPr>
          <p:cNvPr id="3" name="Text 1"/>
          <p:cNvSpPr/>
          <p:nvPr/>
        </p:nvSpPr>
        <p:spPr>
          <a:xfrm>
            <a:off x="914400" y="1155940"/>
            <a:ext cx="10360152" cy="1678700"/>
          </a:xfrm>
          <a:prstGeom prst="rect">
            <a:avLst/>
          </a:prstGeom>
          <a:noFill/>
          <a:ln/>
        </p:spPr>
        <p:txBody>
          <a:bodyPr wrap="square" lIns="0" tIns="0" rIns="0" bIns="0" rtlCol="0" anchor="ctr"/>
          <a:lstStyle/>
          <a:p>
            <a:pPr marL="0" indent="0" algn="ctr">
              <a:buNone/>
            </a:pPr>
            <a:r>
              <a:rPr lang="en-US" sz="4800" b="1" dirty="0">
                <a:solidFill>
                  <a:srgbClr val="111111"/>
                </a:solidFill>
                <a:latin typeface="Arial" pitchFamily="34" charset="0"/>
                <a:ea typeface="Arial" pitchFamily="34" charset="-122"/>
                <a:cs typeface="Arial" pitchFamily="34" charset="-120"/>
              </a:rPr>
              <a:t>PolyGen-RAG</a:t>
            </a:r>
            <a:endParaRPr lang="en-US" sz="4800" dirty="0"/>
          </a:p>
        </p:txBody>
      </p:sp>
      <p:sp>
        <p:nvSpPr>
          <p:cNvPr id="4" name="Text 2"/>
          <p:cNvSpPr/>
          <p:nvPr/>
        </p:nvSpPr>
        <p:spPr>
          <a:xfrm>
            <a:off x="914400" y="2788920"/>
            <a:ext cx="10360152" cy="457200"/>
          </a:xfrm>
          <a:prstGeom prst="rect">
            <a:avLst/>
          </a:prstGeom>
          <a:noFill/>
          <a:ln/>
        </p:spPr>
        <p:txBody>
          <a:bodyPr wrap="square" lIns="0" tIns="0" rIns="0" bIns="0" rtlCol="0" anchor="ctr"/>
          <a:lstStyle/>
          <a:p>
            <a:pPr marL="0" indent="0" algn="ctr">
              <a:buNone/>
            </a:pPr>
            <a:r>
              <a:rPr lang="en-US" sz="1900" dirty="0">
                <a:solidFill>
                  <a:srgbClr val="2E2E2E"/>
                </a:solidFill>
                <a:latin typeface="Arial" pitchFamily="34" charset="0"/>
                <a:ea typeface="Arial" pitchFamily="34" charset="-122"/>
                <a:cs typeface="Arial" pitchFamily="34" charset="-120"/>
              </a:rPr>
              <a:t>An Inverse Design Assistant for Functional Polymers</a:t>
            </a:r>
            <a:endParaRPr lang="en-US" sz="1900" dirty="0"/>
          </a:p>
        </p:txBody>
      </p:sp>
      <p:sp>
        <p:nvSpPr>
          <p:cNvPr id="5" name="Shape 3"/>
          <p:cNvSpPr/>
          <p:nvPr/>
        </p:nvSpPr>
        <p:spPr>
          <a:xfrm>
            <a:off x="5637276" y="3605798"/>
            <a:ext cx="914400" cy="41148"/>
          </a:xfrm>
          <a:prstGeom prst="rect">
            <a:avLst/>
          </a:prstGeom>
          <a:solidFill>
            <a:srgbClr val="156B33"/>
          </a:solidFill>
          <a:ln w="12700">
            <a:solidFill>
              <a:srgbClr val="333333"/>
            </a:solidFill>
            <a:prstDash val="solid"/>
          </a:ln>
        </p:spPr>
        <p:txBody>
          <a:bodyPr/>
          <a:p/>
        </p:txBody>
      </p:sp>
      <p:sp>
        <p:nvSpPr>
          <p:cNvPr id="6" name="Text 4"/>
          <p:cNvSpPr/>
          <p:nvPr/>
        </p:nvSpPr>
        <p:spPr>
          <a:xfrm>
            <a:off x="914400" y="4088920"/>
            <a:ext cx="5181600" cy="457200"/>
          </a:xfrm>
          <a:prstGeom prst="rect">
            <a:avLst/>
          </a:prstGeom>
          <a:noFill/>
          <a:ln/>
        </p:spPr>
        <p:txBody>
          <a:bodyPr wrap="square" lIns="0" tIns="0" rIns="0" bIns="0" rtlCol="0" anchor="ctr"/>
          <a:lstStyle/>
          <a:p>
            <a:pPr marL="0" indent="0" algn="ctr">
              <a:buNone/>
            </a:pPr>
            <a:r>
              <a:rPr lang="en-US" sz="1400" b="1" dirty="0">
                <a:solidFill>
                  <a:srgbClr val="156B33"/>
                </a:solidFill>
                <a:latin typeface="Arial" pitchFamily="34" charset="0"/>
                <a:cs typeface="Arial" pitchFamily="34" charset="-120"/>
              </a:rPr>
              <a:t>TEAM:</a:t>
            </a:r>
            <a:endParaRPr lang="en-US" sz="1400" dirty="0"/>
          </a:p>
        </p:txBody>
      </p:sp>
      <p:sp>
        <p:nvSpPr>
          <p:cNvPr id="8" name="Text 6"/>
          <p:cNvSpPr/>
          <p:nvPr/>
        </p:nvSpPr>
        <p:spPr>
          <a:xfrm>
            <a:off x="3726610" y="4617719"/>
            <a:ext cx="7547941" cy="806225"/>
          </a:xfrm>
          <a:prstGeom prst="rect">
            <a:avLst/>
          </a:prstGeom>
          <a:noFill/>
          <a:ln/>
        </p:spPr>
        <p:txBody>
          <a:bodyPr wrap="square" lIns="0" tIns="0" rIns="0" bIns="0" rtlCol="0" anchor="ctr"/>
          <a:lstStyle/>
          <a:p>
            <a:pPr marL="0" indent="0">
              <a:buNone/>
            </a:pPr>
            <a:r>
              <a:rPr lang="en-US" sz="1500" b="1" dirty="0">
                <a:solidFill>
                  <a:srgbClr val="111111"/>
                </a:solidFill>
                <a:latin typeface="Arial" pitchFamily="34" charset="0"/>
                <a:ea typeface="Arial" pitchFamily="34" charset="-122"/>
                <a:cs typeface="Arial" pitchFamily="34" charset="-120"/>
              </a:rPr>
              <a:t>Aakash G S(CB.SC.U4AIE24101)</a:t>
            </a:r>
          </a:p>
          <a:p>
            <a:pPr marL="0" indent="0">
              <a:buNone/>
            </a:pPr>
            <a:r>
              <a:rPr lang="en-US" sz="1500" b="1" dirty="0">
                <a:solidFill>
                  <a:srgbClr val="111111"/>
                </a:solidFill>
                <a:latin typeface="Arial" pitchFamily="34" charset="0"/>
                <a:ea typeface="Arial" pitchFamily="34" charset="-122"/>
                <a:cs typeface="Arial" pitchFamily="34" charset="-120"/>
              </a:rPr>
              <a:t>Adithya (CB.SC.U4AIE24005)</a:t>
            </a:r>
          </a:p>
          <a:p>
            <a:pPr marL="0" indent="0">
              <a:buNone/>
            </a:pPr>
            <a:r>
              <a:rPr lang="en-US" sz="1500" b="1" dirty="0">
                <a:solidFill>
                  <a:srgbClr val="111111"/>
                </a:solidFill>
                <a:latin typeface="Arial" pitchFamily="34" charset="0"/>
                <a:ea typeface="Arial" pitchFamily="34" charset="-122"/>
                <a:cs typeface="Arial" pitchFamily="34" charset="-120"/>
              </a:rPr>
              <a:t>Mithul Akshay (CB.SC.U4AIE24135)</a:t>
            </a:r>
          </a:p>
          <a:p>
            <a:pPr marL="0" indent="0">
              <a:buNone/>
            </a:pPr>
            <a:r>
              <a:rPr lang="en-US" sz="1500" b="1" dirty="0">
                <a:solidFill>
                  <a:srgbClr val="111111"/>
                </a:solidFill>
                <a:latin typeface="Arial" pitchFamily="34" charset="0"/>
                <a:ea typeface="Arial" pitchFamily="34" charset="-122"/>
                <a:cs typeface="Arial" pitchFamily="34" charset="-120"/>
              </a:rPr>
              <a:t>Tharun P V (CB.SC.U4AIE24037)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Agenda</a:t>
            </a:r>
            <a:endParaRPr lang="en-US" sz="2900" dirty="0"/>
          </a:p>
        </p:txBody>
      </p:sp>
      <p:sp>
        <p:nvSpPr>
          <p:cNvPr id="4" name="Text 2"/>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2</a:t>
            </a:r>
            <a:endParaRPr lang="en-US" sz="1000" dirty="0"/>
          </a:p>
        </p:txBody>
      </p:sp>
      <p:sp>
        <p:nvSpPr>
          <p:cNvPr id="5" name="Shape 3"/>
          <p:cNvSpPr/>
          <p:nvPr/>
        </p:nvSpPr>
        <p:spPr>
          <a:xfrm>
            <a:off x="960120" y="1828800"/>
            <a:ext cx="4846320" cy="896112"/>
          </a:xfrm>
          <a:prstGeom prst="roundRect">
            <a:avLst>
              <a:gd name="adj" fmla="val 8163"/>
            </a:avLst>
          </a:prstGeom>
          <a:solidFill>
            <a:srgbClr val="ECECEC"/>
          </a:solidFill>
          <a:ln w="12700">
            <a:solidFill>
              <a:srgbClr val="333333"/>
            </a:solidFill>
            <a:prstDash val="solid"/>
          </a:ln>
        </p:spPr>
        <p:txBody>
          <a:bodyPr/>
          <a:p/>
        </p:txBody>
      </p:sp>
      <p:sp>
        <p:nvSpPr>
          <p:cNvPr id="6" name="Shape 4"/>
          <p:cNvSpPr/>
          <p:nvPr/>
        </p:nvSpPr>
        <p:spPr>
          <a:xfrm>
            <a:off x="1188720" y="2093976"/>
            <a:ext cx="365760" cy="365760"/>
          </a:xfrm>
          <a:prstGeom prst="ellipse">
            <a:avLst/>
          </a:prstGeom>
          <a:solidFill>
            <a:srgbClr val="111111"/>
          </a:solidFill>
          <a:ln w="12700">
            <a:solidFill>
              <a:srgbClr val="333333"/>
            </a:solidFill>
            <a:prstDash val="solid"/>
          </a:ln>
        </p:spPr>
        <p:txBody>
          <a:bodyPr/>
          <a:p/>
        </p:txBody>
      </p:sp>
      <p:sp>
        <p:nvSpPr>
          <p:cNvPr id="7" name="Text 5"/>
          <p:cNvSpPr/>
          <p:nvPr/>
        </p:nvSpPr>
        <p:spPr>
          <a:xfrm>
            <a:off x="1188720" y="20939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p:nvPr/>
        </p:nvSpPr>
        <p:spPr>
          <a:xfrm>
            <a:off x="1691640" y="1975104"/>
            <a:ext cx="3931920" cy="292608"/>
          </a:xfrm>
          <a:prstGeom prst="rect">
            <a:avLst/>
          </a:prstGeom>
          <a:noFill/>
          <a:ln/>
        </p:spPr>
        <p:txBody>
          <a:bodyPr wrap="square" lIns="0" tIns="0" rIns="0" bIns="0" rtlCol="0" anchor="ctr"/>
          <a:lstStyle/>
          <a:p>
            <a:pPr marL="0" indent="0">
              <a:buNone/>
            </a:pPr>
            <a:r>
              <a:rPr lang="en-US" sz="1400" b="1" dirty="0">
                <a:solidFill>
                  <a:srgbClr val="111111"/>
                </a:solidFill>
                <a:latin typeface="Arial" pitchFamily="34" charset="0"/>
                <a:ea typeface="Arial" pitchFamily="34" charset="-122"/>
                <a:cs typeface="Arial" pitchFamily="34" charset="-120"/>
              </a:rPr>
              <a:t>Introduction</a:t>
            </a:r>
            <a:endParaRPr lang="en-US" sz="1400" dirty="0"/>
          </a:p>
        </p:txBody>
      </p:sp>
      <p:sp>
        <p:nvSpPr>
          <p:cNvPr id="9" name="Text 7"/>
          <p:cNvSpPr/>
          <p:nvPr/>
        </p:nvSpPr>
        <p:spPr>
          <a:xfrm>
            <a:off x="1691640" y="2286000"/>
            <a:ext cx="3977640" cy="274320"/>
          </a:xfrm>
          <a:prstGeom prst="rect">
            <a:avLst/>
          </a:prstGeom>
          <a:noFill/>
          <a:ln/>
        </p:spPr>
        <p:txBody>
          <a:bodyPr wrap="square" lIns="0" tIns="0" rIns="0" bIns="0" rtlCol="0" anchor="ctr"/>
          <a:lstStyle/>
          <a:p>
            <a:pPr marL="0" indent="0">
              <a:buNone/>
            </a:pPr>
            <a:r>
              <a:rPr lang="en-US" sz="1100" dirty="0">
                <a:solidFill>
                  <a:srgbClr val="5C5C5C"/>
                </a:solidFill>
                <a:latin typeface="Arial" pitchFamily="34" charset="0"/>
                <a:ea typeface="Arial" pitchFamily="34" charset="-122"/>
                <a:cs typeface="Arial" pitchFamily="34" charset="-120"/>
              </a:rPr>
              <a:t>What inverse polymer design means</a:t>
            </a:r>
            <a:endParaRPr lang="en-US" sz="1100" dirty="0"/>
          </a:p>
        </p:txBody>
      </p:sp>
      <p:sp>
        <p:nvSpPr>
          <p:cNvPr id="10" name="Shape 8"/>
          <p:cNvSpPr/>
          <p:nvPr/>
        </p:nvSpPr>
        <p:spPr>
          <a:xfrm>
            <a:off x="6126480" y="1828800"/>
            <a:ext cx="4846320" cy="896112"/>
          </a:xfrm>
          <a:prstGeom prst="roundRect">
            <a:avLst>
              <a:gd name="adj" fmla="val 8163"/>
            </a:avLst>
          </a:prstGeom>
          <a:solidFill>
            <a:srgbClr val="DCF2E4"/>
          </a:solidFill>
          <a:ln w="12700">
            <a:solidFill>
              <a:srgbClr val="333333"/>
            </a:solidFill>
            <a:prstDash val="solid"/>
          </a:ln>
        </p:spPr>
        <p:txBody>
          <a:bodyPr/>
          <a:p/>
        </p:txBody>
      </p:sp>
      <p:sp>
        <p:nvSpPr>
          <p:cNvPr id="11" name="Shape 9"/>
          <p:cNvSpPr/>
          <p:nvPr/>
        </p:nvSpPr>
        <p:spPr>
          <a:xfrm>
            <a:off x="6355080" y="2093976"/>
            <a:ext cx="365760" cy="365760"/>
          </a:xfrm>
          <a:prstGeom prst="ellipse">
            <a:avLst/>
          </a:prstGeom>
          <a:solidFill>
            <a:srgbClr val="111111"/>
          </a:solidFill>
          <a:ln w="12700">
            <a:solidFill>
              <a:srgbClr val="333333"/>
            </a:solidFill>
            <a:prstDash val="solid"/>
          </a:ln>
        </p:spPr>
        <p:txBody>
          <a:bodyPr/>
          <a:p/>
        </p:txBody>
      </p:sp>
      <p:sp>
        <p:nvSpPr>
          <p:cNvPr id="12" name="Text 10"/>
          <p:cNvSpPr/>
          <p:nvPr/>
        </p:nvSpPr>
        <p:spPr>
          <a:xfrm>
            <a:off x="6355080" y="209397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p:nvPr/>
        </p:nvSpPr>
        <p:spPr>
          <a:xfrm>
            <a:off x="6858000" y="1975104"/>
            <a:ext cx="3931920" cy="292608"/>
          </a:xfrm>
          <a:prstGeom prst="rect">
            <a:avLst/>
          </a:prstGeom>
          <a:noFill/>
          <a:ln/>
        </p:spPr>
        <p:txBody>
          <a:bodyPr wrap="square" lIns="0" tIns="0" rIns="0" bIns="0" rtlCol="0" anchor="ctr"/>
          <a:lstStyle/>
          <a:p>
            <a:pPr marL="0" indent="0">
              <a:buNone/>
            </a:pPr>
            <a:r>
              <a:rPr lang="en-US" sz="1400" b="1" dirty="0">
                <a:solidFill>
                  <a:srgbClr val="111111"/>
                </a:solidFill>
                <a:latin typeface="Arial" pitchFamily="34" charset="0"/>
                <a:ea typeface="Arial" pitchFamily="34" charset="-122"/>
                <a:cs typeface="Arial" pitchFamily="34" charset="-120"/>
              </a:rPr>
              <a:t>Problem Statement</a:t>
            </a:r>
            <a:endParaRPr lang="en-US" sz="1400" dirty="0"/>
          </a:p>
        </p:txBody>
      </p:sp>
      <p:sp>
        <p:nvSpPr>
          <p:cNvPr id="14" name="Text 12"/>
          <p:cNvSpPr/>
          <p:nvPr/>
        </p:nvSpPr>
        <p:spPr>
          <a:xfrm>
            <a:off x="6858000" y="2286000"/>
            <a:ext cx="3977640" cy="274320"/>
          </a:xfrm>
          <a:prstGeom prst="rect">
            <a:avLst/>
          </a:prstGeom>
          <a:noFill/>
          <a:ln/>
        </p:spPr>
        <p:txBody>
          <a:bodyPr wrap="square" lIns="0" tIns="0" rIns="0" bIns="0" rtlCol="0" anchor="ctr"/>
          <a:lstStyle/>
          <a:p>
            <a:pPr marL="0" indent="0">
              <a:buNone/>
            </a:pPr>
            <a:r>
              <a:rPr lang="en-US" sz="1100" dirty="0">
                <a:solidFill>
                  <a:srgbClr val="5C5C5C"/>
                </a:solidFill>
                <a:latin typeface="Arial" pitchFamily="34" charset="0"/>
                <a:ea typeface="Arial" pitchFamily="34" charset="-122"/>
                <a:cs typeface="Arial" pitchFamily="34" charset="-120"/>
              </a:rPr>
              <a:t>Three compounding difficulties</a:t>
            </a:r>
            <a:endParaRPr lang="en-US" sz="1100" dirty="0"/>
          </a:p>
        </p:txBody>
      </p:sp>
      <p:sp>
        <p:nvSpPr>
          <p:cNvPr id="15" name="Shape 13"/>
          <p:cNvSpPr/>
          <p:nvPr/>
        </p:nvSpPr>
        <p:spPr>
          <a:xfrm>
            <a:off x="960120" y="2880360"/>
            <a:ext cx="4846320" cy="896112"/>
          </a:xfrm>
          <a:prstGeom prst="roundRect">
            <a:avLst>
              <a:gd name="adj" fmla="val 8163"/>
            </a:avLst>
          </a:prstGeom>
          <a:solidFill>
            <a:srgbClr val="ECECEC"/>
          </a:solidFill>
          <a:ln w="12700">
            <a:solidFill>
              <a:srgbClr val="333333"/>
            </a:solidFill>
            <a:prstDash val="solid"/>
          </a:ln>
        </p:spPr>
        <p:txBody>
          <a:bodyPr/>
          <a:p/>
        </p:txBody>
      </p:sp>
      <p:sp>
        <p:nvSpPr>
          <p:cNvPr id="16" name="Shape 14"/>
          <p:cNvSpPr/>
          <p:nvPr/>
        </p:nvSpPr>
        <p:spPr>
          <a:xfrm>
            <a:off x="1188720" y="3145536"/>
            <a:ext cx="365760" cy="365760"/>
          </a:xfrm>
          <a:prstGeom prst="ellipse">
            <a:avLst/>
          </a:prstGeom>
          <a:solidFill>
            <a:srgbClr val="111111"/>
          </a:solidFill>
          <a:ln w="12700">
            <a:solidFill>
              <a:srgbClr val="333333"/>
            </a:solidFill>
            <a:prstDash val="solid"/>
          </a:ln>
        </p:spPr>
        <p:txBody>
          <a:bodyPr/>
          <a:p/>
        </p:txBody>
      </p:sp>
      <p:sp>
        <p:nvSpPr>
          <p:cNvPr id="17" name="Text 15"/>
          <p:cNvSpPr/>
          <p:nvPr/>
        </p:nvSpPr>
        <p:spPr>
          <a:xfrm>
            <a:off x="1188720" y="314553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8" name="Text 16"/>
          <p:cNvSpPr/>
          <p:nvPr/>
        </p:nvSpPr>
        <p:spPr>
          <a:xfrm>
            <a:off x="1691640" y="3026664"/>
            <a:ext cx="3931920" cy="292608"/>
          </a:xfrm>
          <a:prstGeom prst="rect">
            <a:avLst/>
          </a:prstGeom>
          <a:noFill/>
          <a:ln/>
        </p:spPr>
        <p:txBody>
          <a:bodyPr wrap="square" lIns="0" tIns="0" rIns="0" bIns="0" rtlCol="0" anchor="ctr"/>
          <a:lstStyle/>
          <a:p>
            <a:pPr marL="0" indent="0">
              <a:buNone/>
            </a:pPr>
            <a:r>
              <a:rPr lang="en-US" sz="1400" b="1" dirty="0">
                <a:solidFill>
                  <a:srgbClr val="111111"/>
                </a:solidFill>
                <a:latin typeface="Arial" pitchFamily="34" charset="0"/>
                <a:ea typeface="Arial" pitchFamily="34" charset="-122"/>
                <a:cs typeface="Arial" pitchFamily="34" charset="-120"/>
              </a:rPr>
              <a:t>Literature Review</a:t>
            </a:r>
            <a:endParaRPr lang="en-US" sz="1400" dirty="0"/>
          </a:p>
        </p:txBody>
      </p:sp>
      <p:sp>
        <p:nvSpPr>
          <p:cNvPr id="19" name="Text 17"/>
          <p:cNvSpPr/>
          <p:nvPr/>
        </p:nvSpPr>
        <p:spPr>
          <a:xfrm>
            <a:off x="1691640" y="3337560"/>
            <a:ext cx="3977640" cy="274320"/>
          </a:xfrm>
          <a:prstGeom prst="rect">
            <a:avLst/>
          </a:prstGeom>
          <a:noFill/>
          <a:ln/>
        </p:spPr>
        <p:txBody>
          <a:bodyPr wrap="square" lIns="0" tIns="0" rIns="0" bIns="0" rtlCol="0" anchor="ctr"/>
          <a:lstStyle/>
          <a:p>
            <a:pPr marL="0" indent="0">
              <a:buNone/>
            </a:pPr>
            <a:r>
              <a:rPr lang="en-US" sz="1100" dirty="0">
                <a:solidFill>
                  <a:srgbClr val="5C5C5C"/>
                </a:solidFill>
                <a:latin typeface="Arial" pitchFamily="34" charset="0"/>
                <a:ea typeface="Arial" pitchFamily="34" charset="-122"/>
                <a:cs typeface="Arial" pitchFamily="34" charset="-120"/>
              </a:rPr>
              <a:t>Foundation work, representation, datasets</a:t>
            </a:r>
            <a:endParaRPr lang="en-US" sz="1100" dirty="0"/>
          </a:p>
        </p:txBody>
      </p:sp>
      <p:sp>
        <p:nvSpPr>
          <p:cNvPr id="20" name="Shape 18"/>
          <p:cNvSpPr/>
          <p:nvPr/>
        </p:nvSpPr>
        <p:spPr>
          <a:xfrm>
            <a:off x="6126480" y="2880360"/>
            <a:ext cx="4846320" cy="896112"/>
          </a:xfrm>
          <a:prstGeom prst="roundRect">
            <a:avLst>
              <a:gd name="adj" fmla="val 8163"/>
            </a:avLst>
          </a:prstGeom>
          <a:solidFill>
            <a:srgbClr val="DCF2E4"/>
          </a:solidFill>
          <a:ln w="12700">
            <a:solidFill>
              <a:srgbClr val="333333"/>
            </a:solidFill>
            <a:prstDash val="solid"/>
          </a:ln>
        </p:spPr>
        <p:txBody>
          <a:bodyPr/>
          <a:p/>
        </p:txBody>
      </p:sp>
      <p:sp>
        <p:nvSpPr>
          <p:cNvPr id="21" name="Shape 19"/>
          <p:cNvSpPr/>
          <p:nvPr/>
        </p:nvSpPr>
        <p:spPr>
          <a:xfrm>
            <a:off x="6355080" y="3145536"/>
            <a:ext cx="365760" cy="365760"/>
          </a:xfrm>
          <a:prstGeom prst="ellipse">
            <a:avLst/>
          </a:prstGeom>
          <a:solidFill>
            <a:srgbClr val="111111"/>
          </a:solidFill>
          <a:ln w="12700">
            <a:solidFill>
              <a:srgbClr val="333333"/>
            </a:solidFill>
            <a:prstDash val="solid"/>
          </a:ln>
        </p:spPr>
        <p:txBody>
          <a:bodyPr/>
          <a:p/>
        </p:txBody>
      </p:sp>
      <p:sp>
        <p:nvSpPr>
          <p:cNvPr id="22" name="Text 20"/>
          <p:cNvSpPr/>
          <p:nvPr/>
        </p:nvSpPr>
        <p:spPr>
          <a:xfrm>
            <a:off x="6355080" y="314553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3" name="Text 21"/>
          <p:cNvSpPr/>
          <p:nvPr/>
        </p:nvSpPr>
        <p:spPr>
          <a:xfrm>
            <a:off x="6858000" y="3026664"/>
            <a:ext cx="3931920" cy="292608"/>
          </a:xfrm>
          <a:prstGeom prst="rect">
            <a:avLst/>
          </a:prstGeom>
          <a:noFill/>
          <a:ln/>
        </p:spPr>
        <p:txBody>
          <a:bodyPr wrap="square" lIns="0" tIns="0" rIns="0" bIns="0" rtlCol="0" anchor="ctr"/>
          <a:lstStyle/>
          <a:p>
            <a:pPr marL="0" indent="0">
              <a:buNone/>
            </a:pPr>
            <a:r>
              <a:rPr lang="en-US" sz="1400" b="1" dirty="0">
                <a:solidFill>
                  <a:srgbClr val="111111"/>
                </a:solidFill>
                <a:latin typeface="Arial" pitchFamily="34" charset="0"/>
                <a:ea typeface="Arial" pitchFamily="34" charset="-122"/>
                <a:cs typeface="Arial" pitchFamily="34" charset="-120"/>
              </a:rPr>
              <a:t>Research Gap / Motivation</a:t>
            </a:r>
            <a:endParaRPr lang="en-US" sz="1400" dirty="0"/>
          </a:p>
        </p:txBody>
      </p:sp>
      <p:sp>
        <p:nvSpPr>
          <p:cNvPr id="24" name="Text 22"/>
          <p:cNvSpPr/>
          <p:nvPr/>
        </p:nvSpPr>
        <p:spPr>
          <a:xfrm>
            <a:off x="6858000" y="3337560"/>
            <a:ext cx="3977640" cy="274320"/>
          </a:xfrm>
          <a:prstGeom prst="rect">
            <a:avLst/>
          </a:prstGeom>
          <a:noFill/>
          <a:ln/>
        </p:spPr>
        <p:txBody>
          <a:bodyPr wrap="square" lIns="0" tIns="0" rIns="0" bIns="0" rtlCol="0" anchor="ctr"/>
          <a:lstStyle/>
          <a:p>
            <a:pPr marL="0" indent="0">
              <a:buNone/>
            </a:pPr>
            <a:r>
              <a:rPr lang="en-US" sz="1100" dirty="0">
                <a:solidFill>
                  <a:srgbClr val="5C5C5C"/>
                </a:solidFill>
                <a:latin typeface="Arial" pitchFamily="34" charset="0"/>
                <a:ea typeface="Arial" pitchFamily="34" charset="-122"/>
                <a:cs typeface="Arial" pitchFamily="34" charset="-120"/>
              </a:rPr>
              <a:t>What is missing, and what we found</a:t>
            </a:r>
            <a:endParaRPr lang="en-US" sz="1100" dirty="0"/>
          </a:p>
        </p:txBody>
      </p:sp>
      <p:sp>
        <p:nvSpPr>
          <p:cNvPr id="25" name="Shape 23"/>
          <p:cNvSpPr/>
          <p:nvPr/>
        </p:nvSpPr>
        <p:spPr>
          <a:xfrm>
            <a:off x="960120" y="3931920"/>
            <a:ext cx="4846320" cy="896112"/>
          </a:xfrm>
          <a:prstGeom prst="roundRect">
            <a:avLst>
              <a:gd name="adj" fmla="val 8163"/>
            </a:avLst>
          </a:prstGeom>
          <a:solidFill>
            <a:srgbClr val="ECECEC"/>
          </a:solidFill>
          <a:ln w="12700">
            <a:solidFill>
              <a:srgbClr val="333333"/>
            </a:solidFill>
            <a:prstDash val="solid"/>
          </a:ln>
        </p:spPr>
        <p:txBody>
          <a:bodyPr/>
          <a:p/>
        </p:txBody>
      </p:sp>
      <p:sp>
        <p:nvSpPr>
          <p:cNvPr id="26" name="Shape 24"/>
          <p:cNvSpPr/>
          <p:nvPr/>
        </p:nvSpPr>
        <p:spPr>
          <a:xfrm>
            <a:off x="1188720" y="4197096"/>
            <a:ext cx="365760" cy="365760"/>
          </a:xfrm>
          <a:prstGeom prst="ellipse">
            <a:avLst/>
          </a:prstGeom>
          <a:solidFill>
            <a:srgbClr val="111111"/>
          </a:solidFill>
          <a:ln w="12700">
            <a:solidFill>
              <a:srgbClr val="333333"/>
            </a:solidFill>
            <a:prstDash val="solid"/>
          </a:ln>
        </p:spPr>
        <p:txBody>
          <a:bodyPr/>
          <a:p/>
        </p:txBody>
      </p:sp>
      <p:sp>
        <p:nvSpPr>
          <p:cNvPr id="27" name="Text 25"/>
          <p:cNvSpPr/>
          <p:nvPr/>
        </p:nvSpPr>
        <p:spPr>
          <a:xfrm>
            <a:off x="1188720" y="419709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8" name="Text 26"/>
          <p:cNvSpPr/>
          <p:nvPr/>
        </p:nvSpPr>
        <p:spPr>
          <a:xfrm>
            <a:off x="1691640" y="4078224"/>
            <a:ext cx="3931920" cy="292608"/>
          </a:xfrm>
          <a:prstGeom prst="rect">
            <a:avLst/>
          </a:prstGeom>
          <a:noFill/>
          <a:ln/>
        </p:spPr>
        <p:txBody>
          <a:bodyPr wrap="square" lIns="0" tIns="0" rIns="0" bIns="0" rtlCol="0" anchor="ctr"/>
          <a:lstStyle/>
          <a:p>
            <a:pPr marL="0" indent="0">
              <a:buNone/>
            </a:pPr>
            <a:r>
              <a:rPr lang="en-US" sz="1400" b="1" dirty="0">
                <a:solidFill>
                  <a:srgbClr val="111111"/>
                </a:solidFill>
                <a:latin typeface="Arial" pitchFamily="34" charset="0"/>
                <a:ea typeface="Arial" pitchFamily="34" charset="-122"/>
                <a:cs typeface="Arial" pitchFamily="34" charset="-120"/>
              </a:rPr>
              <a:t>Project Objectives</a:t>
            </a:r>
            <a:endParaRPr lang="en-US" sz="1400" dirty="0"/>
          </a:p>
        </p:txBody>
      </p:sp>
      <p:sp>
        <p:nvSpPr>
          <p:cNvPr id="29" name="Text 27"/>
          <p:cNvSpPr/>
          <p:nvPr/>
        </p:nvSpPr>
        <p:spPr>
          <a:xfrm>
            <a:off x="1691640" y="4389120"/>
            <a:ext cx="3977640" cy="274320"/>
          </a:xfrm>
          <a:prstGeom prst="rect">
            <a:avLst/>
          </a:prstGeom>
          <a:noFill/>
          <a:ln/>
        </p:spPr>
        <p:txBody>
          <a:bodyPr wrap="square" lIns="0" tIns="0" rIns="0" bIns="0" rtlCol="0" anchor="ctr"/>
          <a:lstStyle/>
          <a:p>
            <a:pPr marL="0" indent="0">
              <a:buNone/>
            </a:pPr>
            <a:r>
              <a:rPr lang="en-US" sz="1100" dirty="0">
                <a:solidFill>
                  <a:srgbClr val="5C5C5C"/>
                </a:solidFill>
                <a:latin typeface="Arial" pitchFamily="34" charset="0"/>
                <a:ea typeface="Arial" pitchFamily="34" charset="-122"/>
                <a:cs typeface="Arial" pitchFamily="34" charset="-120"/>
              </a:rPr>
              <a:t>Five things the system must do</a:t>
            </a:r>
            <a:endParaRPr lang="en-US" sz="1100" dirty="0"/>
          </a:p>
        </p:txBody>
      </p:sp>
      <p:sp>
        <p:nvSpPr>
          <p:cNvPr id="30" name="Shape 28"/>
          <p:cNvSpPr/>
          <p:nvPr/>
        </p:nvSpPr>
        <p:spPr>
          <a:xfrm>
            <a:off x="6126480" y="3931920"/>
            <a:ext cx="4846320" cy="896112"/>
          </a:xfrm>
          <a:prstGeom prst="roundRect">
            <a:avLst>
              <a:gd name="adj" fmla="val 8163"/>
            </a:avLst>
          </a:prstGeom>
          <a:solidFill>
            <a:srgbClr val="DCF2E4"/>
          </a:solidFill>
          <a:ln w="12700">
            <a:solidFill>
              <a:srgbClr val="333333"/>
            </a:solidFill>
            <a:prstDash val="solid"/>
          </a:ln>
        </p:spPr>
        <p:txBody>
          <a:bodyPr/>
          <a:p/>
        </p:txBody>
      </p:sp>
      <p:sp>
        <p:nvSpPr>
          <p:cNvPr id="31" name="Shape 29"/>
          <p:cNvSpPr/>
          <p:nvPr/>
        </p:nvSpPr>
        <p:spPr>
          <a:xfrm>
            <a:off x="6355080" y="4197096"/>
            <a:ext cx="365760" cy="365760"/>
          </a:xfrm>
          <a:prstGeom prst="ellipse">
            <a:avLst/>
          </a:prstGeom>
          <a:solidFill>
            <a:srgbClr val="111111"/>
          </a:solidFill>
          <a:ln w="12700">
            <a:solidFill>
              <a:srgbClr val="333333"/>
            </a:solidFill>
            <a:prstDash val="solid"/>
          </a:ln>
        </p:spPr>
        <p:txBody>
          <a:bodyPr/>
          <a:p/>
        </p:txBody>
      </p:sp>
      <p:sp>
        <p:nvSpPr>
          <p:cNvPr id="32" name="Text 30"/>
          <p:cNvSpPr/>
          <p:nvPr/>
        </p:nvSpPr>
        <p:spPr>
          <a:xfrm>
            <a:off x="6355080" y="419709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33" name="Text 31"/>
          <p:cNvSpPr/>
          <p:nvPr/>
        </p:nvSpPr>
        <p:spPr>
          <a:xfrm>
            <a:off x="6858000" y="4078224"/>
            <a:ext cx="3931920" cy="292608"/>
          </a:xfrm>
          <a:prstGeom prst="rect">
            <a:avLst/>
          </a:prstGeom>
          <a:noFill/>
          <a:ln/>
        </p:spPr>
        <p:txBody>
          <a:bodyPr wrap="square" lIns="0" tIns="0" rIns="0" bIns="0" rtlCol="0" anchor="ctr"/>
          <a:lstStyle/>
          <a:p>
            <a:pPr marL="0" indent="0">
              <a:buNone/>
            </a:pPr>
            <a:r>
              <a:rPr lang="en-US" sz="1400" b="1" dirty="0">
                <a:solidFill>
                  <a:srgbClr val="111111"/>
                </a:solidFill>
                <a:latin typeface="Arial" pitchFamily="34" charset="0"/>
                <a:ea typeface="Arial" pitchFamily="34" charset="-122"/>
                <a:cs typeface="Arial" pitchFamily="34" charset="-120"/>
              </a:rPr>
              <a:t>Methodology / Pipeline</a:t>
            </a:r>
            <a:endParaRPr lang="en-US" sz="1400" dirty="0"/>
          </a:p>
        </p:txBody>
      </p:sp>
      <p:sp>
        <p:nvSpPr>
          <p:cNvPr id="34" name="Text 32"/>
          <p:cNvSpPr/>
          <p:nvPr/>
        </p:nvSpPr>
        <p:spPr>
          <a:xfrm>
            <a:off x="6858000" y="4389120"/>
            <a:ext cx="3977640" cy="274320"/>
          </a:xfrm>
          <a:prstGeom prst="rect">
            <a:avLst/>
          </a:prstGeom>
          <a:noFill/>
          <a:ln/>
        </p:spPr>
        <p:txBody>
          <a:bodyPr wrap="square" lIns="0" tIns="0" rIns="0" bIns="0" rtlCol="0" anchor="ctr"/>
          <a:lstStyle/>
          <a:p>
            <a:pPr marL="0" indent="0">
              <a:buNone/>
            </a:pPr>
            <a:r>
              <a:rPr lang="en-US" sz="1100" dirty="0">
                <a:solidFill>
                  <a:srgbClr val="5C5C5C"/>
                </a:solidFill>
                <a:latin typeface="Arial" pitchFamily="34" charset="0"/>
                <a:ea typeface="Arial" pitchFamily="34" charset="-122"/>
                <a:cs typeface="Arial" pitchFamily="34" charset="-120"/>
              </a:rPr>
              <a:t>Representation, three tiers, closed loop</a:t>
            </a:r>
            <a:endParaRPr lang="en-US" sz="1100" dirty="0"/>
          </a:p>
        </p:txBody>
      </p:sp>
      <p:sp>
        <p:nvSpPr>
          <p:cNvPr id="35" name="Shape 33"/>
          <p:cNvSpPr/>
          <p:nvPr/>
        </p:nvSpPr>
        <p:spPr>
          <a:xfrm>
            <a:off x="960120" y="4983480"/>
            <a:ext cx="4846320" cy="896112"/>
          </a:xfrm>
          <a:prstGeom prst="roundRect">
            <a:avLst>
              <a:gd name="adj" fmla="val 8163"/>
            </a:avLst>
          </a:prstGeom>
          <a:solidFill>
            <a:srgbClr val="ECECEC"/>
          </a:solidFill>
          <a:ln w="12700">
            <a:solidFill>
              <a:srgbClr val="333333"/>
            </a:solidFill>
            <a:prstDash val="solid"/>
          </a:ln>
        </p:spPr>
        <p:txBody>
          <a:bodyPr/>
          <a:p/>
        </p:txBody>
      </p:sp>
      <p:sp>
        <p:nvSpPr>
          <p:cNvPr id="36" name="Shape 34"/>
          <p:cNvSpPr/>
          <p:nvPr/>
        </p:nvSpPr>
        <p:spPr>
          <a:xfrm>
            <a:off x="1188720" y="5248656"/>
            <a:ext cx="365760" cy="365760"/>
          </a:xfrm>
          <a:prstGeom prst="ellipse">
            <a:avLst/>
          </a:prstGeom>
          <a:solidFill>
            <a:srgbClr val="111111"/>
          </a:solidFill>
          <a:ln w="12700">
            <a:solidFill>
              <a:srgbClr val="333333"/>
            </a:solidFill>
            <a:prstDash val="solid"/>
          </a:ln>
        </p:spPr>
        <p:txBody>
          <a:bodyPr/>
          <a:p/>
        </p:txBody>
      </p:sp>
      <p:sp>
        <p:nvSpPr>
          <p:cNvPr id="37" name="Text 35"/>
          <p:cNvSpPr/>
          <p:nvPr/>
        </p:nvSpPr>
        <p:spPr>
          <a:xfrm>
            <a:off x="1188720" y="524865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38" name="Text 36"/>
          <p:cNvSpPr/>
          <p:nvPr/>
        </p:nvSpPr>
        <p:spPr>
          <a:xfrm>
            <a:off x="1691640" y="5129784"/>
            <a:ext cx="3931920" cy="292608"/>
          </a:xfrm>
          <a:prstGeom prst="rect">
            <a:avLst/>
          </a:prstGeom>
          <a:noFill/>
          <a:ln/>
        </p:spPr>
        <p:txBody>
          <a:bodyPr wrap="square" lIns="0" tIns="0" rIns="0" bIns="0" rtlCol="0" anchor="ctr"/>
          <a:lstStyle/>
          <a:p>
            <a:pPr marL="0" indent="0">
              <a:buNone/>
            </a:pPr>
            <a:r>
              <a:rPr lang="en-US" sz="1400" b="1" dirty="0">
                <a:solidFill>
                  <a:srgbClr val="111111"/>
                </a:solidFill>
                <a:latin typeface="Arial" pitchFamily="34" charset="0"/>
                <a:ea typeface="Arial" pitchFamily="34" charset="-122"/>
                <a:cs typeface="Arial" pitchFamily="34" charset="-120"/>
              </a:rPr>
              <a:t>Results</a:t>
            </a:r>
            <a:endParaRPr lang="en-US" sz="1400" dirty="0"/>
          </a:p>
        </p:txBody>
      </p:sp>
      <p:sp>
        <p:nvSpPr>
          <p:cNvPr id="39" name="Text 37"/>
          <p:cNvSpPr/>
          <p:nvPr/>
        </p:nvSpPr>
        <p:spPr>
          <a:xfrm>
            <a:off x="1691640" y="5440680"/>
            <a:ext cx="3977640" cy="274320"/>
          </a:xfrm>
          <a:prstGeom prst="rect">
            <a:avLst/>
          </a:prstGeom>
          <a:noFill/>
          <a:ln/>
        </p:spPr>
        <p:txBody>
          <a:bodyPr wrap="square" lIns="0" tIns="0" rIns="0" bIns="0" rtlCol="0" anchor="ctr"/>
          <a:lstStyle/>
          <a:p>
            <a:pPr marL="0" indent="0">
              <a:buNone/>
            </a:pPr>
            <a:r>
              <a:rPr lang="en-US" sz="1100" dirty="0">
                <a:solidFill>
                  <a:srgbClr val="5C5C5C"/>
                </a:solidFill>
                <a:latin typeface="Arial" pitchFamily="34" charset="0"/>
                <a:ea typeface="Arial" pitchFamily="34" charset="-122"/>
                <a:cs typeface="Arial" pitchFamily="34" charset="-120"/>
              </a:rPr>
              <a:t>Measured outcomes from completed phases</a:t>
            </a:r>
            <a:endParaRPr lang="en-US" sz="1100" dirty="0"/>
          </a:p>
        </p:txBody>
      </p:sp>
      <p:sp>
        <p:nvSpPr>
          <p:cNvPr id="40" name="Shape 38"/>
          <p:cNvSpPr/>
          <p:nvPr/>
        </p:nvSpPr>
        <p:spPr>
          <a:xfrm>
            <a:off x="6126480" y="4983480"/>
            <a:ext cx="4846320" cy="896112"/>
          </a:xfrm>
          <a:prstGeom prst="roundRect">
            <a:avLst>
              <a:gd name="adj" fmla="val 8163"/>
            </a:avLst>
          </a:prstGeom>
          <a:solidFill>
            <a:srgbClr val="DCF2E4"/>
          </a:solidFill>
          <a:ln w="12700">
            <a:solidFill>
              <a:srgbClr val="333333"/>
            </a:solidFill>
            <a:prstDash val="solid"/>
          </a:ln>
        </p:spPr>
        <p:txBody>
          <a:bodyPr/>
          <a:p/>
        </p:txBody>
      </p:sp>
      <p:sp>
        <p:nvSpPr>
          <p:cNvPr id="41" name="Shape 39"/>
          <p:cNvSpPr/>
          <p:nvPr/>
        </p:nvSpPr>
        <p:spPr>
          <a:xfrm>
            <a:off x="6355080" y="5248656"/>
            <a:ext cx="365760" cy="365760"/>
          </a:xfrm>
          <a:prstGeom prst="ellipse">
            <a:avLst/>
          </a:prstGeom>
          <a:solidFill>
            <a:srgbClr val="111111"/>
          </a:solidFill>
          <a:ln w="12700">
            <a:solidFill>
              <a:srgbClr val="333333"/>
            </a:solidFill>
            <a:prstDash val="solid"/>
          </a:ln>
        </p:spPr>
        <p:txBody>
          <a:bodyPr/>
          <a:p/>
        </p:txBody>
      </p:sp>
      <p:sp>
        <p:nvSpPr>
          <p:cNvPr id="42" name="Text 40"/>
          <p:cNvSpPr/>
          <p:nvPr/>
        </p:nvSpPr>
        <p:spPr>
          <a:xfrm>
            <a:off x="6355080" y="524865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8</a:t>
            </a:r>
            <a:endParaRPr lang="en-US" sz="1200" dirty="0"/>
          </a:p>
        </p:txBody>
      </p:sp>
      <p:sp>
        <p:nvSpPr>
          <p:cNvPr id="43" name="Text 41"/>
          <p:cNvSpPr/>
          <p:nvPr/>
        </p:nvSpPr>
        <p:spPr>
          <a:xfrm>
            <a:off x="6858000" y="5129784"/>
            <a:ext cx="3931920" cy="292608"/>
          </a:xfrm>
          <a:prstGeom prst="rect">
            <a:avLst/>
          </a:prstGeom>
          <a:noFill/>
          <a:ln/>
        </p:spPr>
        <p:txBody>
          <a:bodyPr wrap="square" lIns="0" tIns="0" rIns="0" bIns="0" rtlCol="0" anchor="ctr"/>
          <a:lstStyle/>
          <a:p>
            <a:pPr marL="0" indent="0">
              <a:buNone/>
            </a:pPr>
            <a:r>
              <a:rPr lang="en-US" sz="1400" b="1" dirty="0">
                <a:solidFill>
                  <a:srgbClr val="111111"/>
                </a:solidFill>
                <a:latin typeface="Arial" pitchFamily="34" charset="0"/>
                <a:ea typeface="Arial" pitchFamily="34" charset="-122"/>
                <a:cs typeface="Arial" pitchFamily="34" charset="-120"/>
              </a:rPr>
              <a:t>Work Completed &amp; Remaining</a:t>
            </a:r>
            <a:endParaRPr lang="en-US" sz="1400" dirty="0"/>
          </a:p>
        </p:txBody>
      </p:sp>
      <p:sp>
        <p:nvSpPr>
          <p:cNvPr id="44" name="Text 42"/>
          <p:cNvSpPr/>
          <p:nvPr/>
        </p:nvSpPr>
        <p:spPr>
          <a:xfrm>
            <a:off x="6858000" y="5440680"/>
            <a:ext cx="3977640" cy="274320"/>
          </a:xfrm>
          <a:prstGeom prst="rect">
            <a:avLst/>
          </a:prstGeom>
          <a:noFill/>
          <a:ln/>
        </p:spPr>
        <p:txBody>
          <a:bodyPr wrap="square" lIns="0" tIns="0" rIns="0" bIns="0" rtlCol="0" anchor="ctr"/>
          <a:lstStyle/>
          <a:p>
            <a:pPr marL="0" indent="0">
              <a:buNone/>
            </a:pPr>
            <a:r>
              <a:rPr lang="en-US" sz="1100" dirty="0">
                <a:solidFill>
                  <a:srgbClr val="5C5C5C"/>
                </a:solidFill>
                <a:latin typeface="Arial" pitchFamily="34" charset="0"/>
                <a:ea typeface="Arial" pitchFamily="34" charset="-122"/>
                <a:cs typeface="Arial" pitchFamily="34" charset="-120"/>
              </a:rPr>
              <a:t>Status, limitations, timeline</a:t>
            </a:r>
            <a:endParaRPr lang="en-US" sz="1100" dirty="0"/>
          </a:p>
        </p:txBody>
      </p:sp>
      <p:sp>
        <p:nvSpPr>
          <p:cNvPr id="45" name="Text 43"/>
          <p:cNvSpPr/>
          <p:nvPr/>
        </p:nvSpPr>
        <p:spPr>
          <a:xfrm>
            <a:off x="960120" y="6126480"/>
            <a:ext cx="10241280" cy="274320"/>
          </a:xfrm>
          <a:prstGeom prst="rect">
            <a:avLst/>
          </a:prstGeom>
          <a:noFill/>
          <a:ln/>
        </p:spPr>
        <p:txBody>
          <a:bodyPr wrap="square" lIns="0" tIns="0" rIns="0" bIns="0" rtlCol="0" anchor="ctr"/>
          <a:lstStyle/>
          <a:p>
            <a:pPr marL="0" indent="0" algn="ctr">
              <a:buNone/>
            </a:pP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1  ·  INTRODUCTION</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What Is the Project?</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3</a:t>
            </a:r>
            <a:endParaRPr lang="en-US" sz="1000" dirty="0"/>
          </a:p>
        </p:txBody>
      </p:sp>
      <p:sp>
        <p:nvSpPr>
          <p:cNvPr id="6" name="Shape 4"/>
          <p:cNvSpPr/>
          <p:nvPr/>
        </p:nvSpPr>
        <p:spPr>
          <a:xfrm>
            <a:off x="1005840" y="1691640"/>
            <a:ext cx="4846320" cy="1325880"/>
          </a:xfrm>
          <a:prstGeom prst="roundRect">
            <a:avLst>
              <a:gd name="adj" fmla="val 5517"/>
            </a:avLst>
          </a:prstGeom>
          <a:solidFill>
            <a:srgbClr val="ECECEC"/>
          </a:solidFill>
          <a:ln w="12700">
            <a:solidFill>
              <a:srgbClr val="333333"/>
            </a:solidFill>
            <a:prstDash val="solid"/>
          </a:ln>
        </p:spPr>
        <p:txBody>
          <a:bodyPr/>
          <a:p/>
        </p:txBody>
      </p:sp>
      <p:sp>
        <p:nvSpPr>
          <p:cNvPr id="7" name="Text 5"/>
          <p:cNvSpPr/>
          <p:nvPr/>
        </p:nvSpPr>
        <p:spPr>
          <a:xfrm>
            <a:off x="1234440" y="1810512"/>
            <a:ext cx="4389120" cy="292608"/>
          </a:xfrm>
          <a:prstGeom prst="rect">
            <a:avLst/>
          </a:prstGeom>
          <a:noFill/>
          <a:ln/>
        </p:spPr>
        <p:txBody>
          <a:bodyPr wrap="square" lIns="0" tIns="0" rIns="0" bIns="0" rtlCol="0" anchor="ctr"/>
          <a:lstStyle/>
          <a:p>
            <a:pPr marL="0" indent="0">
              <a:buNone/>
            </a:pPr>
            <a:r>
              <a:rPr lang="en-US" sz="1250" b="1" dirty="0">
                <a:solidFill>
                  <a:srgbClr val="5C5C5C"/>
                </a:solidFill>
                <a:latin typeface="Arial" pitchFamily="34" charset="0"/>
                <a:ea typeface="Arial" pitchFamily="34" charset="-122"/>
                <a:cs typeface="Arial" pitchFamily="34" charset="-120"/>
              </a:rPr>
              <a:t>Traditional forward design</a:t>
            </a:r>
            <a:endParaRPr lang="en-US" sz="1250" dirty="0"/>
          </a:p>
        </p:txBody>
      </p:sp>
      <p:sp>
        <p:nvSpPr>
          <p:cNvPr id="8" name="Shape 6"/>
          <p:cNvSpPr/>
          <p:nvPr/>
        </p:nvSpPr>
        <p:spPr>
          <a:xfrm>
            <a:off x="1234440" y="2176272"/>
            <a:ext cx="1737360" cy="566928"/>
          </a:xfrm>
          <a:prstGeom prst="roundRect">
            <a:avLst>
              <a:gd name="adj" fmla="val 12903"/>
            </a:avLst>
          </a:prstGeom>
          <a:solidFill>
            <a:srgbClr val="FFFFFF"/>
          </a:solidFill>
          <a:ln w="12700">
            <a:solidFill>
              <a:srgbClr val="333333"/>
            </a:solidFill>
            <a:prstDash val="solid"/>
          </a:ln>
        </p:spPr>
        <p:txBody>
          <a:bodyPr/>
          <a:p/>
        </p:txBody>
      </p:sp>
      <p:sp>
        <p:nvSpPr>
          <p:cNvPr id="9" name="Text 7"/>
          <p:cNvSpPr/>
          <p:nvPr/>
        </p:nvSpPr>
        <p:spPr>
          <a:xfrm>
            <a:off x="1307592" y="2176272"/>
            <a:ext cx="1591056" cy="566928"/>
          </a:xfrm>
          <a:prstGeom prst="rect">
            <a:avLst/>
          </a:prstGeom>
          <a:noFill/>
          <a:ln/>
        </p:spPr>
        <p:txBody>
          <a:bodyPr wrap="square" lIns="0" tIns="0" rIns="0" bIns="0" rtlCol="0" anchor="ctr"/>
          <a:lstStyle/>
          <a:p>
            <a:pPr marL="0" indent="0" algn="ctr">
              <a:lnSpc>
                <a:spcPts val="1375"/>
              </a:lnSpc>
              <a:buNone/>
            </a:pPr>
            <a:r>
              <a:rPr lang="en-US" sz="1100" b="1" dirty="0">
                <a:solidFill>
                  <a:srgbClr val="111111"/>
                </a:solidFill>
                <a:latin typeface="Arial" pitchFamily="34" charset="0"/>
                <a:ea typeface="Arial" pitchFamily="34" charset="-122"/>
                <a:cs typeface="Arial" pitchFamily="34" charset="-120"/>
              </a:rPr>
              <a:t>Polymer</a:t>
            </a:r>
            <a:endParaRPr lang="en-US" sz="1100" dirty="0"/>
          </a:p>
          <a:p>
            <a:pPr marL="0" indent="0" algn="ctr">
              <a:lnSpc>
                <a:spcPts val="1375"/>
              </a:lnSpc>
              <a:buNone/>
            </a:pPr>
            <a:r>
              <a:rPr lang="en-US" sz="1100" b="1" dirty="0">
                <a:solidFill>
                  <a:srgbClr val="111111"/>
                </a:solidFill>
                <a:latin typeface="Arial" pitchFamily="34" charset="0"/>
                <a:ea typeface="Arial" pitchFamily="34" charset="-122"/>
                <a:cs typeface="Arial" pitchFamily="34" charset="-120"/>
              </a:rPr>
              <a:t>structure</a:t>
            </a:r>
            <a:endParaRPr lang="en-US" sz="1100" dirty="0"/>
          </a:p>
        </p:txBody>
      </p:sp>
      <p:sp>
        <p:nvSpPr>
          <p:cNvPr id="10" name="Shape 8"/>
          <p:cNvSpPr/>
          <p:nvPr/>
        </p:nvSpPr>
        <p:spPr>
          <a:xfrm>
            <a:off x="3090672" y="2340864"/>
            <a:ext cx="292608" cy="237744"/>
          </a:xfrm>
          <a:prstGeom prst="rightArrow">
            <a:avLst/>
          </a:prstGeom>
          <a:solidFill>
            <a:srgbClr val="111111"/>
          </a:solidFill>
          <a:ln w="12700">
            <a:solidFill>
              <a:srgbClr val="333333"/>
            </a:solidFill>
            <a:prstDash val="solid"/>
          </a:ln>
        </p:spPr>
        <p:txBody>
          <a:bodyPr/>
          <a:p/>
        </p:txBody>
      </p:sp>
      <p:sp>
        <p:nvSpPr>
          <p:cNvPr id="11" name="Shape 9"/>
          <p:cNvSpPr/>
          <p:nvPr/>
        </p:nvSpPr>
        <p:spPr>
          <a:xfrm>
            <a:off x="3520440" y="2176272"/>
            <a:ext cx="2103120" cy="566928"/>
          </a:xfrm>
          <a:prstGeom prst="roundRect">
            <a:avLst>
              <a:gd name="adj" fmla="val 12903"/>
            </a:avLst>
          </a:prstGeom>
          <a:solidFill>
            <a:srgbClr val="FFFFFF"/>
          </a:solidFill>
          <a:ln w="12700">
            <a:solidFill>
              <a:srgbClr val="333333"/>
            </a:solidFill>
            <a:prstDash val="solid"/>
          </a:ln>
        </p:spPr>
        <p:txBody>
          <a:bodyPr/>
          <a:p/>
        </p:txBody>
      </p:sp>
      <p:sp>
        <p:nvSpPr>
          <p:cNvPr id="12" name="Text 10"/>
          <p:cNvSpPr/>
          <p:nvPr/>
        </p:nvSpPr>
        <p:spPr>
          <a:xfrm>
            <a:off x="3593592" y="2176272"/>
            <a:ext cx="1956816" cy="566928"/>
          </a:xfrm>
          <a:prstGeom prst="rect">
            <a:avLst/>
          </a:prstGeom>
          <a:noFill/>
          <a:ln/>
        </p:spPr>
        <p:txBody>
          <a:bodyPr wrap="square" lIns="0" tIns="0" rIns="0" bIns="0" rtlCol="0" anchor="ctr"/>
          <a:lstStyle/>
          <a:p>
            <a:pPr marL="0" indent="0" algn="ctr">
              <a:lnSpc>
                <a:spcPts val="1375"/>
              </a:lnSpc>
              <a:buNone/>
            </a:pPr>
            <a:r>
              <a:rPr lang="en-US" sz="1100" b="1" dirty="0">
                <a:solidFill>
                  <a:srgbClr val="111111"/>
                </a:solidFill>
                <a:latin typeface="Arial" pitchFamily="34" charset="0"/>
                <a:ea typeface="Arial" pitchFamily="34" charset="-122"/>
                <a:cs typeface="Arial" pitchFamily="34" charset="-120"/>
              </a:rPr>
              <a:t>Property</a:t>
            </a:r>
            <a:endParaRPr lang="en-US" sz="1100" dirty="0"/>
          </a:p>
          <a:p>
            <a:pPr marL="0" indent="0" algn="ctr">
              <a:lnSpc>
                <a:spcPts val="1375"/>
              </a:lnSpc>
              <a:buNone/>
            </a:pPr>
            <a:r>
              <a:rPr lang="en-US" sz="1100" b="1" dirty="0">
                <a:solidFill>
                  <a:srgbClr val="111111"/>
                </a:solidFill>
                <a:latin typeface="Arial" pitchFamily="34" charset="0"/>
                <a:ea typeface="Arial" pitchFamily="34" charset="-122"/>
                <a:cs typeface="Arial" pitchFamily="34" charset="-120"/>
              </a:rPr>
              <a:t>prediction</a:t>
            </a:r>
            <a:endParaRPr lang="en-US" sz="1100" dirty="0"/>
          </a:p>
        </p:txBody>
      </p:sp>
      <p:sp>
        <p:nvSpPr>
          <p:cNvPr id="13" name="Shape 11"/>
          <p:cNvSpPr/>
          <p:nvPr/>
        </p:nvSpPr>
        <p:spPr>
          <a:xfrm>
            <a:off x="6309360" y="1691640"/>
            <a:ext cx="4846320" cy="1325880"/>
          </a:xfrm>
          <a:prstGeom prst="roundRect">
            <a:avLst>
              <a:gd name="adj" fmla="val 5517"/>
            </a:avLst>
          </a:prstGeom>
          <a:solidFill>
            <a:srgbClr val="DCF2E4"/>
          </a:solidFill>
          <a:ln w="12700">
            <a:solidFill>
              <a:srgbClr val="333333"/>
            </a:solidFill>
            <a:prstDash val="solid"/>
          </a:ln>
        </p:spPr>
        <p:txBody>
          <a:bodyPr/>
          <a:p/>
        </p:txBody>
      </p:sp>
      <p:sp>
        <p:nvSpPr>
          <p:cNvPr id="14" name="Text 12"/>
          <p:cNvSpPr/>
          <p:nvPr/>
        </p:nvSpPr>
        <p:spPr>
          <a:xfrm>
            <a:off x="6537960" y="1810512"/>
            <a:ext cx="4389120" cy="292608"/>
          </a:xfrm>
          <a:prstGeom prst="rect">
            <a:avLst/>
          </a:prstGeom>
          <a:noFill/>
          <a:ln/>
        </p:spPr>
        <p:txBody>
          <a:bodyPr wrap="square" lIns="0" tIns="0" rIns="0" bIns="0" rtlCol="0" anchor="ctr"/>
          <a:lstStyle/>
          <a:p>
            <a:pPr marL="0" indent="0">
              <a:buNone/>
            </a:pPr>
            <a:r>
              <a:rPr lang="en-US" sz="1250" b="1" dirty="0">
                <a:solidFill>
                  <a:srgbClr val="156B33"/>
                </a:solidFill>
                <a:latin typeface="Arial" pitchFamily="34" charset="0"/>
                <a:ea typeface="Arial" pitchFamily="34" charset="-122"/>
                <a:cs typeface="Arial" pitchFamily="34" charset="-120"/>
              </a:rPr>
              <a:t>Our inverse design</a:t>
            </a:r>
            <a:endParaRPr lang="en-US" sz="1250" dirty="0"/>
          </a:p>
        </p:txBody>
      </p:sp>
      <p:sp>
        <p:nvSpPr>
          <p:cNvPr id="15" name="Shape 13"/>
          <p:cNvSpPr/>
          <p:nvPr/>
        </p:nvSpPr>
        <p:spPr>
          <a:xfrm>
            <a:off x="6537960" y="2176272"/>
            <a:ext cx="1920240" cy="566928"/>
          </a:xfrm>
          <a:prstGeom prst="roundRect">
            <a:avLst>
              <a:gd name="adj" fmla="val 12903"/>
            </a:avLst>
          </a:prstGeom>
          <a:solidFill>
            <a:srgbClr val="FFFFFF"/>
          </a:solidFill>
          <a:ln w="12700">
            <a:solidFill>
              <a:srgbClr val="333333"/>
            </a:solidFill>
            <a:prstDash val="solid"/>
          </a:ln>
        </p:spPr>
        <p:txBody>
          <a:bodyPr/>
          <a:p/>
        </p:txBody>
      </p:sp>
      <p:sp>
        <p:nvSpPr>
          <p:cNvPr id="16" name="Text 14"/>
          <p:cNvSpPr/>
          <p:nvPr/>
        </p:nvSpPr>
        <p:spPr>
          <a:xfrm>
            <a:off x="6611112" y="2176272"/>
            <a:ext cx="1773936" cy="566928"/>
          </a:xfrm>
          <a:prstGeom prst="rect">
            <a:avLst/>
          </a:prstGeom>
          <a:noFill/>
          <a:ln/>
        </p:spPr>
        <p:txBody>
          <a:bodyPr wrap="square" lIns="0" tIns="0" rIns="0" bIns="0" rtlCol="0" anchor="ctr"/>
          <a:lstStyle/>
          <a:p>
            <a:pPr marL="0" indent="0" algn="ctr">
              <a:lnSpc>
                <a:spcPts val="1375"/>
              </a:lnSpc>
              <a:buNone/>
            </a:pPr>
            <a:r>
              <a:rPr lang="en-US" sz="1100" b="1" dirty="0">
                <a:solidFill>
                  <a:srgbClr val="111111"/>
                </a:solidFill>
                <a:latin typeface="Arial" pitchFamily="34" charset="0"/>
                <a:ea typeface="Arial" pitchFamily="34" charset="-122"/>
                <a:cs typeface="Arial" pitchFamily="34" charset="-120"/>
              </a:rPr>
              <a:t>Desired</a:t>
            </a:r>
            <a:endParaRPr lang="en-US" sz="1100" dirty="0"/>
          </a:p>
          <a:p>
            <a:pPr marL="0" indent="0" algn="ctr">
              <a:lnSpc>
                <a:spcPts val="1375"/>
              </a:lnSpc>
              <a:buNone/>
            </a:pPr>
            <a:r>
              <a:rPr lang="en-US" sz="1100" b="1" dirty="0">
                <a:solidFill>
                  <a:srgbClr val="111111"/>
                </a:solidFill>
                <a:latin typeface="Arial" pitchFamily="34" charset="0"/>
                <a:ea typeface="Arial" pitchFamily="34" charset="-122"/>
                <a:cs typeface="Arial" pitchFamily="34" charset="-120"/>
              </a:rPr>
              <a:t>properties</a:t>
            </a:r>
            <a:endParaRPr lang="en-US" sz="1100" dirty="0"/>
          </a:p>
        </p:txBody>
      </p:sp>
      <p:sp>
        <p:nvSpPr>
          <p:cNvPr id="17" name="Shape 15"/>
          <p:cNvSpPr/>
          <p:nvPr/>
        </p:nvSpPr>
        <p:spPr>
          <a:xfrm>
            <a:off x="8577072" y="2340864"/>
            <a:ext cx="292608" cy="237744"/>
          </a:xfrm>
          <a:prstGeom prst="rightArrow">
            <a:avLst/>
          </a:prstGeom>
          <a:solidFill>
            <a:srgbClr val="111111"/>
          </a:solidFill>
          <a:ln w="12700">
            <a:solidFill>
              <a:srgbClr val="333333"/>
            </a:solidFill>
            <a:prstDash val="solid"/>
          </a:ln>
        </p:spPr>
        <p:txBody>
          <a:bodyPr/>
          <a:p/>
        </p:txBody>
      </p:sp>
      <p:sp>
        <p:nvSpPr>
          <p:cNvPr id="18" name="Shape 16"/>
          <p:cNvSpPr/>
          <p:nvPr/>
        </p:nvSpPr>
        <p:spPr>
          <a:xfrm>
            <a:off x="9006840" y="2176272"/>
            <a:ext cx="1920240" cy="566928"/>
          </a:xfrm>
          <a:prstGeom prst="roundRect">
            <a:avLst>
              <a:gd name="adj" fmla="val 12903"/>
            </a:avLst>
          </a:prstGeom>
          <a:solidFill>
            <a:srgbClr val="FFFFFF"/>
          </a:solidFill>
          <a:ln w="12700">
            <a:solidFill>
              <a:srgbClr val="333333"/>
            </a:solidFill>
            <a:prstDash val="solid"/>
          </a:ln>
        </p:spPr>
        <p:txBody>
          <a:bodyPr/>
          <a:p/>
        </p:txBody>
      </p:sp>
      <p:sp>
        <p:nvSpPr>
          <p:cNvPr id="19" name="Text 17"/>
          <p:cNvSpPr/>
          <p:nvPr/>
        </p:nvSpPr>
        <p:spPr>
          <a:xfrm>
            <a:off x="9079992" y="2176272"/>
            <a:ext cx="1773936" cy="566928"/>
          </a:xfrm>
          <a:prstGeom prst="rect">
            <a:avLst/>
          </a:prstGeom>
          <a:noFill/>
          <a:ln/>
        </p:spPr>
        <p:txBody>
          <a:bodyPr wrap="square" lIns="0" tIns="0" rIns="0" bIns="0" rtlCol="0" anchor="ctr"/>
          <a:lstStyle/>
          <a:p>
            <a:pPr marL="0" indent="0" algn="ctr">
              <a:lnSpc>
                <a:spcPts val="1375"/>
              </a:lnSpc>
              <a:buNone/>
            </a:pPr>
            <a:r>
              <a:rPr lang="en-US" sz="1100" b="1" dirty="0">
                <a:solidFill>
                  <a:srgbClr val="111111"/>
                </a:solidFill>
                <a:latin typeface="Arial" pitchFamily="34" charset="0"/>
                <a:ea typeface="Arial" pitchFamily="34" charset="-122"/>
                <a:cs typeface="Arial" pitchFamily="34" charset="-120"/>
              </a:rPr>
              <a:t>Generate</a:t>
            </a:r>
            <a:endParaRPr lang="en-US" sz="1100" dirty="0"/>
          </a:p>
          <a:p>
            <a:pPr marL="0" indent="0" algn="ctr">
              <a:lnSpc>
                <a:spcPts val="1375"/>
              </a:lnSpc>
              <a:buNone/>
            </a:pPr>
            <a:r>
              <a:rPr lang="en-US" sz="1100" b="1" dirty="0">
                <a:solidFill>
                  <a:srgbClr val="111111"/>
                </a:solidFill>
                <a:latin typeface="Arial" pitchFamily="34" charset="0"/>
                <a:ea typeface="Arial" pitchFamily="34" charset="-122"/>
                <a:cs typeface="Arial" pitchFamily="34" charset="-120"/>
              </a:rPr>
              <a:t>structure</a:t>
            </a:r>
            <a:endParaRPr lang="en-US" sz="1100" dirty="0"/>
          </a:p>
        </p:txBody>
      </p:sp>
      <p:sp>
        <p:nvSpPr>
          <p:cNvPr id="20" name="Shape 18"/>
          <p:cNvSpPr/>
          <p:nvPr/>
        </p:nvSpPr>
        <p:spPr>
          <a:xfrm>
            <a:off x="1005840" y="3246120"/>
            <a:ext cx="10149840" cy="658368"/>
          </a:xfrm>
          <a:prstGeom prst="roundRect">
            <a:avLst>
              <a:gd name="adj" fmla="val 11111"/>
            </a:avLst>
          </a:prstGeom>
          <a:solidFill>
            <a:srgbClr val="E3EDF8"/>
          </a:solidFill>
          <a:ln w="12700">
            <a:solidFill>
              <a:srgbClr val="333333"/>
            </a:solidFill>
            <a:prstDash val="solid"/>
          </a:ln>
        </p:spPr>
        <p:txBody>
          <a:bodyPr/>
          <a:p/>
        </p:txBody>
      </p:sp>
      <p:sp>
        <p:nvSpPr>
          <p:cNvPr id="21" name="Text 19"/>
          <p:cNvSpPr/>
          <p:nvPr/>
        </p:nvSpPr>
        <p:spPr>
          <a:xfrm>
            <a:off x="1005840" y="3246120"/>
            <a:ext cx="10149840" cy="658368"/>
          </a:xfrm>
          <a:prstGeom prst="rect">
            <a:avLst/>
          </a:prstGeom>
          <a:noFill/>
          <a:ln/>
        </p:spPr>
        <p:txBody>
          <a:bodyPr wrap="square" lIns="0" tIns="0" rIns="0" bIns="0" rtlCol="0" anchor="ctr"/>
          <a:lstStyle/>
          <a:p>
            <a:pPr marL="0" indent="0" algn="ctr">
              <a:buNone/>
            </a:pPr>
            <a:r>
              <a:rPr lang="en-US" sz="1500" b="1" dirty="0">
                <a:solidFill>
                  <a:srgbClr val="1B4F8A"/>
                </a:solidFill>
                <a:latin typeface="Arial" pitchFamily="34" charset="0"/>
                <a:ea typeface="Arial" pitchFamily="34" charset="-122"/>
                <a:cs typeface="Arial" pitchFamily="34" charset="-120"/>
              </a:rPr>
              <a:t>Example user request:   "I need a polymer matrix that stays rigid above 150°C."</a:t>
            </a:r>
            <a:endParaRPr lang="en-US" sz="1500" dirty="0"/>
          </a:p>
        </p:txBody>
      </p:sp>
      <p:sp>
        <p:nvSpPr>
          <p:cNvPr id="22" name="Shape 20"/>
          <p:cNvSpPr/>
          <p:nvPr/>
        </p:nvSpPr>
        <p:spPr>
          <a:xfrm>
            <a:off x="1234440" y="4206240"/>
            <a:ext cx="2121408" cy="777240"/>
          </a:xfrm>
          <a:prstGeom prst="roundRect">
            <a:avLst>
              <a:gd name="adj" fmla="val 9412"/>
            </a:avLst>
          </a:prstGeom>
          <a:solidFill>
            <a:srgbClr val="ECECEC"/>
          </a:solidFill>
          <a:ln w="12700">
            <a:solidFill>
              <a:srgbClr val="333333"/>
            </a:solidFill>
            <a:prstDash val="solid"/>
          </a:ln>
        </p:spPr>
        <p:txBody>
          <a:bodyPr/>
          <a:p/>
        </p:txBody>
      </p:sp>
      <p:sp>
        <p:nvSpPr>
          <p:cNvPr id="23" name="Text 21"/>
          <p:cNvSpPr/>
          <p:nvPr/>
        </p:nvSpPr>
        <p:spPr>
          <a:xfrm>
            <a:off x="1307592" y="4206240"/>
            <a:ext cx="1975104" cy="777240"/>
          </a:xfrm>
          <a:prstGeom prst="rect">
            <a:avLst/>
          </a:prstGeom>
          <a:noFill/>
          <a:ln/>
        </p:spPr>
        <p:txBody>
          <a:bodyPr wrap="square" lIns="0" tIns="0" rIns="0" bIns="0" rtlCol="0" anchor="ctr"/>
          <a:lstStyle/>
          <a:p>
            <a:pPr marL="0" indent="0" algn="ctr">
              <a:lnSpc>
                <a:spcPts val="1500"/>
              </a:lnSpc>
              <a:buNone/>
            </a:pPr>
            <a:r>
              <a:rPr lang="en-US" sz="1200" b="1" dirty="0">
                <a:solidFill>
                  <a:srgbClr val="111111"/>
                </a:solidFill>
                <a:latin typeface="Arial" pitchFamily="34" charset="0"/>
                <a:ea typeface="Arial" pitchFamily="34" charset="-122"/>
                <a:cs typeface="Arial" pitchFamily="34" charset="-120"/>
              </a:rPr>
              <a:t>Natural-language</a:t>
            </a:r>
            <a:endParaRPr lang="en-US" sz="1200" dirty="0"/>
          </a:p>
          <a:p>
            <a:pPr marL="0" indent="0" algn="ctr">
              <a:lnSpc>
                <a:spcPts val="1500"/>
              </a:lnSpc>
              <a:buNone/>
            </a:pPr>
            <a:r>
              <a:rPr lang="en-US" sz="1200" b="1" dirty="0">
                <a:solidFill>
                  <a:srgbClr val="111111"/>
                </a:solidFill>
                <a:latin typeface="Arial" pitchFamily="34" charset="0"/>
                <a:ea typeface="Arial" pitchFamily="34" charset="-122"/>
                <a:cs typeface="Arial" pitchFamily="34" charset="-120"/>
              </a:rPr>
              <a:t>request</a:t>
            </a:r>
            <a:endParaRPr lang="en-US" sz="1200" dirty="0"/>
          </a:p>
        </p:txBody>
      </p:sp>
      <p:sp>
        <p:nvSpPr>
          <p:cNvPr id="24" name="Shape 22"/>
          <p:cNvSpPr/>
          <p:nvPr/>
        </p:nvSpPr>
        <p:spPr>
          <a:xfrm>
            <a:off x="3447288" y="4480560"/>
            <a:ext cx="292608" cy="237744"/>
          </a:xfrm>
          <a:prstGeom prst="rightArrow">
            <a:avLst/>
          </a:prstGeom>
          <a:solidFill>
            <a:srgbClr val="111111"/>
          </a:solidFill>
          <a:ln w="12700">
            <a:solidFill>
              <a:srgbClr val="333333"/>
            </a:solidFill>
            <a:prstDash val="solid"/>
          </a:ln>
        </p:spPr>
        <p:txBody>
          <a:bodyPr/>
          <a:p/>
        </p:txBody>
      </p:sp>
      <p:sp>
        <p:nvSpPr>
          <p:cNvPr id="25" name="Shape 23"/>
          <p:cNvSpPr/>
          <p:nvPr/>
        </p:nvSpPr>
        <p:spPr>
          <a:xfrm>
            <a:off x="3776472" y="4206240"/>
            <a:ext cx="2121408" cy="777240"/>
          </a:xfrm>
          <a:prstGeom prst="roundRect">
            <a:avLst>
              <a:gd name="adj" fmla="val 9412"/>
            </a:avLst>
          </a:prstGeom>
          <a:solidFill>
            <a:srgbClr val="ECECEC"/>
          </a:solidFill>
          <a:ln w="12700">
            <a:solidFill>
              <a:srgbClr val="333333"/>
            </a:solidFill>
            <a:prstDash val="solid"/>
          </a:ln>
        </p:spPr>
        <p:txBody>
          <a:bodyPr/>
          <a:p/>
        </p:txBody>
      </p:sp>
      <p:sp>
        <p:nvSpPr>
          <p:cNvPr id="26" name="Text 24"/>
          <p:cNvSpPr/>
          <p:nvPr/>
        </p:nvSpPr>
        <p:spPr>
          <a:xfrm>
            <a:off x="3849624" y="4206240"/>
            <a:ext cx="1975104" cy="777240"/>
          </a:xfrm>
          <a:prstGeom prst="rect">
            <a:avLst/>
          </a:prstGeom>
          <a:noFill/>
          <a:ln/>
        </p:spPr>
        <p:txBody>
          <a:bodyPr wrap="square" lIns="0" tIns="0" rIns="0" bIns="0" rtlCol="0" anchor="ctr"/>
          <a:lstStyle/>
          <a:p>
            <a:pPr marL="0" indent="0" algn="ctr">
              <a:lnSpc>
                <a:spcPts val="1500"/>
              </a:lnSpc>
              <a:buNone/>
            </a:pPr>
            <a:r>
              <a:rPr lang="en-US" sz="1200" b="1" dirty="0">
                <a:solidFill>
                  <a:srgbClr val="111111"/>
                </a:solidFill>
                <a:latin typeface="Arial" pitchFamily="34" charset="0"/>
                <a:ea typeface="Arial" pitchFamily="34" charset="-122"/>
                <a:cs typeface="Arial" pitchFamily="34" charset="-120"/>
              </a:rPr>
              <a:t>Numerical</a:t>
            </a:r>
            <a:endParaRPr lang="en-US" sz="1200" dirty="0"/>
          </a:p>
          <a:p>
            <a:pPr marL="0" indent="0" algn="ctr">
              <a:lnSpc>
                <a:spcPts val="1500"/>
              </a:lnSpc>
              <a:buNone/>
            </a:pPr>
            <a:r>
              <a:rPr lang="en-US" sz="1200" b="1" dirty="0">
                <a:solidFill>
                  <a:srgbClr val="111111"/>
                </a:solidFill>
                <a:latin typeface="Arial" pitchFamily="34" charset="0"/>
                <a:ea typeface="Arial" pitchFamily="34" charset="-122"/>
                <a:cs typeface="Arial" pitchFamily="34" charset="-120"/>
              </a:rPr>
              <a:t>target</a:t>
            </a:r>
            <a:endParaRPr lang="en-US" sz="1200" dirty="0"/>
          </a:p>
        </p:txBody>
      </p:sp>
      <p:sp>
        <p:nvSpPr>
          <p:cNvPr id="27" name="Shape 25"/>
          <p:cNvSpPr/>
          <p:nvPr/>
        </p:nvSpPr>
        <p:spPr>
          <a:xfrm>
            <a:off x="5989320" y="4480560"/>
            <a:ext cx="292608" cy="237744"/>
          </a:xfrm>
          <a:prstGeom prst="rightArrow">
            <a:avLst/>
          </a:prstGeom>
          <a:solidFill>
            <a:srgbClr val="111111"/>
          </a:solidFill>
          <a:ln w="12700">
            <a:solidFill>
              <a:srgbClr val="333333"/>
            </a:solidFill>
            <a:prstDash val="solid"/>
          </a:ln>
        </p:spPr>
        <p:txBody>
          <a:bodyPr/>
          <a:p/>
        </p:txBody>
      </p:sp>
      <p:sp>
        <p:nvSpPr>
          <p:cNvPr id="28" name="Shape 26"/>
          <p:cNvSpPr/>
          <p:nvPr/>
        </p:nvSpPr>
        <p:spPr>
          <a:xfrm>
            <a:off x="6318504" y="4206240"/>
            <a:ext cx="2121408" cy="777240"/>
          </a:xfrm>
          <a:prstGeom prst="roundRect">
            <a:avLst>
              <a:gd name="adj" fmla="val 9412"/>
            </a:avLst>
          </a:prstGeom>
          <a:solidFill>
            <a:srgbClr val="DCF2E4"/>
          </a:solidFill>
          <a:ln w="12700">
            <a:solidFill>
              <a:srgbClr val="333333"/>
            </a:solidFill>
            <a:prstDash val="solid"/>
          </a:ln>
        </p:spPr>
        <p:txBody>
          <a:bodyPr/>
          <a:p/>
        </p:txBody>
      </p:sp>
      <p:sp>
        <p:nvSpPr>
          <p:cNvPr id="29" name="Text 27"/>
          <p:cNvSpPr/>
          <p:nvPr/>
        </p:nvSpPr>
        <p:spPr>
          <a:xfrm>
            <a:off x="6391656" y="4206240"/>
            <a:ext cx="1975104" cy="777240"/>
          </a:xfrm>
          <a:prstGeom prst="rect">
            <a:avLst/>
          </a:prstGeom>
          <a:noFill/>
          <a:ln/>
        </p:spPr>
        <p:txBody>
          <a:bodyPr wrap="square" lIns="0" tIns="0" rIns="0" bIns="0" rtlCol="0" anchor="ctr"/>
          <a:lstStyle/>
          <a:p>
            <a:pPr marL="0" indent="0" algn="ctr">
              <a:lnSpc>
                <a:spcPts val="1500"/>
              </a:lnSpc>
              <a:buNone/>
            </a:pPr>
            <a:r>
              <a:rPr lang="en-US" sz="1200" b="1" dirty="0">
                <a:solidFill>
                  <a:srgbClr val="111111"/>
                </a:solidFill>
                <a:latin typeface="Arial" pitchFamily="34" charset="0"/>
                <a:ea typeface="Arial" pitchFamily="34" charset="-122"/>
                <a:cs typeface="Arial" pitchFamily="34" charset="-120"/>
              </a:rPr>
              <a:t>Polymer</a:t>
            </a:r>
            <a:endParaRPr lang="en-US" sz="1200" dirty="0"/>
          </a:p>
          <a:p>
            <a:pPr marL="0" indent="0" algn="ctr">
              <a:lnSpc>
                <a:spcPts val="1500"/>
              </a:lnSpc>
              <a:buNone/>
            </a:pPr>
            <a:r>
              <a:rPr lang="en-US" sz="1200" b="1" dirty="0">
                <a:solidFill>
                  <a:srgbClr val="111111"/>
                </a:solidFill>
                <a:latin typeface="Arial" pitchFamily="34" charset="0"/>
                <a:ea typeface="Arial" pitchFamily="34" charset="-122"/>
                <a:cs typeface="Arial" pitchFamily="34" charset="-120"/>
              </a:rPr>
              <a:t>candidates</a:t>
            </a:r>
            <a:endParaRPr lang="en-US" sz="1200" dirty="0"/>
          </a:p>
        </p:txBody>
      </p:sp>
      <p:sp>
        <p:nvSpPr>
          <p:cNvPr id="30" name="Shape 28"/>
          <p:cNvSpPr/>
          <p:nvPr/>
        </p:nvSpPr>
        <p:spPr>
          <a:xfrm>
            <a:off x="8531352" y="4480560"/>
            <a:ext cx="292608" cy="237744"/>
          </a:xfrm>
          <a:prstGeom prst="rightArrow">
            <a:avLst/>
          </a:prstGeom>
          <a:solidFill>
            <a:srgbClr val="111111"/>
          </a:solidFill>
          <a:ln w="12700">
            <a:solidFill>
              <a:srgbClr val="333333"/>
            </a:solidFill>
            <a:prstDash val="solid"/>
          </a:ln>
        </p:spPr>
        <p:txBody>
          <a:bodyPr/>
          <a:p/>
        </p:txBody>
      </p:sp>
      <p:sp>
        <p:nvSpPr>
          <p:cNvPr id="31" name="Shape 29"/>
          <p:cNvSpPr/>
          <p:nvPr/>
        </p:nvSpPr>
        <p:spPr>
          <a:xfrm>
            <a:off x="8860536" y="4206240"/>
            <a:ext cx="2121408" cy="777240"/>
          </a:xfrm>
          <a:prstGeom prst="roundRect">
            <a:avLst>
              <a:gd name="adj" fmla="val 9412"/>
            </a:avLst>
          </a:prstGeom>
          <a:solidFill>
            <a:srgbClr val="DCF2E4"/>
          </a:solidFill>
          <a:ln w="12700">
            <a:solidFill>
              <a:srgbClr val="333333"/>
            </a:solidFill>
            <a:prstDash val="solid"/>
          </a:ln>
        </p:spPr>
        <p:txBody>
          <a:bodyPr/>
          <a:p/>
        </p:txBody>
      </p:sp>
      <p:sp>
        <p:nvSpPr>
          <p:cNvPr id="32" name="Text 30"/>
          <p:cNvSpPr/>
          <p:nvPr/>
        </p:nvSpPr>
        <p:spPr>
          <a:xfrm>
            <a:off x="8933688" y="4206240"/>
            <a:ext cx="1975104" cy="777240"/>
          </a:xfrm>
          <a:prstGeom prst="rect">
            <a:avLst/>
          </a:prstGeom>
          <a:noFill/>
          <a:ln/>
        </p:spPr>
        <p:txBody>
          <a:bodyPr wrap="square" lIns="0" tIns="0" rIns="0" bIns="0" rtlCol="0" anchor="ctr"/>
          <a:lstStyle/>
          <a:p>
            <a:pPr marL="0" indent="0" algn="ctr">
              <a:lnSpc>
                <a:spcPts val="1500"/>
              </a:lnSpc>
              <a:buNone/>
            </a:pPr>
            <a:r>
              <a:rPr lang="en-US" sz="1200" b="1" dirty="0">
                <a:solidFill>
                  <a:srgbClr val="111111"/>
                </a:solidFill>
                <a:latin typeface="Arial" pitchFamily="34" charset="0"/>
                <a:ea typeface="Arial" pitchFamily="34" charset="-122"/>
                <a:cs typeface="Arial" pitchFamily="34" charset="-120"/>
              </a:rPr>
              <a:t>Validation</a:t>
            </a:r>
            <a:endParaRPr lang="en-US" sz="1200" dirty="0"/>
          </a:p>
        </p:txBody>
      </p:sp>
      <p:sp>
        <p:nvSpPr>
          <p:cNvPr id="33" name="Text 31"/>
          <p:cNvSpPr/>
          <p:nvPr/>
        </p:nvSpPr>
        <p:spPr>
          <a:xfrm>
            <a:off x="1005840" y="5212080"/>
            <a:ext cx="10149840" cy="320040"/>
          </a:xfrm>
          <a:prstGeom prst="rect">
            <a:avLst/>
          </a:prstGeom>
          <a:noFill/>
          <a:ln/>
        </p:spPr>
        <p:txBody>
          <a:bodyPr wrap="square" lIns="0" tIns="0" rIns="0" bIns="0" rtlCol="0" anchor="ctr"/>
          <a:lstStyle/>
          <a:p>
            <a:pPr marL="0" indent="0" algn="ctr">
              <a:buNone/>
            </a:pPr>
            <a:r>
              <a:rPr lang="en-US" sz="1200" i="1" dirty="0">
                <a:solidFill>
                  <a:srgbClr val="5C5C5C"/>
                </a:solidFill>
                <a:latin typeface="Arial" pitchFamily="34" charset="0"/>
                <a:ea typeface="Arial" pitchFamily="34" charset="-122"/>
                <a:cs typeface="Arial" pitchFamily="34" charset="-120"/>
              </a:rPr>
              <a:t>Every generated candidate is checked before it is shown to the user.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2  ·  PROBLEM STATEMENT</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Why Is This Hard?</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4</a:t>
            </a:r>
            <a:endParaRPr lang="en-US" sz="1000" dirty="0"/>
          </a:p>
        </p:txBody>
      </p:sp>
      <p:sp>
        <p:nvSpPr>
          <p:cNvPr id="6" name="Shape 4"/>
          <p:cNvSpPr/>
          <p:nvPr/>
        </p:nvSpPr>
        <p:spPr>
          <a:xfrm>
            <a:off x="960120" y="1737360"/>
            <a:ext cx="3200400" cy="3291840"/>
          </a:xfrm>
          <a:prstGeom prst="roundRect">
            <a:avLst>
              <a:gd name="adj" fmla="val 2286"/>
            </a:avLst>
          </a:prstGeom>
          <a:solidFill>
            <a:srgbClr val="DCF2E4"/>
          </a:solidFill>
          <a:ln w="12700">
            <a:solidFill>
              <a:srgbClr val="333333"/>
            </a:solidFill>
            <a:prstDash val="solid"/>
          </a:ln>
        </p:spPr>
        <p:txBody>
          <a:bodyPr/>
          <a:p/>
        </p:txBody>
      </p:sp>
      <p:sp>
        <p:nvSpPr>
          <p:cNvPr id="7" name="Shape 5"/>
          <p:cNvSpPr/>
          <p:nvPr/>
        </p:nvSpPr>
        <p:spPr>
          <a:xfrm>
            <a:off x="1216152" y="1965960"/>
            <a:ext cx="475488" cy="475488"/>
          </a:xfrm>
          <a:prstGeom prst="ellipse">
            <a:avLst/>
          </a:prstGeom>
          <a:solidFill>
            <a:srgbClr val="156B33"/>
          </a:solidFill>
          <a:ln w="12700">
            <a:solidFill>
              <a:srgbClr val="333333"/>
            </a:solidFill>
            <a:prstDash val="solid"/>
          </a:ln>
        </p:spPr>
        <p:txBody>
          <a:bodyPr/>
          <a:p/>
        </p:txBody>
      </p:sp>
      <p:sp>
        <p:nvSpPr>
          <p:cNvPr id="8" name="Text 6"/>
          <p:cNvSpPr/>
          <p:nvPr/>
        </p:nvSpPr>
        <p:spPr>
          <a:xfrm>
            <a:off x="1216152" y="196596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p:nvPr/>
        </p:nvSpPr>
        <p:spPr>
          <a:xfrm>
            <a:off x="1216152" y="2578608"/>
            <a:ext cx="2697480" cy="365760"/>
          </a:xfrm>
          <a:prstGeom prst="rect">
            <a:avLst/>
          </a:prstGeom>
          <a:noFill/>
          <a:ln/>
        </p:spPr>
        <p:txBody>
          <a:bodyPr wrap="square" lIns="0" tIns="0" rIns="0" bIns="0" rtlCol="0" anchor="ctr"/>
          <a:lstStyle/>
          <a:p>
            <a:pPr marL="0" indent="0">
              <a:buNone/>
            </a:pPr>
            <a:r>
              <a:rPr lang="en-US" sz="1600" b="1" dirty="0">
                <a:solidFill>
                  <a:srgbClr val="111111"/>
                </a:solidFill>
                <a:latin typeface="Arial" pitchFamily="34" charset="0"/>
                <a:ea typeface="Arial" pitchFamily="34" charset="-122"/>
                <a:cs typeface="Arial" pitchFamily="34" charset="-120"/>
              </a:rPr>
              <a:t>Chemical validity</a:t>
            </a:r>
            <a:endParaRPr lang="en-US" sz="1600" dirty="0"/>
          </a:p>
        </p:txBody>
      </p:sp>
      <p:sp>
        <p:nvSpPr>
          <p:cNvPr id="10" name="Text 8"/>
          <p:cNvSpPr/>
          <p:nvPr/>
        </p:nvSpPr>
        <p:spPr>
          <a:xfrm>
            <a:off x="1216152" y="3035808"/>
            <a:ext cx="2697480" cy="1737360"/>
          </a:xfrm>
          <a:prstGeom prst="rect">
            <a:avLst/>
          </a:prstGeom>
          <a:noFill/>
          <a:ln/>
        </p:spPr>
        <p:txBody>
          <a:bodyPr wrap="square" lIns="0" tIns="0" rIns="0" bIns="0" rtlCol="0" anchor="ctr"/>
          <a:lstStyle/>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Molecules are written as character strings</a:t>
            </a:r>
            <a:endParaRPr lang="en-US" sz="1150" dirty="0"/>
          </a:p>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Random edits produce impossible structures</a:t>
            </a:r>
            <a:endParaRPr lang="en-US" sz="1150" dirty="0"/>
          </a:p>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Too many bonds, unclosed rings</a:t>
            </a:r>
            <a:endParaRPr lang="en-US" sz="1150" dirty="0"/>
          </a:p>
        </p:txBody>
      </p:sp>
      <p:sp>
        <p:nvSpPr>
          <p:cNvPr id="11" name="Shape 9"/>
          <p:cNvSpPr/>
          <p:nvPr/>
        </p:nvSpPr>
        <p:spPr>
          <a:xfrm>
            <a:off x="4389120" y="1737360"/>
            <a:ext cx="3200400" cy="3291840"/>
          </a:xfrm>
          <a:prstGeom prst="roundRect">
            <a:avLst>
              <a:gd name="adj" fmla="val 2286"/>
            </a:avLst>
          </a:prstGeom>
          <a:solidFill>
            <a:srgbClr val="FBEEDA"/>
          </a:solidFill>
          <a:ln w="12700">
            <a:solidFill>
              <a:srgbClr val="333333"/>
            </a:solidFill>
            <a:prstDash val="solid"/>
          </a:ln>
        </p:spPr>
        <p:txBody>
          <a:bodyPr/>
          <a:p/>
        </p:txBody>
      </p:sp>
      <p:sp>
        <p:nvSpPr>
          <p:cNvPr id="12" name="Shape 10"/>
          <p:cNvSpPr/>
          <p:nvPr/>
        </p:nvSpPr>
        <p:spPr>
          <a:xfrm>
            <a:off x="4645152" y="1965960"/>
            <a:ext cx="475488" cy="475488"/>
          </a:xfrm>
          <a:prstGeom prst="ellipse">
            <a:avLst/>
          </a:prstGeom>
          <a:solidFill>
            <a:srgbClr val="9C5A0B"/>
          </a:solidFill>
          <a:ln w="12700">
            <a:solidFill>
              <a:srgbClr val="333333"/>
            </a:solidFill>
            <a:prstDash val="solid"/>
          </a:ln>
        </p:spPr>
        <p:txBody>
          <a:bodyPr/>
          <a:p/>
        </p:txBody>
      </p:sp>
      <p:sp>
        <p:nvSpPr>
          <p:cNvPr id="13" name="Text 11"/>
          <p:cNvSpPr/>
          <p:nvPr/>
        </p:nvSpPr>
        <p:spPr>
          <a:xfrm>
            <a:off x="4645152" y="196596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p:nvPr/>
        </p:nvSpPr>
        <p:spPr>
          <a:xfrm>
            <a:off x="4645152" y="2578608"/>
            <a:ext cx="2697480" cy="365760"/>
          </a:xfrm>
          <a:prstGeom prst="rect">
            <a:avLst/>
          </a:prstGeom>
          <a:noFill/>
          <a:ln/>
        </p:spPr>
        <p:txBody>
          <a:bodyPr wrap="square" lIns="0" tIns="0" rIns="0" bIns="0" rtlCol="0" anchor="ctr"/>
          <a:lstStyle/>
          <a:p>
            <a:pPr marL="0" indent="0">
              <a:buNone/>
            </a:pPr>
            <a:r>
              <a:rPr lang="en-US" sz="1600" b="1" dirty="0">
                <a:solidFill>
                  <a:srgbClr val="111111"/>
                </a:solidFill>
                <a:latin typeface="Arial" pitchFamily="34" charset="0"/>
                <a:ea typeface="Arial" pitchFamily="34" charset="-122"/>
                <a:cs typeface="Arial" pitchFamily="34" charset="-120"/>
              </a:rPr>
              <a:t>Data scarcity</a:t>
            </a:r>
            <a:endParaRPr lang="en-US" sz="1600" dirty="0"/>
          </a:p>
        </p:txBody>
      </p:sp>
      <p:sp>
        <p:nvSpPr>
          <p:cNvPr id="15" name="Text 13"/>
          <p:cNvSpPr/>
          <p:nvPr/>
        </p:nvSpPr>
        <p:spPr>
          <a:xfrm>
            <a:off x="4645152" y="3035808"/>
            <a:ext cx="2697480" cy="1737360"/>
          </a:xfrm>
          <a:prstGeom prst="rect">
            <a:avLst/>
          </a:prstGeom>
          <a:noFill/>
          <a:ln/>
        </p:spPr>
        <p:txBody>
          <a:bodyPr wrap="square" lIns="0" tIns="0" rIns="0" bIns="0" rtlCol="0" anchor="ctr"/>
          <a:lstStyle/>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7,973 polymers in the property dataset</a:t>
            </a:r>
            <a:endParaRPr lang="en-US" sz="1150" dirty="0"/>
          </a:p>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Only 511 have a measured Tg</a:t>
            </a:r>
            <a:endParaRPr lang="en-US" sz="1150" dirty="0"/>
          </a:p>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Tg is our headline property</a:t>
            </a:r>
            <a:endParaRPr lang="en-US" sz="1150" dirty="0"/>
          </a:p>
        </p:txBody>
      </p:sp>
      <p:sp>
        <p:nvSpPr>
          <p:cNvPr id="16" name="Shape 14"/>
          <p:cNvSpPr/>
          <p:nvPr/>
        </p:nvSpPr>
        <p:spPr>
          <a:xfrm>
            <a:off x="7818120" y="1737360"/>
            <a:ext cx="3200400" cy="3291840"/>
          </a:xfrm>
          <a:prstGeom prst="roundRect">
            <a:avLst>
              <a:gd name="adj" fmla="val 2286"/>
            </a:avLst>
          </a:prstGeom>
          <a:solidFill>
            <a:srgbClr val="E3EDF8"/>
          </a:solidFill>
          <a:ln w="12700">
            <a:solidFill>
              <a:srgbClr val="333333"/>
            </a:solidFill>
            <a:prstDash val="solid"/>
          </a:ln>
        </p:spPr>
        <p:txBody>
          <a:bodyPr/>
          <a:p/>
        </p:txBody>
      </p:sp>
      <p:sp>
        <p:nvSpPr>
          <p:cNvPr id="17" name="Shape 15"/>
          <p:cNvSpPr/>
          <p:nvPr/>
        </p:nvSpPr>
        <p:spPr>
          <a:xfrm>
            <a:off x="8074152" y="1965960"/>
            <a:ext cx="475488" cy="475488"/>
          </a:xfrm>
          <a:prstGeom prst="ellipse">
            <a:avLst/>
          </a:prstGeom>
          <a:solidFill>
            <a:srgbClr val="1B4F8A"/>
          </a:solidFill>
          <a:ln w="12700">
            <a:solidFill>
              <a:srgbClr val="333333"/>
            </a:solidFill>
            <a:prstDash val="solid"/>
          </a:ln>
        </p:spPr>
        <p:txBody>
          <a:bodyPr/>
          <a:p/>
        </p:txBody>
      </p:sp>
      <p:sp>
        <p:nvSpPr>
          <p:cNvPr id="18" name="Text 16"/>
          <p:cNvSpPr/>
          <p:nvPr/>
        </p:nvSpPr>
        <p:spPr>
          <a:xfrm>
            <a:off x="8074152" y="196596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9" name="Text 17"/>
          <p:cNvSpPr/>
          <p:nvPr/>
        </p:nvSpPr>
        <p:spPr>
          <a:xfrm>
            <a:off x="8074152" y="2578608"/>
            <a:ext cx="2697480" cy="365760"/>
          </a:xfrm>
          <a:prstGeom prst="rect">
            <a:avLst/>
          </a:prstGeom>
          <a:noFill/>
          <a:ln/>
        </p:spPr>
        <p:txBody>
          <a:bodyPr wrap="square" lIns="0" tIns="0" rIns="0" bIns="0" rtlCol="0" anchor="ctr"/>
          <a:lstStyle/>
          <a:p>
            <a:pPr marL="0" indent="0">
              <a:buNone/>
            </a:pPr>
            <a:r>
              <a:rPr lang="en-US" sz="1600" b="1" dirty="0">
                <a:solidFill>
                  <a:srgbClr val="111111"/>
                </a:solidFill>
                <a:latin typeface="Arial" pitchFamily="34" charset="0"/>
                <a:ea typeface="Arial" pitchFamily="34" charset="-122"/>
                <a:cs typeface="Arial" pitchFamily="34" charset="-120"/>
              </a:rPr>
              <a:t>Validation uncertainty</a:t>
            </a:r>
            <a:endParaRPr lang="en-US" sz="1600" dirty="0"/>
          </a:p>
        </p:txBody>
      </p:sp>
      <p:sp>
        <p:nvSpPr>
          <p:cNvPr id="20" name="Text 18"/>
          <p:cNvSpPr/>
          <p:nvPr/>
        </p:nvSpPr>
        <p:spPr>
          <a:xfrm>
            <a:off x="8074152" y="3035808"/>
            <a:ext cx="2697480" cy="1737360"/>
          </a:xfrm>
          <a:prstGeom prst="rect">
            <a:avLst/>
          </a:prstGeom>
          <a:noFill/>
          <a:ln/>
        </p:spPr>
        <p:txBody>
          <a:bodyPr wrap="square" lIns="0" tIns="0" rIns="0" bIns="0" rtlCol="0" anchor="ctr"/>
          <a:lstStyle/>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Candidates must be checked before lab work</a:t>
            </a:r>
            <a:endParaRPr lang="en-US" sz="1150" dirty="0"/>
          </a:p>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But the validator has its own error</a:t>
            </a:r>
            <a:endParaRPr lang="en-US" sz="1150" dirty="0"/>
          </a:p>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That error must be reported, not hidden</a:t>
            </a:r>
            <a:endParaRPr lang="en-US" sz="1150" dirty="0"/>
          </a:p>
        </p:txBody>
      </p:sp>
      <p:sp>
        <p:nvSpPr>
          <p:cNvPr id="21" name="Shape 19"/>
          <p:cNvSpPr/>
          <p:nvPr/>
        </p:nvSpPr>
        <p:spPr>
          <a:xfrm>
            <a:off x="960120" y="5230368"/>
            <a:ext cx="10241280" cy="685800"/>
          </a:xfrm>
          <a:prstGeom prst="roundRect">
            <a:avLst>
              <a:gd name="adj" fmla="val 10667"/>
            </a:avLst>
          </a:prstGeom>
          <a:solidFill>
            <a:srgbClr val="ECECEC"/>
          </a:solidFill>
          <a:ln w="12700">
            <a:solidFill>
              <a:srgbClr val="333333"/>
            </a:solidFill>
            <a:prstDash val="solid"/>
          </a:ln>
        </p:spPr>
        <p:txBody>
          <a:bodyPr/>
          <a:p/>
        </p:txBody>
      </p:sp>
      <p:sp>
        <p:nvSpPr>
          <p:cNvPr id="22" name="Text 20"/>
          <p:cNvSpPr/>
          <p:nvPr/>
        </p:nvSpPr>
        <p:spPr>
          <a:xfrm>
            <a:off x="960120" y="5230368"/>
            <a:ext cx="10241280" cy="685800"/>
          </a:xfrm>
          <a:prstGeom prst="rect">
            <a:avLst/>
          </a:prstGeom>
          <a:noFill/>
          <a:ln/>
        </p:spPr>
        <p:txBody>
          <a:bodyPr wrap="square" lIns="0" tIns="0" rIns="0" bIns="0" rtlCol="0" anchor="ctr"/>
          <a:lstStyle/>
          <a:p>
            <a:pPr marL="0" indent="0" algn="ctr">
              <a:buNone/>
            </a:pPr>
            <a:r>
              <a:rPr lang="en-US" sz="1400" b="1" dirty="0">
                <a:solidFill>
                  <a:srgbClr val="111111"/>
                </a:solidFill>
                <a:latin typeface="Arial" pitchFamily="34" charset="0"/>
                <a:ea typeface="Arial" pitchFamily="34" charset="-122"/>
                <a:cs typeface="Arial" pitchFamily="34" charset="-120"/>
              </a:rPr>
              <a:t>511 measured Tg labels is the constraint that shapes every design decision in this project.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3  ·  LITERATURE REVIEW</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Literature Review</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5</a:t>
            </a:r>
            <a:endParaRPr lang="en-US" sz="1000" dirty="0"/>
          </a:p>
        </p:txBody>
      </p:sp>
      <p:sp>
        <p:nvSpPr>
          <p:cNvPr id="6" name="Shape 4"/>
          <p:cNvSpPr/>
          <p:nvPr/>
        </p:nvSpPr>
        <p:spPr>
          <a:xfrm>
            <a:off x="960120" y="1783080"/>
            <a:ext cx="10241280" cy="768096"/>
          </a:xfrm>
          <a:prstGeom prst="roundRect">
            <a:avLst>
              <a:gd name="adj" fmla="val 9524"/>
            </a:avLst>
          </a:prstGeom>
          <a:solidFill>
            <a:srgbClr val="ECECEC"/>
          </a:solidFill>
          <a:ln w="12700">
            <a:solidFill>
              <a:srgbClr val="333333"/>
            </a:solidFill>
            <a:prstDash val="solid"/>
          </a:ln>
        </p:spPr>
        <p:txBody>
          <a:bodyPr/>
          <a:p/>
        </p:txBody>
      </p:sp>
      <p:sp>
        <p:nvSpPr>
          <p:cNvPr id="7" name="Text 5"/>
          <p:cNvSpPr/>
          <p:nvPr/>
        </p:nvSpPr>
        <p:spPr>
          <a:xfrm>
            <a:off x="1188720" y="1901952"/>
            <a:ext cx="2194560" cy="274320"/>
          </a:xfrm>
          <a:prstGeom prst="rect">
            <a:avLst/>
          </a:prstGeom>
          <a:noFill/>
          <a:ln/>
        </p:spPr>
        <p:txBody>
          <a:bodyPr wrap="square" lIns="0" tIns="0" rIns="0" bIns="0" rtlCol="0" anchor="ctr"/>
          <a:lstStyle/>
          <a:p>
            <a:pPr marL="0" indent="0">
              <a:buNone/>
            </a:pPr>
            <a:r>
              <a:rPr lang="en-US" sz="1200" b="1" dirty="0">
                <a:solidFill>
                  <a:srgbClr val="111111"/>
                </a:solidFill>
                <a:latin typeface="Arial" pitchFamily="34" charset="0"/>
                <a:ea typeface="Arial" pitchFamily="34" charset="-122"/>
                <a:cs typeface="Arial" pitchFamily="34" charset="-120"/>
              </a:rPr>
              <a:t>Batra et al. (2020)</a:t>
            </a:r>
            <a:endParaRPr lang="en-US" sz="1200" dirty="0"/>
          </a:p>
        </p:txBody>
      </p:sp>
      <p:sp>
        <p:nvSpPr>
          <p:cNvPr id="8" name="Text 6"/>
          <p:cNvSpPr/>
          <p:nvPr/>
        </p:nvSpPr>
        <p:spPr>
          <a:xfrm>
            <a:off x="1188720" y="2185416"/>
            <a:ext cx="2194560" cy="256032"/>
          </a:xfrm>
          <a:prstGeom prst="rect">
            <a:avLst/>
          </a:prstGeom>
          <a:noFill/>
          <a:ln/>
        </p:spPr>
        <p:txBody>
          <a:bodyPr wrap="square" lIns="0" tIns="0" rIns="0" bIns="0" rtlCol="0" anchor="ctr"/>
          <a:lstStyle/>
          <a:p>
            <a:pPr marL="0" indent="0">
              <a:buNone/>
            </a:pPr>
            <a:r>
              <a:rPr lang="en-US" sz="1000" dirty="0">
                <a:solidFill>
                  <a:srgbClr val="5C5C5C"/>
                </a:solidFill>
                <a:latin typeface="Arial" pitchFamily="34" charset="0"/>
                <a:ea typeface="Arial" pitchFamily="34" charset="-122"/>
                <a:cs typeface="Arial" pitchFamily="34" charset="-120"/>
              </a:rPr>
              <a:t>Chem. Mater. 32(24), 10489</a:t>
            </a:r>
            <a:endParaRPr lang="en-US" sz="1000" dirty="0"/>
          </a:p>
        </p:txBody>
      </p:sp>
      <p:sp>
        <p:nvSpPr>
          <p:cNvPr id="9" name="Shape 7"/>
          <p:cNvSpPr/>
          <p:nvPr/>
        </p:nvSpPr>
        <p:spPr>
          <a:xfrm>
            <a:off x="3520440" y="2029968"/>
            <a:ext cx="1417320" cy="274320"/>
          </a:xfrm>
          <a:prstGeom prst="roundRect">
            <a:avLst>
              <a:gd name="adj" fmla="val 50000"/>
            </a:avLst>
          </a:prstGeom>
          <a:solidFill>
            <a:srgbClr val="DCF2E4"/>
          </a:solidFill>
          <a:ln w="12700">
            <a:solidFill>
              <a:srgbClr val="333333"/>
            </a:solidFill>
            <a:prstDash val="solid"/>
          </a:ln>
        </p:spPr>
        <p:txBody>
          <a:bodyPr/>
          <a:p/>
        </p:txBody>
      </p:sp>
      <p:sp>
        <p:nvSpPr>
          <p:cNvPr id="10" name="Text 8"/>
          <p:cNvSpPr/>
          <p:nvPr/>
        </p:nvSpPr>
        <p:spPr>
          <a:xfrm>
            <a:off x="3520440" y="2029968"/>
            <a:ext cx="1417320" cy="274320"/>
          </a:xfrm>
          <a:prstGeom prst="rect">
            <a:avLst/>
          </a:prstGeom>
          <a:noFill/>
          <a:ln/>
        </p:spPr>
        <p:txBody>
          <a:bodyPr wrap="square" lIns="0" tIns="0" rIns="0" bIns="0" rtlCol="0" anchor="ctr"/>
          <a:lstStyle/>
          <a:p>
            <a:pPr marL="0" indent="0" algn="ctr">
              <a:buNone/>
            </a:pPr>
            <a:r>
              <a:rPr lang="en-US" sz="950" b="1" dirty="0">
                <a:solidFill>
                  <a:srgbClr val="156B33"/>
                </a:solidFill>
                <a:latin typeface="Arial" pitchFamily="34" charset="0"/>
                <a:ea typeface="Arial" pitchFamily="34" charset="-122"/>
                <a:cs typeface="Arial" pitchFamily="34" charset="-120"/>
              </a:rPr>
              <a:t>FOUNDATION</a:t>
            </a:r>
            <a:endParaRPr lang="en-US" sz="950" dirty="0"/>
          </a:p>
        </p:txBody>
      </p:sp>
      <p:sp>
        <p:nvSpPr>
          <p:cNvPr id="11" name="Text 9"/>
          <p:cNvSpPr/>
          <p:nvPr/>
        </p:nvSpPr>
        <p:spPr>
          <a:xfrm>
            <a:off x="5120640" y="1783080"/>
            <a:ext cx="3977640" cy="768096"/>
          </a:xfrm>
          <a:prstGeom prst="rect">
            <a:avLst/>
          </a:prstGeom>
          <a:noFill/>
          <a:ln/>
        </p:spPr>
        <p:txBody>
          <a:bodyPr wrap="square" lIns="0" tIns="0" rIns="0" bIns="0" rtlCol="0" anchor="ctr"/>
          <a:lstStyle/>
          <a:p>
            <a:pPr marL="0" indent="0">
              <a:lnSpc>
                <a:spcPts val="1350"/>
              </a:lnSpc>
              <a:buNone/>
            </a:pPr>
            <a:r>
              <a:rPr lang="en-US" sz="1050" dirty="0">
                <a:solidFill>
                  <a:srgbClr val="2E2E2E"/>
                </a:solidFill>
                <a:latin typeface="Arial" pitchFamily="34" charset="0"/>
                <a:ea typeface="Arial" pitchFamily="34" charset="-122"/>
                <a:cs typeface="Arial" pitchFamily="34" charset="-120"/>
              </a:rPr>
              <a:t>Syntax-directed VAE with Gaussian process regression for polymers under extreme conditions. Maps polymer strings to a latent space and generates novel structures.</a:t>
            </a:r>
            <a:endParaRPr lang="en-US" sz="1050" dirty="0"/>
          </a:p>
        </p:txBody>
      </p:sp>
      <p:sp>
        <p:nvSpPr>
          <p:cNvPr id="12" name="Text 10"/>
          <p:cNvSpPr/>
          <p:nvPr/>
        </p:nvSpPr>
        <p:spPr>
          <a:xfrm>
            <a:off x="9235440" y="1783080"/>
            <a:ext cx="1828800" cy="768096"/>
          </a:xfrm>
          <a:prstGeom prst="rect">
            <a:avLst/>
          </a:prstGeom>
          <a:noFill/>
          <a:ln/>
        </p:spPr>
        <p:txBody>
          <a:bodyPr wrap="square" lIns="0" tIns="0" rIns="0" bIns="0" rtlCol="0" anchor="ctr"/>
          <a:lstStyle/>
          <a:p>
            <a:pPr marL="0" indent="0">
              <a:lnSpc>
                <a:spcPts val="1350"/>
              </a:lnSpc>
              <a:buNone/>
            </a:pPr>
            <a:r>
              <a:rPr lang="en-US" sz="1050" b="1" i="1" dirty="0">
                <a:solidFill>
                  <a:srgbClr val="156B33"/>
                </a:solidFill>
                <a:latin typeface="Arial" pitchFamily="34" charset="0"/>
                <a:ea typeface="Arial" pitchFamily="34" charset="-122"/>
                <a:cs typeface="Arial" pitchFamily="34" charset="-120"/>
              </a:rPr>
              <a:t>Core inverse-design concept adopted</a:t>
            </a:r>
            <a:endParaRPr lang="en-US" sz="1050" dirty="0"/>
          </a:p>
        </p:txBody>
      </p:sp>
      <p:sp>
        <p:nvSpPr>
          <p:cNvPr id="13" name="Shape 11"/>
          <p:cNvSpPr/>
          <p:nvPr/>
        </p:nvSpPr>
        <p:spPr>
          <a:xfrm>
            <a:off x="960120" y="2651760"/>
            <a:ext cx="10241280" cy="768096"/>
          </a:xfrm>
          <a:prstGeom prst="roundRect">
            <a:avLst>
              <a:gd name="adj" fmla="val 9524"/>
            </a:avLst>
          </a:prstGeom>
          <a:solidFill>
            <a:srgbClr val="FFFFFF"/>
          </a:solidFill>
          <a:ln w="12700">
            <a:solidFill>
              <a:srgbClr val="333333"/>
            </a:solidFill>
            <a:prstDash val="solid"/>
          </a:ln>
        </p:spPr>
        <p:txBody>
          <a:bodyPr/>
          <a:p/>
        </p:txBody>
      </p:sp>
      <p:sp>
        <p:nvSpPr>
          <p:cNvPr id="14" name="Shape 12"/>
          <p:cNvSpPr/>
          <p:nvPr/>
        </p:nvSpPr>
        <p:spPr>
          <a:xfrm>
            <a:off x="960120" y="2651760"/>
            <a:ext cx="10241280" cy="768096"/>
          </a:xfrm>
          <a:prstGeom prst="roundRect">
            <a:avLst>
              <a:gd name="adj" fmla="val 9524"/>
            </a:avLst>
          </a:prstGeom>
          <a:solidFill>
            <a:srgbClr val="FFFFFF"/>
          </a:solidFill>
          <a:ln w="9525">
            <a:solidFill>
              <a:srgbClr val="D5D5D5"/>
            </a:solidFill>
            <a:prstDash val="solid"/>
          </a:ln>
        </p:spPr>
        <p:txBody>
          <a:bodyPr/>
          <a:p/>
        </p:txBody>
      </p:sp>
      <p:sp>
        <p:nvSpPr>
          <p:cNvPr id="15" name="Text 13"/>
          <p:cNvSpPr/>
          <p:nvPr/>
        </p:nvSpPr>
        <p:spPr>
          <a:xfrm>
            <a:off x="1188720" y="2770632"/>
            <a:ext cx="2194560" cy="274320"/>
          </a:xfrm>
          <a:prstGeom prst="rect">
            <a:avLst/>
          </a:prstGeom>
          <a:noFill/>
          <a:ln/>
        </p:spPr>
        <p:txBody>
          <a:bodyPr wrap="square" lIns="0" tIns="0" rIns="0" bIns="0" rtlCol="0" anchor="ctr"/>
          <a:lstStyle/>
          <a:p>
            <a:pPr marL="0" indent="0">
              <a:buNone/>
            </a:pPr>
            <a:r>
              <a:rPr lang="en-US" sz="1200" b="1" dirty="0">
                <a:solidFill>
                  <a:srgbClr val="111111"/>
                </a:solidFill>
                <a:latin typeface="Arial" pitchFamily="34" charset="0"/>
                <a:ea typeface="Arial" pitchFamily="34" charset="-122"/>
                <a:cs typeface="Arial" pitchFamily="34" charset="-120"/>
              </a:rPr>
              <a:t>Krenn et al.</a:t>
            </a:r>
            <a:endParaRPr lang="en-US" sz="1200" dirty="0"/>
          </a:p>
        </p:txBody>
      </p:sp>
      <p:sp>
        <p:nvSpPr>
          <p:cNvPr id="16" name="Text 14"/>
          <p:cNvSpPr/>
          <p:nvPr/>
        </p:nvSpPr>
        <p:spPr>
          <a:xfrm>
            <a:off x="1188720" y="3054096"/>
            <a:ext cx="2194560" cy="256032"/>
          </a:xfrm>
          <a:prstGeom prst="rect">
            <a:avLst/>
          </a:prstGeom>
          <a:noFill/>
          <a:ln/>
        </p:spPr>
        <p:txBody>
          <a:bodyPr wrap="square" lIns="0" tIns="0" rIns="0" bIns="0" rtlCol="0" anchor="ctr"/>
          <a:lstStyle/>
          <a:p>
            <a:pPr marL="0" indent="0">
              <a:buNone/>
            </a:pPr>
            <a:r>
              <a:rPr lang="en-US" sz="1000" dirty="0">
                <a:solidFill>
                  <a:srgbClr val="5C5C5C"/>
                </a:solidFill>
                <a:latin typeface="Arial" pitchFamily="34" charset="0"/>
                <a:ea typeface="Arial" pitchFamily="34" charset="-122"/>
                <a:cs typeface="Arial" pitchFamily="34" charset="-120"/>
              </a:rPr>
              <a:t>SELFIES</a:t>
            </a:r>
            <a:endParaRPr lang="en-US" sz="1000" dirty="0"/>
          </a:p>
        </p:txBody>
      </p:sp>
      <p:sp>
        <p:nvSpPr>
          <p:cNvPr id="17" name="Shape 15"/>
          <p:cNvSpPr/>
          <p:nvPr/>
        </p:nvSpPr>
        <p:spPr>
          <a:xfrm>
            <a:off x="3520440" y="2898648"/>
            <a:ext cx="1417320" cy="274320"/>
          </a:xfrm>
          <a:prstGeom prst="roundRect">
            <a:avLst>
              <a:gd name="adj" fmla="val 50000"/>
            </a:avLst>
          </a:prstGeom>
          <a:solidFill>
            <a:srgbClr val="DCF2E4"/>
          </a:solidFill>
          <a:ln w="12700">
            <a:solidFill>
              <a:srgbClr val="333333"/>
            </a:solidFill>
            <a:prstDash val="solid"/>
          </a:ln>
        </p:spPr>
        <p:txBody>
          <a:bodyPr/>
          <a:p/>
        </p:txBody>
      </p:sp>
      <p:sp>
        <p:nvSpPr>
          <p:cNvPr id="18" name="Text 16"/>
          <p:cNvSpPr/>
          <p:nvPr/>
        </p:nvSpPr>
        <p:spPr>
          <a:xfrm>
            <a:off x="3520440" y="2898648"/>
            <a:ext cx="1417320" cy="274320"/>
          </a:xfrm>
          <a:prstGeom prst="rect">
            <a:avLst/>
          </a:prstGeom>
          <a:noFill/>
          <a:ln/>
        </p:spPr>
        <p:txBody>
          <a:bodyPr wrap="square" lIns="0" tIns="0" rIns="0" bIns="0" rtlCol="0" anchor="ctr"/>
          <a:lstStyle/>
          <a:p>
            <a:pPr marL="0" indent="0" algn="ctr">
              <a:buNone/>
            </a:pPr>
            <a:r>
              <a:rPr lang="en-US" sz="950" b="1" dirty="0">
                <a:solidFill>
                  <a:srgbClr val="156B33"/>
                </a:solidFill>
                <a:latin typeface="Arial" pitchFamily="34" charset="0"/>
                <a:ea typeface="Arial" pitchFamily="34" charset="-122"/>
                <a:cs typeface="Arial" pitchFamily="34" charset="-120"/>
              </a:rPr>
              <a:t>REPRESENTATION</a:t>
            </a:r>
            <a:endParaRPr lang="en-US" sz="950" dirty="0"/>
          </a:p>
        </p:txBody>
      </p:sp>
      <p:sp>
        <p:nvSpPr>
          <p:cNvPr id="19" name="Text 17"/>
          <p:cNvSpPr/>
          <p:nvPr/>
        </p:nvSpPr>
        <p:spPr>
          <a:xfrm>
            <a:off x="5120640" y="2651760"/>
            <a:ext cx="3977640" cy="768096"/>
          </a:xfrm>
          <a:prstGeom prst="rect">
            <a:avLst/>
          </a:prstGeom>
          <a:noFill/>
          <a:ln/>
        </p:spPr>
        <p:txBody>
          <a:bodyPr wrap="square" lIns="0" tIns="0" rIns="0" bIns="0" rtlCol="0" anchor="ctr"/>
          <a:lstStyle/>
          <a:p>
            <a:pPr marL="0" indent="0">
              <a:lnSpc>
                <a:spcPts val="1350"/>
              </a:lnSpc>
              <a:buNone/>
            </a:pPr>
            <a:r>
              <a:rPr lang="en-US" sz="1050" dirty="0">
                <a:solidFill>
                  <a:srgbClr val="2E2E2E"/>
                </a:solidFill>
                <a:latin typeface="Arial" pitchFamily="34" charset="0"/>
                <a:ea typeface="Arial" pitchFamily="34" charset="-122"/>
                <a:cs typeface="Arial" pitchFamily="34" charset="-120"/>
              </a:rPr>
              <a:t>A molecular string notation in which every syntactically valid string decodes to a valid molecule.</a:t>
            </a:r>
            <a:endParaRPr lang="en-US" sz="1050" dirty="0"/>
          </a:p>
        </p:txBody>
      </p:sp>
      <p:sp>
        <p:nvSpPr>
          <p:cNvPr id="20" name="Text 18"/>
          <p:cNvSpPr/>
          <p:nvPr/>
        </p:nvSpPr>
        <p:spPr>
          <a:xfrm>
            <a:off x="9235440" y="2651760"/>
            <a:ext cx="1828800" cy="768096"/>
          </a:xfrm>
          <a:prstGeom prst="rect">
            <a:avLst/>
          </a:prstGeom>
          <a:noFill/>
          <a:ln/>
        </p:spPr>
        <p:txBody>
          <a:bodyPr wrap="square" lIns="0" tIns="0" rIns="0" bIns="0" rtlCol="0" anchor="ctr"/>
          <a:lstStyle/>
          <a:p>
            <a:pPr marL="0" indent="0">
              <a:lnSpc>
                <a:spcPts val="1350"/>
              </a:lnSpc>
              <a:buNone/>
            </a:pPr>
            <a:r>
              <a:rPr lang="en-US" sz="1050" b="1" i="1" dirty="0">
                <a:solidFill>
                  <a:srgbClr val="156B33"/>
                </a:solidFill>
                <a:latin typeface="Arial" pitchFamily="34" charset="0"/>
                <a:ea typeface="Arial" pitchFamily="34" charset="-122"/>
                <a:cs typeface="Arial" pitchFamily="34" charset="-120"/>
              </a:rPr>
              <a:t>Removes the invalid-output failure mode</a:t>
            </a:r>
            <a:endParaRPr lang="en-US" sz="1050" dirty="0"/>
          </a:p>
        </p:txBody>
      </p:sp>
      <p:sp>
        <p:nvSpPr>
          <p:cNvPr id="21" name="Shape 19"/>
          <p:cNvSpPr/>
          <p:nvPr/>
        </p:nvSpPr>
        <p:spPr>
          <a:xfrm>
            <a:off x="960120" y="3520440"/>
            <a:ext cx="10241280" cy="768096"/>
          </a:xfrm>
          <a:prstGeom prst="roundRect">
            <a:avLst>
              <a:gd name="adj" fmla="val 9524"/>
            </a:avLst>
          </a:prstGeom>
          <a:solidFill>
            <a:srgbClr val="ECECEC"/>
          </a:solidFill>
          <a:ln w="12700">
            <a:solidFill>
              <a:srgbClr val="333333"/>
            </a:solidFill>
            <a:prstDash val="solid"/>
          </a:ln>
        </p:spPr>
        <p:txBody>
          <a:bodyPr/>
          <a:p/>
        </p:txBody>
      </p:sp>
      <p:sp>
        <p:nvSpPr>
          <p:cNvPr id="22" name="Text 20"/>
          <p:cNvSpPr/>
          <p:nvPr/>
        </p:nvSpPr>
        <p:spPr>
          <a:xfrm>
            <a:off x="1188720" y="3639312"/>
            <a:ext cx="2194560" cy="274320"/>
          </a:xfrm>
          <a:prstGeom prst="rect">
            <a:avLst/>
          </a:prstGeom>
          <a:noFill/>
          <a:ln/>
        </p:spPr>
        <p:txBody>
          <a:bodyPr wrap="square" lIns="0" tIns="0" rIns="0" bIns="0" rtlCol="0" anchor="ctr"/>
          <a:lstStyle/>
          <a:p>
            <a:pPr marL="0" indent="0">
              <a:buNone/>
            </a:pPr>
            <a:r>
              <a:rPr lang="en-US" sz="1200" b="1" dirty="0">
                <a:solidFill>
                  <a:srgbClr val="111111"/>
                </a:solidFill>
                <a:latin typeface="Arial" pitchFamily="34" charset="0"/>
                <a:ea typeface="Arial" pitchFamily="34" charset="-122"/>
                <a:cs typeface="Arial" pitchFamily="34" charset="-120"/>
              </a:rPr>
              <a:t>Ma and Luo</a:t>
            </a:r>
            <a:endParaRPr lang="en-US" sz="1200" dirty="0"/>
          </a:p>
        </p:txBody>
      </p:sp>
      <p:sp>
        <p:nvSpPr>
          <p:cNvPr id="23" name="Text 21"/>
          <p:cNvSpPr/>
          <p:nvPr/>
        </p:nvSpPr>
        <p:spPr>
          <a:xfrm>
            <a:off x="1188720" y="3922776"/>
            <a:ext cx="2194560" cy="256032"/>
          </a:xfrm>
          <a:prstGeom prst="rect">
            <a:avLst/>
          </a:prstGeom>
          <a:noFill/>
          <a:ln/>
        </p:spPr>
        <p:txBody>
          <a:bodyPr wrap="square" lIns="0" tIns="0" rIns="0" bIns="0" rtlCol="0" anchor="ctr"/>
          <a:lstStyle/>
          <a:p>
            <a:pPr marL="0" indent="0">
              <a:buNone/>
            </a:pPr>
            <a:r>
              <a:rPr lang="en-US" sz="1000" dirty="0">
                <a:solidFill>
                  <a:srgbClr val="5C5C5C"/>
                </a:solidFill>
                <a:latin typeface="Arial" pitchFamily="34" charset="0"/>
                <a:ea typeface="Arial" pitchFamily="34" charset="-122"/>
                <a:cs typeface="Arial" pitchFamily="34" charset="-120"/>
              </a:rPr>
              <a:t>PI1M</a:t>
            </a:r>
            <a:endParaRPr lang="en-US" sz="1000" dirty="0"/>
          </a:p>
        </p:txBody>
      </p:sp>
      <p:sp>
        <p:nvSpPr>
          <p:cNvPr id="24" name="Shape 22"/>
          <p:cNvSpPr/>
          <p:nvPr/>
        </p:nvSpPr>
        <p:spPr>
          <a:xfrm>
            <a:off x="3520440" y="3767328"/>
            <a:ext cx="1417320" cy="274320"/>
          </a:xfrm>
          <a:prstGeom prst="roundRect">
            <a:avLst>
              <a:gd name="adj" fmla="val 50000"/>
            </a:avLst>
          </a:prstGeom>
          <a:solidFill>
            <a:srgbClr val="DCF2E4"/>
          </a:solidFill>
          <a:ln w="12700">
            <a:solidFill>
              <a:srgbClr val="333333"/>
            </a:solidFill>
            <a:prstDash val="solid"/>
          </a:ln>
        </p:spPr>
        <p:txBody>
          <a:bodyPr/>
          <a:p/>
        </p:txBody>
      </p:sp>
      <p:sp>
        <p:nvSpPr>
          <p:cNvPr id="25" name="Text 23"/>
          <p:cNvSpPr/>
          <p:nvPr/>
        </p:nvSpPr>
        <p:spPr>
          <a:xfrm>
            <a:off x="3520440" y="3767328"/>
            <a:ext cx="1417320" cy="274320"/>
          </a:xfrm>
          <a:prstGeom prst="rect">
            <a:avLst/>
          </a:prstGeom>
          <a:noFill/>
          <a:ln/>
        </p:spPr>
        <p:txBody>
          <a:bodyPr wrap="square" lIns="0" tIns="0" rIns="0" bIns="0" rtlCol="0" anchor="ctr"/>
          <a:lstStyle/>
          <a:p>
            <a:pPr marL="0" indent="0" algn="ctr">
              <a:buNone/>
            </a:pPr>
            <a:r>
              <a:rPr lang="en-US" sz="950" b="1" dirty="0">
                <a:solidFill>
                  <a:srgbClr val="156B33"/>
                </a:solidFill>
                <a:latin typeface="Arial" pitchFamily="34" charset="0"/>
                <a:ea typeface="Arial" pitchFamily="34" charset="-122"/>
                <a:cs typeface="Arial" pitchFamily="34" charset="-120"/>
              </a:rPr>
              <a:t>STRUCTURE CORPUS</a:t>
            </a:r>
            <a:endParaRPr lang="en-US" sz="950" dirty="0"/>
          </a:p>
        </p:txBody>
      </p:sp>
      <p:sp>
        <p:nvSpPr>
          <p:cNvPr id="26" name="Text 24"/>
          <p:cNvSpPr/>
          <p:nvPr/>
        </p:nvSpPr>
        <p:spPr>
          <a:xfrm>
            <a:off x="5120640" y="3520440"/>
            <a:ext cx="3977640" cy="768096"/>
          </a:xfrm>
          <a:prstGeom prst="rect">
            <a:avLst/>
          </a:prstGeom>
          <a:noFill/>
          <a:ln/>
        </p:spPr>
        <p:txBody>
          <a:bodyPr wrap="square" lIns="0" tIns="0" rIns="0" bIns="0" rtlCol="0" anchor="ctr"/>
          <a:lstStyle/>
          <a:p>
            <a:pPr marL="0" indent="0">
              <a:lnSpc>
                <a:spcPts val="1350"/>
              </a:lnSpc>
              <a:buNone/>
            </a:pPr>
            <a:r>
              <a:rPr lang="en-US" sz="1050" dirty="0">
                <a:solidFill>
                  <a:srgbClr val="2E2E2E"/>
                </a:solidFill>
                <a:latin typeface="Arial" pitchFamily="34" charset="0"/>
                <a:ea typeface="Arial" pitchFamily="34" charset="-122"/>
                <a:cs typeface="Arial" pitchFamily="34" charset="-120"/>
              </a:rPr>
              <a:t>Approximately one million hypothetical polymer repeat units. Structures only, no property labels.</a:t>
            </a:r>
            <a:endParaRPr lang="en-US" sz="1050" dirty="0"/>
          </a:p>
        </p:txBody>
      </p:sp>
      <p:sp>
        <p:nvSpPr>
          <p:cNvPr id="27" name="Text 25"/>
          <p:cNvSpPr/>
          <p:nvPr/>
        </p:nvSpPr>
        <p:spPr>
          <a:xfrm>
            <a:off x="9235440" y="3520440"/>
            <a:ext cx="1828800" cy="768096"/>
          </a:xfrm>
          <a:prstGeom prst="rect">
            <a:avLst/>
          </a:prstGeom>
          <a:noFill/>
          <a:ln/>
        </p:spPr>
        <p:txBody>
          <a:bodyPr wrap="square" lIns="0" tIns="0" rIns="0" bIns="0" rtlCol="0" anchor="ctr"/>
          <a:lstStyle/>
          <a:p>
            <a:pPr marL="0" indent="0">
              <a:lnSpc>
                <a:spcPts val="1350"/>
              </a:lnSpc>
              <a:buNone/>
            </a:pPr>
            <a:r>
              <a:rPr lang="en-US" sz="1050" b="1" i="1" dirty="0">
                <a:solidFill>
                  <a:srgbClr val="156B33"/>
                </a:solidFill>
                <a:latin typeface="Arial" pitchFamily="34" charset="0"/>
                <a:ea typeface="Arial" pitchFamily="34" charset="-122"/>
                <a:cs typeface="Arial" pitchFamily="34" charset="-120"/>
              </a:rPr>
              <a:t>Our C-VAE training corpus</a:t>
            </a:r>
            <a:endParaRPr lang="en-US" sz="1050" dirty="0"/>
          </a:p>
        </p:txBody>
      </p:sp>
      <p:sp>
        <p:nvSpPr>
          <p:cNvPr id="28" name="Shape 26"/>
          <p:cNvSpPr/>
          <p:nvPr/>
        </p:nvSpPr>
        <p:spPr>
          <a:xfrm>
            <a:off x="960120" y="4389120"/>
            <a:ext cx="10241280" cy="768096"/>
          </a:xfrm>
          <a:prstGeom prst="roundRect">
            <a:avLst>
              <a:gd name="adj" fmla="val 9524"/>
            </a:avLst>
          </a:prstGeom>
          <a:solidFill>
            <a:srgbClr val="FFFFFF"/>
          </a:solidFill>
          <a:ln w="12700">
            <a:solidFill>
              <a:srgbClr val="333333"/>
            </a:solidFill>
            <a:prstDash val="solid"/>
          </a:ln>
        </p:spPr>
        <p:txBody>
          <a:bodyPr/>
          <a:p/>
        </p:txBody>
      </p:sp>
      <p:sp>
        <p:nvSpPr>
          <p:cNvPr id="29" name="Shape 27"/>
          <p:cNvSpPr/>
          <p:nvPr/>
        </p:nvSpPr>
        <p:spPr>
          <a:xfrm>
            <a:off x="960120" y="4389120"/>
            <a:ext cx="10241280" cy="768096"/>
          </a:xfrm>
          <a:prstGeom prst="roundRect">
            <a:avLst>
              <a:gd name="adj" fmla="val 9524"/>
            </a:avLst>
          </a:prstGeom>
          <a:solidFill>
            <a:srgbClr val="FFFFFF"/>
          </a:solidFill>
          <a:ln w="9525">
            <a:solidFill>
              <a:srgbClr val="D5D5D5"/>
            </a:solidFill>
            <a:prstDash val="solid"/>
          </a:ln>
        </p:spPr>
        <p:txBody>
          <a:bodyPr/>
          <a:p/>
        </p:txBody>
      </p:sp>
      <p:sp>
        <p:nvSpPr>
          <p:cNvPr id="30" name="Text 28"/>
          <p:cNvSpPr/>
          <p:nvPr/>
        </p:nvSpPr>
        <p:spPr>
          <a:xfrm>
            <a:off x="1188720" y="4507992"/>
            <a:ext cx="2194560" cy="274320"/>
          </a:xfrm>
          <a:prstGeom prst="rect">
            <a:avLst/>
          </a:prstGeom>
          <a:noFill/>
          <a:ln/>
        </p:spPr>
        <p:txBody>
          <a:bodyPr wrap="square" lIns="0" tIns="0" rIns="0" bIns="0" rtlCol="0" anchor="ctr"/>
          <a:lstStyle/>
          <a:p>
            <a:pPr marL="0" indent="0">
              <a:buNone/>
            </a:pPr>
            <a:r>
              <a:rPr lang="en-US" sz="1200" b="1" dirty="0">
                <a:solidFill>
                  <a:srgbClr val="111111"/>
                </a:solidFill>
                <a:latin typeface="Arial" pitchFamily="34" charset="0"/>
                <a:ea typeface="Arial" pitchFamily="34" charset="-122"/>
                <a:cs typeface="Arial" pitchFamily="34" charset="-120"/>
              </a:rPr>
              <a:t>Open Polymer Challenge</a:t>
            </a:r>
            <a:endParaRPr lang="en-US" sz="1200" dirty="0"/>
          </a:p>
        </p:txBody>
      </p:sp>
      <p:sp>
        <p:nvSpPr>
          <p:cNvPr id="31" name="Text 29"/>
          <p:cNvSpPr/>
          <p:nvPr/>
        </p:nvSpPr>
        <p:spPr>
          <a:xfrm>
            <a:off x="1188720" y="4791456"/>
            <a:ext cx="2194560" cy="256032"/>
          </a:xfrm>
          <a:prstGeom prst="rect">
            <a:avLst/>
          </a:prstGeom>
          <a:noFill/>
          <a:ln/>
        </p:spPr>
        <p:txBody>
          <a:bodyPr wrap="square" lIns="0" tIns="0" rIns="0" bIns="0" rtlCol="0" anchor="ctr"/>
          <a:lstStyle/>
          <a:p>
            <a:pPr marL="0" indent="0">
              <a:buNone/>
            </a:pPr>
            <a:r>
              <a:rPr lang="en-US" sz="1000" dirty="0">
                <a:solidFill>
                  <a:srgbClr val="5C5C5C"/>
                </a:solidFill>
                <a:latin typeface="Arial" pitchFamily="34" charset="0"/>
                <a:ea typeface="Arial" pitchFamily="34" charset="-122"/>
                <a:cs typeface="Arial" pitchFamily="34" charset="-120"/>
              </a:rPr>
              <a:t>NeurIPS 2025</a:t>
            </a:r>
            <a:endParaRPr lang="en-US" sz="1000" dirty="0"/>
          </a:p>
        </p:txBody>
      </p:sp>
      <p:sp>
        <p:nvSpPr>
          <p:cNvPr id="32" name="Shape 30"/>
          <p:cNvSpPr/>
          <p:nvPr/>
        </p:nvSpPr>
        <p:spPr>
          <a:xfrm>
            <a:off x="3520440" y="4636008"/>
            <a:ext cx="1417320" cy="274320"/>
          </a:xfrm>
          <a:prstGeom prst="roundRect">
            <a:avLst>
              <a:gd name="adj" fmla="val 50000"/>
            </a:avLst>
          </a:prstGeom>
          <a:solidFill>
            <a:srgbClr val="DCF2E4"/>
          </a:solidFill>
          <a:ln w="12700">
            <a:solidFill>
              <a:srgbClr val="333333"/>
            </a:solidFill>
            <a:prstDash val="solid"/>
          </a:ln>
        </p:spPr>
        <p:txBody>
          <a:bodyPr/>
          <a:p/>
        </p:txBody>
      </p:sp>
      <p:sp>
        <p:nvSpPr>
          <p:cNvPr id="33" name="Text 31"/>
          <p:cNvSpPr/>
          <p:nvPr/>
        </p:nvSpPr>
        <p:spPr>
          <a:xfrm>
            <a:off x="3520440" y="4636008"/>
            <a:ext cx="1417320" cy="274320"/>
          </a:xfrm>
          <a:prstGeom prst="rect">
            <a:avLst/>
          </a:prstGeom>
          <a:noFill/>
          <a:ln/>
        </p:spPr>
        <p:txBody>
          <a:bodyPr wrap="square" lIns="0" tIns="0" rIns="0" bIns="0" rtlCol="0" anchor="ctr"/>
          <a:lstStyle/>
          <a:p>
            <a:pPr marL="0" indent="0" algn="ctr">
              <a:buNone/>
            </a:pPr>
            <a:r>
              <a:rPr lang="en-US" sz="950" b="1" dirty="0">
                <a:solidFill>
                  <a:srgbClr val="156B33"/>
                </a:solidFill>
                <a:latin typeface="Arial" pitchFamily="34" charset="0"/>
                <a:ea typeface="Arial" pitchFamily="34" charset="-122"/>
                <a:cs typeface="Arial" pitchFamily="34" charset="-120"/>
              </a:rPr>
              <a:t>PROPERTY DATA</a:t>
            </a:r>
            <a:endParaRPr lang="en-US" sz="950" dirty="0"/>
          </a:p>
        </p:txBody>
      </p:sp>
      <p:sp>
        <p:nvSpPr>
          <p:cNvPr id="34" name="Text 32"/>
          <p:cNvSpPr/>
          <p:nvPr/>
        </p:nvSpPr>
        <p:spPr>
          <a:xfrm>
            <a:off x="5120640" y="4389120"/>
            <a:ext cx="3977640" cy="768096"/>
          </a:xfrm>
          <a:prstGeom prst="rect">
            <a:avLst/>
          </a:prstGeom>
          <a:noFill/>
          <a:ln/>
        </p:spPr>
        <p:txBody>
          <a:bodyPr wrap="square" lIns="0" tIns="0" rIns="0" bIns="0" rtlCol="0" anchor="ctr"/>
          <a:lstStyle/>
          <a:p>
            <a:pPr marL="0" indent="0">
              <a:lnSpc>
                <a:spcPts val="1350"/>
              </a:lnSpc>
              <a:buNone/>
            </a:pPr>
            <a:r>
              <a:rPr lang="en-US" sz="1050" dirty="0">
                <a:solidFill>
                  <a:srgbClr val="2E2E2E"/>
                </a:solidFill>
                <a:latin typeface="Arial" pitchFamily="34" charset="0"/>
                <a:ea typeface="Arial" pitchFamily="34" charset="-122"/>
                <a:cs typeface="Arial" pitchFamily="34" charset="-120"/>
              </a:rPr>
              <a:t>7,973 polymers with five MD-simulated properties, using the same wildcard notation as PI1M.</a:t>
            </a:r>
            <a:endParaRPr lang="en-US" sz="1050" dirty="0"/>
          </a:p>
        </p:txBody>
      </p:sp>
      <p:sp>
        <p:nvSpPr>
          <p:cNvPr id="35" name="Text 33"/>
          <p:cNvSpPr/>
          <p:nvPr/>
        </p:nvSpPr>
        <p:spPr>
          <a:xfrm>
            <a:off x="9235440" y="4389120"/>
            <a:ext cx="1828800" cy="768096"/>
          </a:xfrm>
          <a:prstGeom prst="rect">
            <a:avLst/>
          </a:prstGeom>
          <a:noFill/>
          <a:ln/>
        </p:spPr>
        <p:txBody>
          <a:bodyPr wrap="square" lIns="0" tIns="0" rIns="0" bIns="0" rtlCol="0" anchor="ctr"/>
          <a:lstStyle/>
          <a:p>
            <a:pPr marL="0" indent="0">
              <a:lnSpc>
                <a:spcPts val="1350"/>
              </a:lnSpc>
              <a:buNone/>
            </a:pPr>
            <a:r>
              <a:rPr lang="en-US" sz="1050" b="1" i="1" dirty="0">
                <a:solidFill>
                  <a:srgbClr val="156B33"/>
                </a:solidFill>
                <a:latin typeface="Arial" pitchFamily="34" charset="0"/>
                <a:ea typeface="Arial" pitchFamily="34" charset="-122"/>
                <a:cs typeface="Arial" pitchFamily="34" charset="-120"/>
              </a:rPr>
              <a:t>Our Oracle training data</a:t>
            </a:r>
            <a:endParaRPr lang="en-US" sz="1050" dirty="0"/>
          </a:p>
        </p:txBody>
      </p:sp>
      <p:sp>
        <p:nvSpPr>
          <p:cNvPr id="36" name="Shape 34"/>
          <p:cNvSpPr/>
          <p:nvPr/>
        </p:nvSpPr>
        <p:spPr>
          <a:xfrm>
            <a:off x="960120" y="5257800"/>
            <a:ext cx="10241280" cy="768096"/>
          </a:xfrm>
          <a:prstGeom prst="roundRect">
            <a:avLst>
              <a:gd name="adj" fmla="val 9524"/>
            </a:avLst>
          </a:prstGeom>
          <a:solidFill>
            <a:srgbClr val="ECECEC"/>
          </a:solidFill>
          <a:ln w="12700">
            <a:solidFill>
              <a:srgbClr val="333333"/>
            </a:solidFill>
            <a:prstDash val="solid"/>
          </a:ln>
        </p:spPr>
        <p:txBody>
          <a:bodyPr/>
          <a:lstStyle/>
          <a:p>
            <a:endParaRPr lang="en-IN" dirty="0"/>
          </a:p>
        </p:txBody>
      </p:sp>
      <p:sp>
        <p:nvSpPr>
          <p:cNvPr id="37" name="Text 35"/>
          <p:cNvSpPr/>
          <p:nvPr/>
        </p:nvSpPr>
        <p:spPr>
          <a:xfrm>
            <a:off x="1188720" y="5376672"/>
            <a:ext cx="2194560" cy="274320"/>
          </a:xfrm>
          <a:prstGeom prst="rect">
            <a:avLst/>
          </a:prstGeom>
          <a:noFill/>
          <a:ln/>
        </p:spPr>
        <p:txBody>
          <a:bodyPr wrap="square" lIns="0" tIns="0" rIns="0" bIns="0" rtlCol="0" anchor="ctr"/>
          <a:lstStyle/>
          <a:p>
            <a:pPr marL="0" indent="0">
              <a:buNone/>
            </a:pPr>
            <a:r>
              <a:rPr lang="en-US" sz="1200" b="1" dirty="0">
                <a:solidFill>
                  <a:srgbClr val="111111"/>
                </a:solidFill>
                <a:latin typeface="Arial" pitchFamily="34" charset="0"/>
                <a:ea typeface="Arial" pitchFamily="34" charset="-122"/>
                <a:cs typeface="Arial" pitchFamily="34" charset="-120"/>
              </a:rPr>
              <a:t>Kuenneth and Ramprasad</a:t>
            </a:r>
            <a:endParaRPr lang="en-US" sz="1200" dirty="0"/>
          </a:p>
        </p:txBody>
      </p:sp>
      <p:sp>
        <p:nvSpPr>
          <p:cNvPr id="38" name="Text 36"/>
          <p:cNvSpPr/>
          <p:nvPr/>
        </p:nvSpPr>
        <p:spPr>
          <a:xfrm>
            <a:off x="1188720" y="5660136"/>
            <a:ext cx="2194560" cy="256032"/>
          </a:xfrm>
          <a:prstGeom prst="rect">
            <a:avLst/>
          </a:prstGeom>
          <a:noFill/>
          <a:ln/>
        </p:spPr>
        <p:txBody>
          <a:bodyPr wrap="square" lIns="0" tIns="0" rIns="0" bIns="0" rtlCol="0" anchor="ctr"/>
          <a:lstStyle/>
          <a:p>
            <a:pPr marL="0" indent="0">
              <a:buNone/>
            </a:pPr>
            <a:r>
              <a:rPr lang="en-US" sz="1000" dirty="0">
                <a:solidFill>
                  <a:srgbClr val="5C5C5C"/>
                </a:solidFill>
                <a:latin typeface="Arial" pitchFamily="34" charset="0"/>
                <a:ea typeface="Arial" pitchFamily="34" charset="-122"/>
                <a:cs typeface="Arial" pitchFamily="34" charset="-120"/>
              </a:rPr>
              <a:t>Polymer informatics</a:t>
            </a:r>
            <a:endParaRPr lang="en-US" sz="1000" dirty="0"/>
          </a:p>
        </p:txBody>
      </p:sp>
      <p:sp>
        <p:nvSpPr>
          <p:cNvPr id="39" name="Shape 37"/>
          <p:cNvSpPr/>
          <p:nvPr/>
        </p:nvSpPr>
        <p:spPr>
          <a:xfrm>
            <a:off x="3520440" y="5504688"/>
            <a:ext cx="1417320" cy="274320"/>
          </a:xfrm>
          <a:prstGeom prst="roundRect">
            <a:avLst>
              <a:gd name="adj" fmla="val 50000"/>
            </a:avLst>
          </a:prstGeom>
          <a:solidFill>
            <a:srgbClr val="DCF2E4"/>
          </a:solidFill>
          <a:ln w="12700">
            <a:solidFill>
              <a:srgbClr val="333333"/>
            </a:solidFill>
            <a:prstDash val="solid"/>
          </a:ln>
        </p:spPr>
        <p:txBody>
          <a:bodyPr/>
          <a:p/>
        </p:txBody>
      </p:sp>
      <p:sp>
        <p:nvSpPr>
          <p:cNvPr id="40" name="Text 38"/>
          <p:cNvSpPr/>
          <p:nvPr/>
        </p:nvSpPr>
        <p:spPr>
          <a:xfrm>
            <a:off x="3520440" y="5504688"/>
            <a:ext cx="1417320" cy="274320"/>
          </a:xfrm>
          <a:prstGeom prst="rect">
            <a:avLst/>
          </a:prstGeom>
          <a:noFill/>
          <a:ln/>
        </p:spPr>
        <p:txBody>
          <a:bodyPr wrap="square" lIns="0" tIns="0" rIns="0" bIns="0" rtlCol="0" anchor="ctr"/>
          <a:lstStyle/>
          <a:p>
            <a:pPr marL="0" indent="0" algn="ctr">
              <a:buNone/>
            </a:pPr>
            <a:r>
              <a:rPr lang="en-US" sz="950" b="1" dirty="0">
                <a:solidFill>
                  <a:srgbClr val="156B33"/>
                </a:solidFill>
                <a:latin typeface="Arial" pitchFamily="34" charset="0"/>
                <a:ea typeface="Arial" pitchFamily="34" charset="-122"/>
                <a:cs typeface="Arial" pitchFamily="34" charset="-120"/>
              </a:rPr>
              <a:t>MULTI-TASK</a:t>
            </a:r>
            <a:endParaRPr lang="en-US" sz="950" dirty="0"/>
          </a:p>
        </p:txBody>
      </p:sp>
      <p:sp>
        <p:nvSpPr>
          <p:cNvPr id="41" name="Text 39"/>
          <p:cNvSpPr/>
          <p:nvPr/>
        </p:nvSpPr>
        <p:spPr>
          <a:xfrm>
            <a:off x="5120640" y="5257800"/>
            <a:ext cx="3977640" cy="768096"/>
          </a:xfrm>
          <a:prstGeom prst="rect">
            <a:avLst/>
          </a:prstGeom>
          <a:noFill/>
          <a:ln/>
        </p:spPr>
        <p:txBody>
          <a:bodyPr wrap="square" lIns="0" tIns="0" rIns="0" bIns="0" rtlCol="0" anchor="ctr"/>
          <a:lstStyle/>
          <a:p>
            <a:pPr marL="0" indent="0">
              <a:lnSpc>
                <a:spcPts val="1350"/>
              </a:lnSpc>
              <a:buNone/>
            </a:pPr>
            <a:r>
              <a:rPr lang="en-US" sz="1050" dirty="0">
                <a:solidFill>
                  <a:srgbClr val="2E2E2E"/>
                </a:solidFill>
                <a:latin typeface="Arial" pitchFamily="34" charset="0"/>
                <a:ea typeface="Arial" pitchFamily="34" charset="-122"/>
                <a:cs typeface="Arial" pitchFamily="34" charset="-120"/>
              </a:rPr>
              <a:t>Shared representations transfer across polymer properties that have uneven label availability.</a:t>
            </a:r>
            <a:endParaRPr lang="en-US" sz="1050" dirty="0"/>
          </a:p>
        </p:txBody>
      </p:sp>
      <p:sp>
        <p:nvSpPr>
          <p:cNvPr id="42" name="Text 40"/>
          <p:cNvSpPr/>
          <p:nvPr/>
        </p:nvSpPr>
        <p:spPr>
          <a:xfrm>
            <a:off x="9235440" y="5257800"/>
            <a:ext cx="1828800" cy="768096"/>
          </a:xfrm>
          <a:prstGeom prst="rect">
            <a:avLst/>
          </a:prstGeom>
          <a:noFill/>
          <a:ln/>
        </p:spPr>
        <p:txBody>
          <a:bodyPr wrap="square" lIns="0" tIns="0" rIns="0" bIns="0" rtlCol="0" anchor="ctr"/>
          <a:lstStyle/>
          <a:p>
            <a:pPr marL="0" indent="0">
              <a:lnSpc>
                <a:spcPts val="1350"/>
              </a:lnSpc>
              <a:buNone/>
            </a:pPr>
            <a:r>
              <a:rPr lang="en-US" sz="1050" b="1" i="1" dirty="0">
                <a:solidFill>
                  <a:srgbClr val="156B33"/>
                </a:solidFill>
                <a:latin typeface="Arial" pitchFamily="34" charset="0"/>
                <a:ea typeface="Arial" pitchFamily="34" charset="-122"/>
                <a:cs typeface="Arial" pitchFamily="34" charset="-120"/>
              </a:rPr>
              <a:t>Motivates masked conditioning</a:t>
            </a:r>
            <a:endParaRPr lang="en-US" sz="1050" dirty="0"/>
          </a:p>
        </p:txBody>
      </p:sp>
      <p:sp>
        <p:nvSpPr>
          <p:cNvPr id="43" name="Text 41"/>
          <p:cNvSpPr/>
          <p:nvPr/>
        </p:nvSpPr>
        <p:spPr>
          <a:xfrm>
            <a:off x="960120" y="6144768"/>
            <a:ext cx="10241280" cy="274320"/>
          </a:xfrm>
          <a:prstGeom prst="rect">
            <a:avLst/>
          </a:prstGeom>
          <a:noFill/>
          <a:ln/>
        </p:spPr>
        <p:txBody>
          <a:bodyPr wrap="square" lIns="0" tIns="0" rIns="0" bIns="0" rtlCol="0" anchor="ctr"/>
          <a:lstStyle/>
          <a:p>
            <a:pPr marL="0" indent="0" algn="ctr">
              <a:buNone/>
            </a:pP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4  ·  RESEARCH GAP / MOTIVATION</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Research Gap / Motivation</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6</a:t>
            </a:r>
            <a:endParaRPr lang="en-US" sz="1000" dirty="0"/>
          </a:p>
        </p:txBody>
      </p:sp>
      <p:sp>
        <p:nvSpPr>
          <p:cNvPr id="6" name="Shape 4"/>
          <p:cNvSpPr/>
          <p:nvPr/>
        </p:nvSpPr>
        <p:spPr>
          <a:xfrm>
            <a:off x="960120" y="1783080"/>
            <a:ext cx="3236976" cy="3749040"/>
          </a:xfrm>
          <a:prstGeom prst="roundRect">
            <a:avLst>
              <a:gd name="adj" fmla="val 2260"/>
            </a:avLst>
          </a:prstGeom>
          <a:solidFill>
            <a:srgbClr val="DCF2E4"/>
          </a:solidFill>
          <a:ln w="12700">
            <a:solidFill>
              <a:srgbClr val="333333"/>
            </a:solidFill>
            <a:prstDash val="solid"/>
          </a:ln>
        </p:spPr>
        <p:txBody>
          <a:bodyPr/>
          <a:p/>
        </p:txBody>
      </p:sp>
      <p:sp>
        <p:nvSpPr>
          <p:cNvPr id="7" name="Shape 5"/>
          <p:cNvSpPr/>
          <p:nvPr/>
        </p:nvSpPr>
        <p:spPr>
          <a:xfrm>
            <a:off x="1216152" y="1993392"/>
            <a:ext cx="1600200" cy="274320"/>
          </a:xfrm>
          <a:prstGeom prst="roundRect">
            <a:avLst>
              <a:gd name="adj" fmla="val 50000"/>
            </a:avLst>
          </a:prstGeom>
          <a:solidFill>
            <a:srgbClr val="FFFFFF"/>
          </a:solidFill>
          <a:ln w="12700">
            <a:solidFill>
              <a:srgbClr val="333333"/>
            </a:solidFill>
            <a:prstDash val="solid"/>
          </a:ln>
        </p:spPr>
        <p:txBody>
          <a:bodyPr/>
          <a:p/>
        </p:txBody>
      </p:sp>
      <p:sp>
        <p:nvSpPr>
          <p:cNvPr id="8" name="Text 6"/>
          <p:cNvSpPr/>
          <p:nvPr/>
        </p:nvSpPr>
        <p:spPr>
          <a:xfrm>
            <a:off x="1216152" y="1993392"/>
            <a:ext cx="1600200" cy="274320"/>
          </a:xfrm>
          <a:prstGeom prst="rect">
            <a:avLst/>
          </a:prstGeom>
          <a:noFill/>
          <a:ln/>
        </p:spPr>
        <p:txBody>
          <a:bodyPr wrap="square" lIns="0" tIns="0" rIns="0" bIns="0" rtlCol="0" anchor="ctr"/>
          <a:lstStyle/>
          <a:p>
            <a:pPr marL="0" indent="0" algn="ctr">
              <a:buNone/>
            </a:pPr>
            <a:r>
              <a:rPr lang="en-US" sz="950" b="1" dirty="0">
                <a:solidFill>
                  <a:srgbClr val="156B33"/>
                </a:solidFill>
                <a:latin typeface="Arial" pitchFamily="34" charset="0"/>
                <a:ea typeface="Arial" pitchFamily="34" charset="-122"/>
                <a:cs typeface="Arial" pitchFamily="34" charset="-120"/>
              </a:rPr>
              <a:t>FROM LITERATURE</a:t>
            </a:r>
            <a:endParaRPr lang="en-US" sz="950" dirty="0"/>
          </a:p>
        </p:txBody>
      </p:sp>
      <p:sp>
        <p:nvSpPr>
          <p:cNvPr id="9" name="Text 7"/>
          <p:cNvSpPr/>
          <p:nvPr/>
        </p:nvSpPr>
        <p:spPr>
          <a:xfrm>
            <a:off x="1216152" y="2395728"/>
            <a:ext cx="2651760" cy="256032"/>
          </a:xfrm>
          <a:prstGeom prst="rect">
            <a:avLst/>
          </a:prstGeom>
          <a:noFill/>
          <a:ln/>
        </p:spPr>
        <p:txBody>
          <a:bodyPr wrap="square" lIns="0" tIns="0" rIns="0" bIns="0" rtlCol="0" anchor="ctr"/>
          <a:lstStyle/>
          <a:p>
            <a:pPr marL="0" indent="0">
              <a:buNone/>
            </a:pPr>
            <a:r>
              <a:rPr lang="en-US" sz="1050" b="1" dirty="0">
                <a:solidFill>
                  <a:srgbClr val="5C5C5C"/>
                </a:solidFill>
                <a:latin typeface="Arial" pitchFamily="34" charset="0"/>
                <a:ea typeface="Arial" pitchFamily="34" charset="-122"/>
                <a:cs typeface="Arial" pitchFamily="34" charset="-120"/>
              </a:rPr>
              <a:t>Gap 1</a:t>
            </a:r>
            <a:endParaRPr lang="en-US" sz="1050" dirty="0"/>
          </a:p>
        </p:txBody>
      </p:sp>
      <p:sp>
        <p:nvSpPr>
          <p:cNvPr id="10" name="Text 8"/>
          <p:cNvSpPr/>
          <p:nvPr/>
        </p:nvSpPr>
        <p:spPr>
          <a:xfrm>
            <a:off x="1216152" y="2651760"/>
            <a:ext cx="2697480" cy="640080"/>
          </a:xfrm>
          <a:prstGeom prst="rect">
            <a:avLst/>
          </a:prstGeom>
          <a:noFill/>
          <a:ln/>
        </p:spPr>
        <p:txBody>
          <a:bodyPr wrap="square" lIns="0" tIns="0" rIns="0" bIns="0" rtlCol="0" anchor="ctr"/>
          <a:lstStyle/>
          <a:p>
            <a:pPr marL="0" indent="0">
              <a:lnSpc>
                <a:spcPts val="1800"/>
              </a:lnSpc>
              <a:buNone/>
            </a:pPr>
            <a:r>
              <a:rPr lang="en-US" sz="1400" b="1" dirty="0">
                <a:solidFill>
                  <a:srgbClr val="111111"/>
                </a:solidFill>
                <a:latin typeface="Arial" pitchFamily="34" charset="0"/>
                <a:ea typeface="Arial" pitchFamily="34" charset="-122"/>
                <a:cs typeface="Arial" pitchFamily="34" charset="-120"/>
              </a:rPr>
              <a:t>No natural-language interface</a:t>
            </a:r>
            <a:endParaRPr lang="en-US" sz="1400" dirty="0"/>
          </a:p>
        </p:txBody>
      </p:sp>
      <p:sp>
        <p:nvSpPr>
          <p:cNvPr id="11" name="Text 9"/>
          <p:cNvSpPr/>
          <p:nvPr/>
        </p:nvSpPr>
        <p:spPr>
          <a:xfrm>
            <a:off x="1216152" y="3364992"/>
            <a:ext cx="2697480" cy="1143000"/>
          </a:xfrm>
          <a:prstGeom prst="rect">
            <a:avLst/>
          </a:prstGeom>
          <a:noFill/>
          <a:ln/>
        </p:spPr>
        <p:txBody>
          <a:bodyPr wrap="square" lIns="0" tIns="0" rIns="0" bIns="0" rtlCol="0" anchor="ctr"/>
          <a:lstStyle/>
          <a:p>
            <a:pPr marL="0" indent="0">
              <a:lnSpc>
                <a:spcPts val="1500"/>
              </a:lnSpc>
              <a:buNone/>
            </a:pPr>
            <a:r>
              <a:rPr lang="en-US" sz="1100" dirty="0">
                <a:solidFill>
                  <a:srgbClr val="2E2E2E"/>
                </a:solidFill>
                <a:latin typeface="Arial" pitchFamily="34" charset="0"/>
                <a:ea typeface="Arial" pitchFamily="34" charset="-122"/>
                <a:cs typeface="Arial" pitchFamily="34" charset="-120"/>
              </a:rPr>
              <a:t>Existing inverse design requires hand-built numerical constraint vectors, which excludes the experimental chemists who most need the tool.</a:t>
            </a:r>
            <a:endParaRPr lang="en-US" sz="1100" dirty="0"/>
          </a:p>
        </p:txBody>
      </p:sp>
      <p:sp>
        <p:nvSpPr>
          <p:cNvPr id="12" name="Shape 10"/>
          <p:cNvSpPr/>
          <p:nvPr/>
        </p:nvSpPr>
        <p:spPr>
          <a:xfrm>
            <a:off x="1216152" y="4572000"/>
            <a:ext cx="548640" cy="27432"/>
          </a:xfrm>
          <a:prstGeom prst="rect">
            <a:avLst/>
          </a:prstGeom>
          <a:solidFill>
            <a:srgbClr val="156B33"/>
          </a:solidFill>
          <a:ln w="12700">
            <a:solidFill>
              <a:srgbClr val="333333"/>
            </a:solidFill>
            <a:prstDash val="solid"/>
          </a:ln>
        </p:spPr>
        <p:txBody>
          <a:bodyPr/>
          <a:p/>
        </p:txBody>
      </p:sp>
      <p:sp>
        <p:nvSpPr>
          <p:cNvPr id="13" name="Text 11"/>
          <p:cNvSpPr/>
          <p:nvPr/>
        </p:nvSpPr>
        <p:spPr>
          <a:xfrm>
            <a:off x="1216152" y="4690872"/>
            <a:ext cx="2697480" cy="731520"/>
          </a:xfrm>
          <a:prstGeom prst="rect">
            <a:avLst/>
          </a:prstGeom>
          <a:noFill/>
          <a:ln/>
        </p:spPr>
        <p:txBody>
          <a:bodyPr wrap="square" lIns="0" tIns="0" rIns="0" bIns="0" rtlCol="0" anchor="ctr"/>
          <a:lstStyle/>
          <a:p>
            <a:pPr marL="0" indent="0">
              <a:lnSpc>
                <a:spcPts val="1450"/>
              </a:lnSpc>
              <a:buNone/>
            </a:pPr>
            <a:r>
              <a:rPr lang="en-US" sz="1100" b="1" i="1" dirty="0">
                <a:solidFill>
                  <a:srgbClr val="156B33"/>
                </a:solidFill>
                <a:latin typeface="Arial" pitchFamily="34" charset="0"/>
                <a:ea typeface="Arial" pitchFamily="34" charset="-122"/>
                <a:cs typeface="Arial" pitchFamily="34" charset="-120"/>
              </a:rPr>
              <a:t>Batra et al. optimise in latent space, but targets must still be specified numerically.</a:t>
            </a:r>
            <a:endParaRPr lang="en-US" sz="1100" dirty="0"/>
          </a:p>
        </p:txBody>
      </p:sp>
      <p:sp>
        <p:nvSpPr>
          <p:cNvPr id="14" name="Shape 12"/>
          <p:cNvSpPr/>
          <p:nvPr/>
        </p:nvSpPr>
        <p:spPr>
          <a:xfrm>
            <a:off x="4416552" y="1783080"/>
            <a:ext cx="3236976" cy="3749040"/>
          </a:xfrm>
          <a:prstGeom prst="roundRect">
            <a:avLst>
              <a:gd name="adj" fmla="val 2260"/>
            </a:avLst>
          </a:prstGeom>
          <a:solidFill>
            <a:srgbClr val="FBEEDA"/>
          </a:solidFill>
          <a:ln w="12700">
            <a:solidFill>
              <a:srgbClr val="333333"/>
            </a:solidFill>
            <a:prstDash val="solid"/>
          </a:ln>
        </p:spPr>
        <p:txBody>
          <a:bodyPr/>
          <a:p/>
        </p:txBody>
      </p:sp>
      <p:sp>
        <p:nvSpPr>
          <p:cNvPr id="15" name="Shape 13"/>
          <p:cNvSpPr/>
          <p:nvPr/>
        </p:nvSpPr>
        <p:spPr>
          <a:xfrm>
            <a:off x="4672584" y="1993392"/>
            <a:ext cx="1600200" cy="274320"/>
          </a:xfrm>
          <a:prstGeom prst="roundRect">
            <a:avLst>
              <a:gd name="adj" fmla="val 50000"/>
            </a:avLst>
          </a:prstGeom>
          <a:solidFill>
            <a:srgbClr val="FFFFFF"/>
          </a:solidFill>
          <a:ln w="12700">
            <a:solidFill>
              <a:srgbClr val="333333"/>
            </a:solidFill>
            <a:prstDash val="solid"/>
          </a:ln>
        </p:spPr>
        <p:txBody>
          <a:bodyPr/>
          <a:p/>
        </p:txBody>
      </p:sp>
      <p:sp>
        <p:nvSpPr>
          <p:cNvPr id="16" name="Text 14"/>
          <p:cNvSpPr/>
          <p:nvPr/>
        </p:nvSpPr>
        <p:spPr>
          <a:xfrm>
            <a:off x="4672584" y="1993392"/>
            <a:ext cx="1600200" cy="274320"/>
          </a:xfrm>
          <a:prstGeom prst="rect">
            <a:avLst/>
          </a:prstGeom>
          <a:noFill/>
          <a:ln/>
        </p:spPr>
        <p:txBody>
          <a:bodyPr wrap="square" lIns="0" tIns="0" rIns="0" bIns="0" rtlCol="0" anchor="ctr"/>
          <a:lstStyle/>
          <a:p>
            <a:pPr marL="0" indent="0" algn="ctr">
              <a:buNone/>
            </a:pPr>
            <a:r>
              <a:rPr lang="en-US" sz="950" b="1" dirty="0">
                <a:solidFill>
                  <a:srgbClr val="9C5A0B"/>
                </a:solidFill>
                <a:latin typeface="Arial" pitchFamily="34" charset="0"/>
                <a:ea typeface="Arial" pitchFamily="34" charset="-122"/>
                <a:cs typeface="Arial" pitchFamily="34" charset="-120"/>
              </a:rPr>
              <a:t>OUR FINDING</a:t>
            </a:r>
            <a:endParaRPr lang="en-US" sz="950" dirty="0"/>
          </a:p>
        </p:txBody>
      </p:sp>
      <p:sp>
        <p:nvSpPr>
          <p:cNvPr id="17" name="Text 15"/>
          <p:cNvSpPr/>
          <p:nvPr/>
        </p:nvSpPr>
        <p:spPr>
          <a:xfrm>
            <a:off x="4672584" y="2395728"/>
            <a:ext cx="2651760" cy="256032"/>
          </a:xfrm>
          <a:prstGeom prst="rect">
            <a:avLst/>
          </a:prstGeom>
          <a:noFill/>
          <a:ln/>
        </p:spPr>
        <p:txBody>
          <a:bodyPr wrap="square" lIns="0" tIns="0" rIns="0" bIns="0" rtlCol="0" anchor="ctr"/>
          <a:lstStyle/>
          <a:p>
            <a:pPr marL="0" indent="0">
              <a:buNone/>
            </a:pPr>
            <a:r>
              <a:rPr lang="en-US" sz="1050" b="1" dirty="0">
                <a:solidFill>
                  <a:srgbClr val="5C5C5C"/>
                </a:solidFill>
                <a:latin typeface="Arial" pitchFamily="34" charset="0"/>
                <a:ea typeface="Arial" pitchFamily="34" charset="-122"/>
                <a:cs typeface="Arial" pitchFamily="34" charset="-120"/>
              </a:rPr>
              <a:t>Gap 2</a:t>
            </a:r>
            <a:endParaRPr lang="en-US" sz="1050" dirty="0"/>
          </a:p>
        </p:txBody>
      </p:sp>
      <p:sp>
        <p:nvSpPr>
          <p:cNvPr id="18" name="Text 16"/>
          <p:cNvSpPr/>
          <p:nvPr/>
        </p:nvSpPr>
        <p:spPr>
          <a:xfrm>
            <a:off x="4672584" y="2651760"/>
            <a:ext cx="2697480" cy="640080"/>
          </a:xfrm>
          <a:prstGeom prst="rect">
            <a:avLst/>
          </a:prstGeom>
          <a:noFill/>
          <a:ln/>
        </p:spPr>
        <p:txBody>
          <a:bodyPr wrap="square" lIns="0" tIns="0" rIns="0" bIns="0" rtlCol="0" anchor="ctr"/>
          <a:lstStyle/>
          <a:p>
            <a:pPr marL="0" indent="0">
              <a:lnSpc>
                <a:spcPts val="1800"/>
              </a:lnSpc>
              <a:buNone/>
            </a:pPr>
            <a:r>
              <a:rPr lang="en-US" sz="1400" b="1" dirty="0">
                <a:solidFill>
                  <a:srgbClr val="111111"/>
                </a:solidFill>
                <a:latin typeface="Arial" pitchFamily="34" charset="0"/>
                <a:ea typeface="Arial" pitchFamily="34" charset="-122"/>
                <a:cs typeface="Arial" pitchFamily="34" charset="-120"/>
              </a:rPr>
              <a:t>Labels are scarce AND disjoint</a:t>
            </a:r>
            <a:endParaRPr lang="en-US" sz="1400" dirty="0"/>
          </a:p>
        </p:txBody>
      </p:sp>
      <p:sp>
        <p:nvSpPr>
          <p:cNvPr id="19" name="Text 17"/>
          <p:cNvSpPr/>
          <p:nvPr/>
        </p:nvSpPr>
        <p:spPr>
          <a:xfrm>
            <a:off x="4672584" y="3364992"/>
            <a:ext cx="2697480" cy="1143000"/>
          </a:xfrm>
          <a:prstGeom prst="rect">
            <a:avLst/>
          </a:prstGeom>
          <a:noFill/>
          <a:ln/>
        </p:spPr>
        <p:txBody>
          <a:bodyPr wrap="square" lIns="0" tIns="0" rIns="0" bIns="0" rtlCol="0" anchor="ctr"/>
          <a:lstStyle/>
          <a:p>
            <a:pPr marL="0" indent="0">
              <a:lnSpc>
                <a:spcPts val="1500"/>
              </a:lnSpc>
              <a:buNone/>
            </a:pPr>
            <a:r>
              <a:rPr lang="en-US" sz="1100" dirty="0">
                <a:solidFill>
                  <a:srgbClr val="2E2E2E"/>
                </a:solidFill>
                <a:latin typeface="Arial" pitchFamily="34" charset="0"/>
                <a:ea typeface="Arial" pitchFamily="34" charset="-122"/>
                <a:cs typeface="Arial" pitchFamily="34" charset="-120"/>
              </a:rPr>
              <a:t>The literature treats sparse labels as a volume problem. The harder issue is that different properties are measured on almost entirely different molecules.</a:t>
            </a:r>
            <a:endParaRPr lang="en-US" sz="1100" dirty="0"/>
          </a:p>
        </p:txBody>
      </p:sp>
      <p:sp>
        <p:nvSpPr>
          <p:cNvPr id="20" name="Shape 18"/>
          <p:cNvSpPr/>
          <p:nvPr/>
        </p:nvSpPr>
        <p:spPr>
          <a:xfrm>
            <a:off x="4672584" y="4572000"/>
            <a:ext cx="548640" cy="27432"/>
          </a:xfrm>
          <a:prstGeom prst="rect">
            <a:avLst/>
          </a:prstGeom>
          <a:solidFill>
            <a:srgbClr val="9C5A0B"/>
          </a:solidFill>
          <a:ln w="12700">
            <a:solidFill>
              <a:srgbClr val="333333"/>
            </a:solidFill>
            <a:prstDash val="solid"/>
          </a:ln>
        </p:spPr>
        <p:txBody>
          <a:bodyPr/>
          <a:p/>
        </p:txBody>
      </p:sp>
      <p:sp>
        <p:nvSpPr>
          <p:cNvPr id="21" name="Text 19"/>
          <p:cNvSpPr/>
          <p:nvPr/>
        </p:nvSpPr>
        <p:spPr>
          <a:xfrm>
            <a:off x="4672584" y="4690872"/>
            <a:ext cx="2697480" cy="731520"/>
          </a:xfrm>
          <a:prstGeom prst="rect">
            <a:avLst/>
          </a:prstGeom>
          <a:noFill/>
          <a:ln/>
        </p:spPr>
        <p:txBody>
          <a:bodyPr wrap="square" lIns="0" tIns="0" rIns="0" bIns="0" rtlCol="0" anchor="ctr"/>
          <a:lstStyle/>
          <a:p>
            <a:pPr marL="0" indent="0">
              <a:lnSpc>
                <a:spcPts val="1450"/>
              </a:lnSpc>
              <a:buNone/>
            </a:pPr>
            <a:r>
              <a:rPr lang="en-US" sz="1100" b="1" i="1" dirty="0">
                <a:solidFill>
                  <a:srgbClr val="9C5A0B"/>
                </a:solidFill>
                <a:latin typeface="Arial" pitchFamily="34" charset="0"/>
                <a:ea typeface="Arial" pitchFamily="34" charset="-122"/>
                <a:cs typeface="Arial" pitchFamily="34" charset="-120"/>
              </a:rPr>
              <a:t>In this dataset exactly ONE molecule has both a measured Tg and a measured FFV.</a:t>
            </a:r>
            <a:endParaRPr lang="en-US" sz="1100" dirty="0"/>
          </a:p>
        </p:txBody>
      </p:sp>
      <p:sp>
        <p:nvSpPr>
          <p:cNvPr id="22" name="Shape 20"/>
          <p:cNvSpPr/>
          <p:nvPr/>
        </p:nvSpPr>
        <p:spPr>
          <a:xfrm>
            <a:off x="7872984" y="1783080"/>
            <a:ext cx="3236976" cy="3749040"/>
          </a:xfrm>
          <a:prstGeom prst="roundRect">
            <a:avLst>
              <a:gd name="adj" fmla="val 2260"/>
            </a:avLst>
          </a:prstGeom>
          <a:solidFill>
            <a:srgbClr val="E3EDF8"/>
          </a:solidFill>
          <a:ln w="12700">
            <a:solidFill>
              <a:srgbClr val="333333"/>
            </a:solidFill>
            <a:prstDash val="solid"/>
          </a:ln>
        </p:spPr>
        <p:txBody>
          <a:bodyPr/>
          <a:p/>
        </p:txBody>
      </p:sp>
      <p:sp>
        <p:nvSpPr>
          <p:cNvPr id="23" name="Shape 21"/>
          <p:cNvSpPr/>
          <p:nvPr/>
        </p:nvSpPr>
        <p:spPr>
          <a:xfrm>
            <a:off x="8129016" y="1993392"/>
            <a:ext cx="1600200" cy="274320"/>
          </a:xfrm>
          <a:prstGeom prst="roundRect">
            <a:avLst>
              <a:gd name="adj" fmla="val 50000"/>
            </a:avLst>
          </a:prstGeom>
          <a:solidFill>
            <a:srgbClr val="FFFFFF"/>
          </a:solidFill>
          <a:ln w="12700">
            <a:solidFill>
              <a:srgbClr val="333333"/>
            </a:solidFill>
            <a:prstDash val="solid"/>
          </a:ln>
        </p:spPr>
        <p:txBody>
          <a:bodyPr/>
          <a:p/>
        </p:txBody>
      </p:sp>
      <p:sp>
        <p:nvSpPr>
          <p:cNvPr id="24" name="Text 22"/>
          <p:cNvSpPr/>
          <p:nvPr/>
        </p:nvSpPr>
        <p:spPr>
          <a:xfrm>
            <a:off x="8129016" y="1993392"/>
            <a:ext cx="1600200" cy="274320"/>
          </a:xfrm>
          <a:prstGeom prst="rect">
            <a:avLst/>
          </a:prstGeom>
          <a:noFill/>
          <a:ln/>
        </p:spPr>
        <p:txBody>
          <a:bodyPr wrap="square" lIns="0" tIns="0" rIns="0" bIns="0" rtlCol="0" anchor="ctr"/>
          <a:lstStyle/>
          <a:p>
            <a:pPr marL="0" indent="0" algn="ctr">
              <a:buNone/>
            </a:pPr>
            <a:r>
              <a:rPr lang="en-US" sz="950" b="1" dirty="0">
                <a:solidFill>
                  <a:srgbClr val="1B4F8A"/>
                </a:solidFill>
                <a:latin typeface="Arial" pitchFamily="34" charset="0"/>
                <a:ea typeface="Arial" pitchFamily="34" charset="-122"/>
                <a:cs typeface="Arial" pitchFamily="34" charset="-120"/>
              </a:rPr>
              <a:t>METHODOLOGICAL</a:t>
            </a:r>
            <a:endParaRPr lang="en-US" sz="950" dirty="0"/>
          </a:p>
        </p:txBody>
      </p:sp>
      <p:sp>
        <p:nvSpPr>
          <p:cNvPr id="25" name="Text 23"/>
          <p:cNvSpPr/>
          <p:nvPr/>
        </p:nvSpPr>
        <p:spPr>
          <a:xfrm>
            <a:off x="8129016" y="2395728"/>
            <a:ext cx="2651760" cy="256032"/>
          </a:xfrm>
          <a:prstGeom prst="rect">
            <a:avLst/>
          </a:prstGeom>
          <a:noFill/>
          <a:ln/>
        </p:spPr>
        <p:txBody>
          <a:bodyPr wrap="square" lIns="0" tIns="0" rIns="0" bIns="0" rtlCol="0" anchor="ctr"/>
          <a:lstStyle/>
          <a:p>
            <a:pPr marL="0" indent="0">
              <a:buNone/>
            </a:pPr>
            <a:r>
              <a:rPr lang="en-US" sz="1050" b="1" dirty="0">
                <a:solidFill>
                  <a:srgbClr val="5C5C5C"/>
                </a:solidFill>
                <a:latin typeface="Arial" pitchFamily="34" charset="0"/>
                <a:ea typeface="Arial" pitchFamily="34" charset="-122"/>
                <a:cs typeface="Arial" pitchFamily="34" charset="-120"/>
              </a:rPr>
              <a:t>Gap 3</a:t>
            </a:r>
            <a:endParaRPr lang="en-US" sz="1050" dirty="0"/>
          </a:p>
        </p:txBody>
      </p:sp>
      <p:sp>
        <p:nvSpPr>
          <p:cNvPr id="26" name="Text 24"/>
          <p:cNvSpPr/>
          <p:nvPr/>
        </p:nvSpPr>
        <p:spPr>
          <a:xfrm>
            <a:off x="8129016" y="2651760"/>
            <a:ext cx="2697480" cy="640080"/>
          </a:xfrm>
          <a:prstGeom prst="rect">
            <a:avLst/>
          </a:prstGeom>
          <a:noFill/>
          <a:ln/>
        </p:spPr>
        <p:txBody>
          <a:bodyPr wrap="square" lIns="0" tIns="0" rIns="0" bIns="0" rtlCol="0" anchor="ctr"/>
          <a:lstStyle/>
          <a:p>
            <a:pPr marL="0" indent="0">
              <a:lnSpc>
                <a:spcPts val="1800"/>
              </a:lnSpc>
              <a:buNone/>
            </a:pPr>
            <a:r>
              <a:rPr lang="en-US" sz="1400" b="1" dirty="0">
                <a:solidFill>
                  <a:srgbClr val="111111"/>
                </a:solidFill>
                <a:latin typeface="Arial" pitchFamily="34" charset="0"/>
                <a:ea typeface="Arial" pitchFamily="34" charset="-122"/>
                <a:cs typeface="Arial" pitchFamily="34" charset="-120"/>
              </a:rPr>
              <a:t>Validation without calibrated uncertainty</a:t>
            </a:r>
            <a:endParaRPr lang="en-US" sz="1400" dirty="0"/>
          </a:p>
        </p:txBody>
      </p:sp>
      <p:sp>
        <p:nvSpPr>
          <p:cNvPr id="27" name="Text 25"/>
          <p:cNvSpPr/>
          <p:nvPr/>
        </p:nvSpPr>
        <p:spPr>
          <a:xfrm>
            <a:off x="8129016" y="3364992"/>
            <a:ext cx="2697480" cy="1143000"/>
          </a:xfrm>
          <a:prstGeom prst="rect">
            <a:avLst/>
          </a:prstGeom>
          <a:noFill/>
          <a:ln/>
        </p:spPr>
        <p:txBody>
          <a:bodyPr wrap="square" lIns="0" tIns="0" rIns="0" bIns="0" rtlCol="0" anchor="ctr"/>
          <a:lstStyle/>
          <a:p>
            <a:pPr marL="0" indent="0">
              <a:lnSpc>
                <a:spcPts val="1500"/>
              </a:lnSpc>
              <a:buNone/>
            </a:pPr>
            <a:r>
              <a:rPr lang="en-US" sz="1100" dirty="0">
                <a:solidFill>
                  <a:srgbClr val="2E2E2E"/>
                </a:solidFill>
                <a:latin typeface="Arial" pitchFamily="34" charset="0"/>
                <a:ea typeface="Arial" pitchFamily="34" charset="-122"/>
                <a:cs typeface="Arial" pitchFamily="34" charset="-120"/>
              </a:rPr>
              <a:t>Generative chemistry commonly reports validity, uniqueness and novelty, but rarely reports how wrong the property predictor itself is.</a:t>
            </a:r>
            <a:endParaRPr lang="en-US" sz="1100" dirty="0"/>
          </a:p>
        </p:txBody>
      </p:sp>
      <p:sp>
        <p:nvSpPr>
          <p:cNvPr id="28" name="Shape 26"/>
          <p:cNvSpPr/>
          <p:nvPr/>
        </p:nvSpPr>
        <p:spPr>
          <a:xfrm>
            <a:off x="8129016" y="4572000"/>
            <a:ext cx="548640" cy="27432"/>
          </a:xfrm>
          <a:prstGeom prst="rect">
            <a:avLst/>
          </a:prstGeom>
          <a:solidFill>
            <a:srgbClr val="1B4F8A"/>
          </a:solidFill>
          <a:ln w="12700">
            <a:solidFill>
              <a:srgbClr val="333333"/>
            </a:solidFill>
            <a:prstDash val="solid"/>
          </a:ln>
        </p:spPr>
        <p:txBody>
          <a:bodyPr/>
          <a:p/>
        </p:txBody>
      </p:sp>
      <p:sp>
        <p:nvSpPr>
          <p:cNvPr id="29" name="Text 27"/>
          <p:cNvSpPr/>
          <p:nvPr/>
        </p:nvSpPr>
        <p:spPr>
          <a:xfrm>
            <a:off x="8129016" y="4690872"/>
            <a:ext cx="2697480" cy="731520"/>
          </a:xfrm>
          <a:prstGeom prst="rect">
            <a:avLst/>
          </a:prstGeom>
          <a:noFill/>
          <a:ln/>
        </p:spPr>
        <p:txBody>
          <a:bodyPr wrap="square" lIns="0" tIns="0" rIns="0" bIns="0" rtlCol="0" anchor="ctr"/>
          <a:lstStyle/>
          <a:p>
            <a:pPr marL="0" indent="0">
              <a:lnSpc>
                <a:spcPts val="1450"/>
              </a:lnSpc>
              <a:buNone/>
            </a:pPr>
            <a:r>
              <a:rPr lang="en-US" sz="1100" b="1" i="1" dirty="0">
                <a:solidFill>
                  <a:srgbClr val="1B4F8A"/>
                </a:solidFill>
                <a:latin typeface="Arial" pitchFamily="34" charset="0"/>
                <a:ea typeface="Arial" pitchFamily="34" charset="-122"/>
                <a:cs typeface="Arial" pitchFamily="34" charset="-120"/>
              </a:rPr>
              <a:t>A generator can never be more accurate than the Oracle that scores it.</a:t>
            </a:r>
            <a:endParaRPr lang="en-US" sz="1100" dirty="0"/>
          </a:p>
        </p:txBody>
      </p:sp>
      <p:sp>
        <p:nvSpPr>
          <p:cNvPr id="31" name="Text 29"/>
          <p:cNvSpPr/>
          <p:nvPr/>
        </p:nvSpPr>
        <p:spPr>
          <a:xfrm>
            <a:off x="960120" y="5669280"/>
            <a:ext cx="10241280" cy="658368"/>
          </a:xfrm>
          <a:prstGeom prst="rect">
            <a:avLst/>
          </a:prstGeom>
          <a:noFill/>
          <a:ln/>
        </p:spPr>
        <p:txBody>
          <a:bodyPr wrap="square" lIns="0" tIns="0" rIns="0" bIns="0" rtlCol="0" anchor="ctr"/>
          <a:lstStyle/>
          <a:p>
            <a:pPr marL="0" indent="0" algn="ctr">
              <a:buNone/>
            </a:pP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5  ·  PROJECT OBJECTIVES</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What Does the System Need to Do?</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7</a:t>
            </a:r>
            <a:endParaRPr lang="en-US" sz="1000" dirty="0"/>
          </a:p>
        </p:txBody>
      </p:sp>
      <p:sp>
        <p:nvSpPr>
          <p:cNvPr id="6" name="Shape 4"/>
          <p:cNvSpPr/>
          <p:nvPr/>
        </p:nvSpPr>
        <p:spPr>
          <a:xfrm>
            <a:off x="960120" y="1783080"/>
            <a:ext cx="10241280" cy="731520"/>
          </a:xfrm>
          <a:prstGeom prst="roundRect">
            <a:avLst>
              <a:gd name="adj" fmla="val 10000"/>
            </a:avLst>
          </a:prstGeom>
          <a:solidFill>
            <a:srgbClr val="ECECEC"/>
          </a:solidFill>
          <a:ln w="12700">
            <a:solidFill>
              <a:srgbClr val="333333"/>
            </a:solidFill>
            <a:prstDash val="solid"/>
          </a:ln>
        </p:spPr>
        <p:txBody>
          <a:bodyPr/>
          <a:p/>
        </p:txBody>
      </p:sp>
      <p:sp>
        <p:nvSpPr>
          <p:cNvPr id="7" name="Shape 5"/>
          <p:cNvSpPr/>
          <p:nvPr/>
        </p:nvSpPr>
        <p:spPr>
          <a:xfrm>
            <a:off x="1188720" y="1965960"/>
            <a:ext cx="365760" cy="365760"/>
          </a:xfrm>
          <a:prstGeom prst="ellipse">
            <a:avLst/>
          </a:prstGeom>
          <a:solidFill>
            <a:srgbClr val="111111"/>
          </a:solidFill>
          <a:ln w="12700">
            <a:solidFill>
              <a:srgbClr val="333333"/>
            </a:solidFill>
            <a:prstDash val="solid"/>
          </a:ln>
        </p:spPr>
        <p:txBody>
          <a:bodyPr/>
          <a:p/>
        </p:txBody>
      </p:sp>
      <p:sp>
        <p:nvSpPr>
          <p:cNvPr id="8" name="Text 6"/>
          <p:cNvSpPr/>
          <p:nvPr/>
        </p:nvSpPr>
        <p:spPr>
          <a:xfrm>
            <a:off x="1188720" y="19659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Text 7"/>
          <p:cNvSpPr/>
          <p:nvPr/>
        </p:nvSpPr>
        <p:spPr>
          <a:xfrm>
            <a:off x="1737360" y="1783080"/>
            <a:ext cx="2103120" cy="731520"/>
          </a:xfrm>
          <a:prstGeom prst="rect">
            <a:avLst/>
          </a:prstGeom>
          <a:noFill/>
          <a:ln/>
        </p:spPr>
        <p:txBody>
          <a:bodyPr wrap="square" lIns="0" tIns="0" rIns="0" bIns="0" rtlCol="0" anchor="ctr"/>
          <a:lstStyle/>
          <a:p>
            <a:pPr marL="0" indent="0">
              <a:buNone/>
            </a:pPr>
            <a:r>
              <a:rPr lang="en-US" sz="1400" b="1" dirty="0">
                <a:solidFill>
                  <a:srgbClr val="111111"/>
                </a:solidFill>
                <a:latin typeface="Arial" pitchFamily="34" charset="0"/>
                <a:ea typeface="Arial" pitchFamily="34" charset="-122"/>
                <a:cs typeface="Arial" pitchFamily="34" charset="-120"/>
              </a:rPr>
              <a:t>PARSE</a:t>
            </a:r>
            <a:endParaRPr lang="en-US" sz="1400" dirty="0"/>
          </a:p>
        </p:txBody>
      </p:sp>
      <p:sp>
        <p:nvSpPr>
          <p:cNvPr id="10" name="Text 8"/>
          <p:cNvSpPr/>
          <p:nvPr/>
        </p:nvSpPr>
        <p:spPr>
          <a:xfrm>
            <a:off x="3886200" y="1783080"/>
            <a:ext cx="5852160" cy="731520"/>
          </a:xfrm>
          <a:prstGeom prst="rect">
            <a:avLst/>
          </a:prstGeom>
          <a:noFill/>
          <a:ln/>
        </p:spPr>
        <p:txBody>
          <a:bodyPr wrap="square" lIns="0" tIns="0" rIns="0" bIns="0" rtlCol="0" anchor="ctr"/>
          <a:lstStyle/>
          <a:p>
            <a:pPr marL="0" indent="0">
              <a:buNone/>
            </a:pPr>
            <a:r>
              <a:rPr lang="en-US" sz="1250" dirty="0">
                <a:solidFill>
                  <a:srgbClr val="2E2E2E"/>
                </a:solidFill>
                <a:latin typeface="Arial" pitchFamily="34" charset="0"/>
                <a:ea typeface="Arial" pitchFamily="34" charset="-122"/>
                <a:cs typeface="Arial" pitchFamily="34" charset="-120"/>
              </a:rPr>
              <a:t>Convert free text into validated numerical property targets using literature retrieval</a:t>
            </a:r>
            <a:endParaRPr lang="en-US" sz="1250" dirty="0"/>
          </a:p>
        </p:txBody>
      </p:sp>
      <p:sp>
        <p:nvSpPr>
          <p:cNvPr id="11" name="Shape 9"/>
          <p:cNvSpPr/>
          <p:nvPr/>
        </p:nvSpPr>
        <p:spPr>
          <a:xfrm>
            <a:off x="9829800" y="2011680"/>
            <a:ext cx="1234440" cy="274320"/>
          </a:xfrm>
          <a:prstGeom prst="roundRect">
            <a:avLst>
              <a:gd name="adj" fmla="val 50000"/>
            </a:avLst>
          </a:prstGeom>
          <a:solidFill>
            <a:srgbClr val="FFFFFF"/>
          </a:solidFill>
          <a:ln w="12700">
            <a:solidFill>
              <a:srgbClr val="333333"/>
            </a:solidFill>
            <a:prstDash val="solid"/>
          </a:ln>
        </p:spPr>
        <p:txBody>
          <a:bodyPr/>
          <a:p/>
        </p:txBody>
      </p:sp>
      <p:sp>
        <p:nvSpPr>
          <p:cNvPr id="12" name="Text 10"/>
          <p:cNvSpPr/>
          <p:nvPr/>
        </p:nvSpPr>
        <p:spPr>
          <a:xfrm>
            <a:off x="9829800" y="2011680"/>
            <a:ext cx="1234440" cy="274320"/>
          </a:xfrm>
          <a:prstGeom prst="rect">
            <a:avLst/>
          </a:prstGeom>
          <a:noFill/>
          <a:ln/>
        </p:spPr>
        <p:txBody>
          <a:bodyPr wrap="square" lIns="0" tIns="0" rIns="0" bIns="0" rtlCol="0" anchor="ctr"/>
          <a:lstStyle/>
          <a:p>
            <a:pPr marL="0" indent="0" algn="ctr">
              <a:buNone/>
            </a:pPr>
            <a:r>
              <a:rPr lang="en-US" sz="950" b="1" dirty="0">
                <a:solidFill>
                  <a:srgbClr val="5C5C5C"/>
                </a:solidFill>
                <a:latin typeface="Arial" pitchFamily="34" charset="0"/>
                <a:ea typeface="Arial" pitchFamily="34" charset="-122"/>
                <a:cs typeface="Arial" pitchFamily="34" charset="-120"/>
              </a:rPr>
              <a:t>Tier 1</a:t>
            </a:r>
            <a:endParaRPr lang="en-US" sz="950" dirty="0"/>
          </a:p>
        </p:txBody>
      </p:sp>
      <p:sp>
        <p:nvSpPr>
          <p:cNvPr id="13" name="Shape 11"/>
          <p:cNvSpPr/>
          <p:nvPr/>
        </p:nvSpPr>
        <p:spPr>
          <a:xfrm>
            <a:off x="960120" y="2633472"/>
            <a:ext cx="10241280" cy="731520"/>
          </a:xfrm>
          <a:prstGeom prst="roundRect">
            <a:avLst>
              <a:gd name="adj" fmla="val 10000"/>
            </a:avLst>
          </a:prstGeom>
          <a:solidFill>
            <a:srgbClr val="FFFFFF"/>
          </a:solidFill>
          <a:ln w="12700">
            <a:solidFill>
              <a:srgbClr val="333333"/>
            </a:solidFill>
            <a:prstDash val="solid"/>
          </a:ln>
        </p:spPr>
        <p:txBody>
          <a:bodyPr/>
          <a:p/>
        </p:txBody>
      </p:sp>
      <p:sp>
        <p:nvSpPr>
          <p:cNvPr id="14" name="Shape 12"/>
          <p:cNvSpPr/>
          <p:nvPr/>
        </p:nvSpPr>
        <p:spPr>
          <a:xfrm>
            <a:off x="960120" y="3355848"/>
            <a:ext cx="10241280" cy="10973"/>
          </a:xfrm>
          <a:prstGeom prst="rect">
            <a:avLst/>
          </a:prstGeom>
          <a:solidFill>
            <a:srgbClr val="D5D5D5"/>
          </a:solidFill>
          <a:ln w="12700">
            <a:solidFill>
              <a:srgbClr val="333333"/>
            </a:solidFill>
            <a:prstDash val="solid"/>
          </a:ln>
        </p:spPr>
        <p:txBody>
          <a:bodyPr/>
          <a:p/>
        </p:txBody>
      </p:sp>
      <p:sp>
        <p:nvSpPr>
          <p:cNvPr id="15" name="Shape 13"/>
          <p:cNvSpPr/>
          <p:nvPr/>
        </p:nvSpPr>
        <p:spPr>
          <a:xfrm>
            <a:off x="1188720" y="2816352"/>
            <a:ext cx="365760" cy="365760"/>
          </a:xfrm>
          <a:prstGeom prst="ellipse">
            <a:avLst/>
          </a:prstGeom>
          <a:solidFill>
            <a:srgbClr val="111111"/>
          </a:solidFill>
          <a:ln w="12700">
            <a:solidFill>
              <a:srgbClr val="333333"/>
            </a:solidFill>
            <a:prstDash val="solid"/>
          </a:ln>
        </p:spPr>
        <p:txBody>
          <a:bodyPr/>
          <a:p/>
        </p:txBody>
      </p:sp>
      <p:sp>
        <p:nvSpPr>
          <p:cNvPr id="16" name="Text 14"/>
          <p:cNvSpPr/>
          <p:nvPr/>
        </p:nvSpPr>
        <p:spPr>
          <a:xfrm>
            <a:off x="1188720" y="281635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7" name="Text 15"/>
          <p:cNvSpPr/>
          <p:nvPr/>
        </p:nvSpPr>
        <p:spPr>
          <a:xfrm>
            <a:off x="1737360" y="2633472"/>
            <a:ext cx="2103120" cy="731520"/>
          </a:xfrm>
          <a:prstGeom prst="rect">
            <a:avLst/>
          </a:prstGeom>
          <a:noFill/>
          <a:ln/>
        </p:spPr>
        <p:txBody>
          <a:bodyPr wrap="square" lIns="0" tIns="0" rIns="0" bIns="0" rtlCol="0" anchor="ctr"/>
          <a:lstStyle/>
          <a:p>
            <a:pPr marL="0" indent="0">
              <a:buNone/>
            </a:pPr>
            <a:r>
              <a:rPr lang="en-US" sz="1400" b="1" dirty="0">
                <a:solidFill>
                  <a:srgbClr val="111111"/>
                </a:solidFill>
                <a:latin typeface="Arial" pitchFamily="34" charset="0"/>
                <a:ea typeface="Arial" pitchFamily="34" charset="-122"/>
                <a:cs typeface="Arial" pitchFamily="34" charset="-120"/>
              </a:rPr>
              <a:t>GENERATE</a:t>
            </a:r>
            <a:endParaRPr lang="en-US" sz="1400" dirty="0"/>
          </a:p>
        </p:txBody>
      </p:sp>
      <p:sp>
        <p:nvSpPr>
          <p:cNvPr id="18" name="Text 16"/>
          <p:cNvSpPr/>
          <p:nvPr/>
        </p:nvSpPr>
        <p:spPr>
          <a:xfrm>
            <a:off x="3886200" y="2633472"/>
            <a:ext cx="5852160" cy="731520"/>
          </a:xfrm>
          <a:prstGeom prst="rect">
            <a:avLst/>
          </a:prstGeom>
          <a:noFill/>
          <a:ln/>
        </p:spPr>
        <p:txBody>
          <a:bodyPr wrap="square" lIns="0" tIns="0" rIns="0" bIns="0" rtlCol="0" anchor="ctr"/>
          <a:lstStyle/>
          <a:p>
            <a:pPr marL="0" indent="0">
              <a:buNone/>
            </a:pPr>
            <a:r>
              <a:rPr lang="en-US" sz="1250" dirty="0">
                <a:solidFill>
                  <a:srgbClr val="2E2E2E"/>
                </a:solidFill>
                <a:latin typeface="Arial" pitchFamily="34" charset="0"/>
                <a:ea typeface="Arial" pitchFamily="34" charset="-122"/>
                <a:cs typeface="Arial" pitchFamily="34" charset="-120"/>
              </a:rPr>
              <a:t>Produce novel polymer repeat units as SELFIES using a conditional VAE</a:t>
            </a:r>
            <a:endParaRPr lang="en-US" sz="1250" dirty="0"/>
          </a:p>
        </p:txBody>
      </p:sp>
      <p:sp>
        <p:nvSpPr>
          <p:cNvPr id="19" name="Shape 17"/>
          <p:cNvSpPr/>
          <p:nvPr/>
        </p:nvSpPr>
        <p:spPr>
          <a:xfrm>
            <a:off x="9829800" y="2862072"/>
            <a:ext cx="1234440" cy="274320"/>
          </a:xfrm>
          <a:prstGeom prst="roundRect">
            <a:avLst>
              <a:gd name="adj" fmla="val 50000"/>
            </a:avLst>
          </a:prstGeom>
          <a:solidFill>
            <a:srgbClr val="FFFFFF"/>
          </a:solidFill>
          <a:ln w="12700">
            <a:solidFill>
              <a:srgbClr val="333333"/>
            </a:solidFill>
            <a:prstDash val="solid"/>
          </a:ln>
        </p:spPr>
        <p:txBody>
          <a:bodyPr/>
          <a:p/>
        </p:txBody>
      </p:sp>
      <p:sp>
        <p:nvSpPr>
          <p:cNvPr id="20" name="Text 18"/>
          <p:cNvSpPr/>
          <p:nvPr/>
        </p:nvSpPr>
        <p:spPr>
          <a:xfrm>
            <a:off x="9829800" y="2862072"/>
            <a:ext cx="1234440" cy="274320"/>
          </a:xfrm>
          <a:prstGeom prst="rect">
            <a:avLst/>
          </a:prstGeom>
          <a:noFill/>
          <a:ln/>
        </p:spPr>
        <p:txBody>
          <a:bodyPr wrap="square" lIns="0" tIns="0" rIns="0" bIns="0" rtlCol="0" anchor="ctr"/>
          <a:lstStyle/>
          <a:p>
            <a:pPr marL="0" indent="0" algn="ctr">
              <a:buNone/>
            </a:pPr>
            <a:r>
              <a:rPr lang="en-US" sz="950" b="1" dirty="0">
                <a:solidFill>
                  <a:srgbClr val="5C5C5C"/>
                </a:solidFill>
                <a:latin typeface="Arial" pitchFamily="34" charset="0"/>
                <a:ea typeface="Arial" pitchFamily="34" charset="-122"/>
                <a:cs typeface="Arial" pitchFamily="34" charset="-120"/>
              </a:rPr>
              <a:t>Tier 2</a:t>
            </a:r>
            <a:endParaRPr lang="en-US" sz="950" dirty="0"/>
          </a:p>
        </p:txBody>
      </p:sp>
      <p:sp>
        <p:nvSpPr>
          <p:cNvPr id="21" name="Shape 19"/>
          <p:cNvSpPr/>
          <p:nvPr/>
        </p:nvSpPr>
        <p:spPr>
          <a:xfrm>
            <a:off x="960120" y="3483864"/>
            <a:ext cx="10241280" cy="731520"/>
          </a:xfrm>
          <a:prstGeom prst="roundRect">
            <a:avLst>
              <a:gd name="adj" fmla="val 10000"/>
            </a:avLst>
          </a:prstGeom>
          <a:solidFill>
            <a:srgbClr val="ECECEC"/>
          </a:solidFill>
          <a:ln w="12700">
            <a:solidFill>
              <a:srgbClr val="333333"/>
            </a:solidFill>
            <a:prstDash val="solid"/>
          </a:ln>
        </p:spPr>
        <p:txBody>
          <a:bodyPr/>
          <a:p/>
        </p:txBody>
      </p:sp>
      <p:sp>
        <p:nvSpPr>
          <p:cNvPr id="22" name="Shape 20"/>
          <p:cNvSpPr/>
          <p:nvPr/>
        </p:nvSpPr>
        <p:spPr>
          <a:xfrm>
            <a:off x="1188720" y="3666744"/>
            <a:ext cx="365760" cy="365760"/>
          </a:xfrm>
          <a:prstGeom prst="ellipse">
            <a:avLst/>
          </a:prstGeom>
          <a:solidFill>
            <a:srgbClr val="111111"/>
          </a:solidFill>
          <a:ln w="12700">
            <a:solidFill>
              <a:srgbClr val="333333"/>
            </a:solidFill>
            <a:prstDash val="solid"/>
          </a:ln>
        </p:spPr>
        <p:txBody>
          <a:bodyPr/>
          <a:p/>
        </p:txBody>
      </p:sp>
      <p:sp>
        <p:nvSpPr>
          <p:cNvPr id="23" name="Text 21"/>
          <p:cNvSpPr/>
          <p:nvPr/>
        </p:nvSpPr>
        <p:spPr>
          <a:xfrm>
            <a:off x="1188720" y="366674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4" name="Text 22"/>
          <p:cNvSpPr/>
          <p:nvPr/>
        </p:nvSpPr>
        <p:spPr>
          <a:xfrm>
            <a:off x="1737360" y="3483864"/>
            <a:ext cx="2103120" cy="731520"/>
          </a:xfrm>
          <a:prstGeom prst="rect">
            <a:avLst/>
          </a:prstGeom>
          <a:noFill/>
          <a:ln/>
        </p:spPr>
        <p:txBody>
          <a:bodyPr wrap="square" lIns="0" tIns="0" rIns="0" bIns="0" rtlCol="0" anchor="ctr"/>
          <a:lstStyle/>
          <a:p>
            <a:pPr marL="0" indent="0">
              <a:buNone/>
            </a:pPr>
            <a:r>
              <a:rPr lang="en-US" sz="1400" b="1" dirty="0">
                <a:solidFill>
                  <a:srgbClr val="111111"/>
                </a:solidFill>
                <a:latin typeface="Arial" pitchFamily="34" charset="0"/>
                <a:ea typeface="Arial" pitchFamily="34" charset="-122"/>
                <a:cs typeface="Arial" pitchFamily="34" charset="-120"/>
              </a:rPr>
              <a:t>VALIDATE</a:t>
            </a:r>
            <a:endParaRPr lang="en-US" sz="1400" dirty="0"/>
          </a:p>
        </p:txBody>
      </p:sp>
      <p:sp>
        <p:nvSpPr>
          <p:cNvPr id="25" name="Text 23"/>
          <p:cNvSpPr/>
          <p:nvPr/>
        </p:nvSpPr>
        <p:spPr>
          <a:xfrm>
            <a:off x="3886200" y="3483864"/>
            <a:ext cx="5852160" cy="731520"/>
          </a:xfrm>
          <a:prstGeom prst="rect">
            <a:avLst/>
          </a:prstGeom>
          <a:noFill/>
          <a:ln/>
        </p:spPr>
        <p:txBody>
          <a:bodyPr wrap="square" lIns="0" tIns="0" rIns="0" bIns="0" rtlCol="0" anchor="ctr"/>
          <a:lstStyle/>
          <a:p>
            <a:pPr marL="0" indent="0">
              <a:buNone/>
            </a:pPr>
            <a:r>
              <a:rPr lang="en-US" sz="1250" dirty="0">
                <a:solidFill>
                  <a:srgbClr val="2E2E2E"/>
                </a:solidFill>
                <a:latin typeface="Arial" pitchFamily="34" charset="0"/>
                <a:ea typeface="Arial" pitchFamily="34" charset="-122"/>
                <a:cs typeface="Arial" pitchFamily="34" charset="-120"/>
              </a:rPr>
              <a:t>Score candidates and reject against the requested constraints</a:t>
            </a:r>
            <a:endParaRPr lang="en-US" sz="1250" dirty="0"/>
          </a:p>
        </p:txBody>
      </p:sp>
      <p:sp>
        <p:nvSpPr>
          <p:cNvPr id="26" name="Shape 24"/>
          <p:cNvSpPr/>
          <p:nvPr/>
        </p:nvSpPr>
        <p:spPr>
          <a:xfrm>
            <a:off x="9829800" y="3712464"/>
            <a:ext cx="1234440" cy="274320"/>
          </a:xfrm>
          <a:prstGeom prst="roundRect">
            <a:avLst>
              <a:gd name="adj" fmla="val 50000"/>
            </a:avLst>
          </a:prstGeom>
          <a:solidFill>
            <a:srgbClr val="FFFFFF"/>
          </a:solidFill>
          <a:ln w="12700">
            <a:solidFill>
              <a:srgbClr val="333333"/>
            </a:solidFill>
            <a:prstDash val="solid"/>
          </a:ln>
        </p:spPr>
        <p:txBody>
          <a:bodyPr/>
          <a:p/>
        </p:txBody>
      </p:sp>
      <p:sp>
        <p:nvSpPr>
          <p:cNvPr id="27" name="Text 25"/>
          <p:cNvSpPr/>
          <p:nvPr/>
        </p:nvSpPr>
        <p:spPr>
          <a:xfrm>
            <a:off x="9829800" y="3712464"/>
            <a:ext cx="1234440" cy="274320"/>
          </a:xfrm>
          <a:prstGeom prst="rect">
            <a:avLst/>
          </a:prstGeom>
          <a:noFill/>
          <a:ln/>
        </p:spPr>
        <p:txBody>
          <a:bodyPr wrap="square" lIns="0" tIns="0" rIns="0" bIns="0" rtlCol="0" anchor="ctr"/>
          <a:lstStyle/>
          <a:p>
            <a:pPr marL="0" indent="0" algn="ctr">
              <a:buNone/>
            </a:pPr>
            <a:r>
              <a:rPr lang="en-US" sz="950" b="1" dirty="0">
                <a:solidFill>
                  <a:srgbClr val="5C5C5C"/>
                </a:solidFill>
                <a:latin typeface="Arial" pitchFamily="34" charset="0"/>
                <a:ea typeface="Arial" pitchFamily="34" charset="-122"/>
                <a:cs typeface="Arial" pitchFamily="34" charset="-120"/>
              </a:rPr>
              <a:t>Tier 3</a:t>
            </a:r>
            <a:endParaRPr lang="en-US" sz="950" dirty="0"/>
          </a:p>
        </p:txBody>
      </p:sp>
      <p:sp>
        <p:nvSpPr>
          <p:cNvPr id="28" name="Shape 26"/>
          <p:cNvSpPr/>
          <p:nvPr/>
        </p:nvSpPr>
        <p:spPr>
          <a:xfrm>
            <a:off x="960120" y="4334256"/>
            <a:ext cx="10241280" cy="731520"/>
          </a:xfrm>
          <a:prstGeom prst="roundRect">
            <a:avLst>
              <a:gd name="adj" fmla="val 10000"/>
            </a:avLst>
          </a:prstGeom>
          <a:solidFill>
            <a:srgbClr val="FFFFFF"/>
          </a:solidFill>
          <a:ln w="12700">
            <a:solidFill>
              <a:srgbClr val="333333"/>
            </a:solidFill>
            <a:prstDash val="solid"/>
          </a:ln>
        </p:spPr>
        <p:txBody>
          <a:bodyPr/>
          <a:p/>
        </p:txBody>
      </p:sp>
      <p:sp>
        <p:nvSpPr>
          <p:cNvPr id="29" name="Shape 27"/>
          <p:cNvSpPr/>
          <p:nvPr/>
        </p:nvSpPr>
        <p:spPr>
          <a:xfrm>
            <a:off x="960120" y="5056632"/>
            <a:ext cx="10241280" cy="10973"/>
          </a:xfrm>
          <a:prstGeom prst="rect">
            <a:avLst/>
          </a:prstGeom>
          <a:solidFill>
            <a:srgbClr val="D5D5D5"/>
          </a:solidFill>
          <a:ln w="12700">
            <a:solidFill>
              <a:srgbClr val="333333"/>
            </a:solidFill>
            <a:prstDash val="solid"/>
          </a:ln>
        </p:spPr>
        <p:txBody>
          <a:bodyPr/>
          <a:p/>
        </p:txBody>
      </p:sp>
      <p:sp>
        <p:nvSpPr>
          <p:cNvPr id="30" name="Shape 28"/>
          <p:cNvSpPr/>
          <p:nvPr/>
        </p:nvSpPr>
        <p:spPr>
          <a:xfrm>
            <a:off x="1188720" y="4517136"/>
            <a:ext cx="365760" cy="365760"/>
          </a:xfrm>
          <a:prstGeom prst="ellipse">
            <a:avLst/>
          </a:prstGeom>
          <a:solidFill>
            <a:srgbClr val="111111"/>
          </a:solidFill>
          <a:ln w="12700">
            <a:solidFill>
              <a:srgbClr val="333333"/>
            </a:solidFill>
            <a:prstDash val="solid"/>
          </a:ln>
        </p:spPr>
        <p:txBody>
          <a:bodyPr/>
          <a:p/>
        </p:txBody>
      </p:sp>
      <p:sp>
        <p:nvSpPr>
          <p:cNvPr id="31" name="Text 29"/>
          <p:cNvSpPr/>
          <p:nvPr/>
        </p:nvSpPr>
        <p:spPr>
          <a:xfrm>
            <a:off x="1188720" y="451713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32" name="Text 30"/>
          <p:cNvSpPr/>
          <p:nvPr/>
        </p:nvSpPr>
        <p:spPr>
          <a:xfrm>
            <a:off x="1737360" y="4334256"/>
            <a:ext cx="2103120" cy="731520"/>
          </a:xfrm>
          <a:prstGeom prst="rect">
            <a:avLst/>
          </a:prstGeom>
          <a:noFill/>
          <a:ln/>
        </p:spPr>
        <p:txBody>
          <a:bodyPr wrap="square" lIns="0" tIns="0" rIns="0" bIns="0" rtlCol="0" anchor="ctr"/>
          <a:lstStyle/>
          <a:p>
            <a:pPr marL="0" indent="0">
              <a:buNone/>
            </a:pPr>
            <a:r>
              <a:rPr lang="en-US" sz="1400" b="1" dirty="0">
                <a:solidFill>
                  <a:srgbClr val="111111"/>
                </a:solidFill>
                <a:latin typeface="Arial" pitchFamily="34" charset="0"/>
                <a:ea typeface="Arial" pitchFamily="34" charset="-122"/>
                <a:cs typeface="Arial" pitchFamily="34" charset="-120"/>
              </a:rPr>
              <a:t>REPORT </a:t>
            </a:r>
            <a:endParaRPr lang="en-US" sz="1400" dirty="0"/>
          </a:p>
        </p:txBody>
      </p:sp>
      <p:sp>
        <p:nvSpPr>
          <p:cNvPr id="33" name="Text 31"/>
          <p:cNvSpPr/>
          <p:nvPr/>
        </p:nvSpPr>
        <p:spPr>
          <a:xfrm>
            <a:off x="3886200" y="4334256"/>
            <a:ext cx="5852160" cy="731520"/>
          </a:xfrm>
          <a:prstGeom prst="rect">
            <a:avLst/>
          </a:prstGeom>
          <a:noFill/>
          <a:ln/>
        </p:spPr>
        <p:txBody>
          <a:bodyPr wrap="square" lIns="0" tIns="0" rIns="0" bIns="0" rtlCol="0" anchor="ctr"/>
          <a:lstStyle/>
          <a:p>
            <a:pPr marL="0" indent="0">
              <a:buNone/>
            </a:pPr>
            <a:r>
              <a:rPr lang="en-US" sz="1250" dirty="0">
                <a:solidFill>
                  <a:srgbClr val="2E2E2E"/>
                </a:solidFill>
                <a:latin typeface="Arial" pitchFamily="34" charset="0"/>
                <a:ea typeface="Arial" pitchFamily="34" charset="-122"/>
                <a:cs typeface="Arial" pitchFamily="34" charset="-120"/>
              </a:rPr>
              <a:t>Expose uncertainty and applicability-domain status on every result</a:t>
            </a:r>
            <a:endParaRPr lang="en-US" sz="1250" dirty="0"/>
          </a:p>
        </p:txBody>
      </p:sp>
      <p:sp>
        <p:nvSpPr>
          <p:cNvPr id="34" name="Shape 32"/>
          <p:cNvSpPr/>
          <p:nvPr/>
        </p:nvSpPr>
        <p:spPr>
          <a:xfrm>
            <a:off x="9829800" y="4562856"/>
            <a:ext cx="1234440" cy="274320"/>
          </a:xfrm>
          <a:prstGeom prst="roundRect">
            <a:avLst>
              <a:gd name="adj" fmla="val 50000"/>
            </a:avLst>
          </a:prstGeom>
          <a:solidFill>
            <a:srgbClr val="FFFFFF"/>
          </a:solidFill>
          <a:ln w="12700">
            <a:solidFill>
              <a:srgbClr val="333333"/>
            </a:solidFill>
            <a:prstDash val="solid"/>
          </a:ln>
        </p:spPr>
        <p:txBody>
          <a:bodyPr/>
          <a:p/>
        </p:txBody>
      </p:sp>
      <p:sp>
        <p:nvSpPr>
          <p:cNvPr id="35" name="Text 33"/>
          <p:cNvSpPr/>
          <p:nvPr/>
        </p:nvSpPr>
        <p:spPr>
          <a:xfrm>
            <a:off x="9829800" y="4562856"/>
            <a:ext cx="1234440" cy="274320"/>
          </a:xfrm>
          <a:prstGeom prst="rect">
            <a:avLst/>
          </a:prstGeom>
          <a:noFill/>
          <a:ln/>
        </p:spPr>
        <p:txBody>
          <a:bodyPr wrap="square" lIns="0" tIns="0" rIns="0" bIns="0" rtlCol="0" anchor="ctr"/>
          <a:lstStyle/>
          <a:p>
            <a:pPr marL="0" indent="0" algn="ctr">
              <a:buNone/>
            </a:pPr>
            <a:r>
              <a:rPr lang="en-US" sz="950" b="1" dirty="0">
                <a:solidFill>
                  <a:srgbClr val="5C5C5C"/>
                </a:solidFill>
                <a:latin typeface="Arial" pitchFamily="34" charset="0"/>
                <a:ea typeface="Arial" pitchFamily="34" charset="-122"/>
                <a:cs typeface="Arial" pitchFamily="34" charset="-120"/>
              </a:rPr>
              <a:t>Cross-cutting</a:t>
            </a:r>
            <a:endParaRPr lang="en-US" sz="950" dirty="0"/>
          </a:p>
        </p:txBody>
      </p:sp>
      <p:sp>
        <p:nvSpPr>
          <p:cNvPr id="36" name="Shape 34"/>
          <p:cNvSpPr/>
          <p:nvPr/>
        </p:nvSpPr>
        <p:spPr>
          <a:xfrm>
            <a:off x="960120" y="5184648"/>
            <a:ext cx="10241280" cy="731520"/>
          </a:xfrm>
          <a:prstGeom prst="roundRect">
            <a:avLst>
              <a:gd name="adj" fmla="val 10000"/>
            </a:avLst>
          </a:prstGeom>
          <a:solidFill>
            <a:srgbClr val="ECECEC"/>
          </a:solidFill>
          <a:ln w="12700">
            <a:solidFill>
              <a:srgbClr val="333333"/>
            </a:solidFill>
            <a:prstDash val="solid"/>
          </a:ln>
        </p:spPr>
        <p:txBody>
          <a:bodyPr/>
          <a:p/>
        </p:txBody>
      </p:sp>
      <p:sp>
        <p:nvSpPr>
          <p:cNvPr id="37" name="Shape 35"/>
          <p:cNvSpPr/>
          <p:nvPr/>
        </p:nvSpPr>
        <p:spPr>
          <a:xfrm>
            <a:off x="1188720" y="5367528"/>
            <a:ext cx="365760" cy="365760"/>
          </a:xfrm>
          <a:prstGeom prst="ellipse">
            <a:avLst/>
          </a:prstGeom>
          <a:solidFill>
            <a:srgbClr val="111111"/>
          </a:solidFill>
          <a:ln w="12700">
            <a:solidFill>
              <a:srgbClr val="333333"/>
            </a:solidFill>
            <a:prstDash val="solid"/>
          </a:ln>
        </p:spPr>
        <p:txBody>
          <a:bodyPr/>
          <a:p/>
        </p:txBody>
      </p:sp>
      <p:sp>
        <p:nvSpPr>
          <p:cNvPr id="38" name="Text 36"/>
          <p:cNvSpPr/>
          <p:nvPr/>
        </p:nvSpPr>
        <p:spPr>
          <a:xfrm>
            <a:off x="1188720" y="536752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39" name="Text 37"/>
          <p:cNvSpPr/>
          <p:nvPr/>
        </p:nvSpPr>
        <p:spPr>
          <a:xfrm>
            <a:off x="1737360" y="5184648"/>
            <a:ext cx="2103120" cy="731520"/>
          </a:xfrm>
          <a:prstGeom prst="rect">
            <a:avLst/>
          </a:prstGeom>
          <a:noFill/>
          <a:ln/>
        </p:spPr>
        <p:txBody>
          <a:bodyPr wrap="square" lIns="0" tIns="0" rIns="0" bIns="0" rtlCol="0" anchor="ctr"/>
          <a:lstStyle/>
          <a:p>
            <a:pPr marL="0" indent="0">
              <a:buNone/>
            </a:pPr>
            <a:r>
              <a:rPr lang="en-US" sz="1400" b="1" dirty="0">
                <a:solidFill>
                  <a:srgbClr val="111111"/>
                </a:solidFill>
                <a:latin typeface="Arial" pitchFamily="34" charset="0"/>
                <a:ea typeface="Arial" pitchFamily="34" charset="-122"/>
                <a:cs typeface="Arial" pitchFamily="34" charset="-120"/>
              </a:rPr>
              <a:t>DELIVER</a:t>
            </a:r>
            <a:endParaRPr lang="en-US" sz="1400" dirty="0"/>
          </a:p>
        </p:txBody>
      </p:sp>
      <p:sp>
        <p:nvSpPr>
          <p:cNvPr id="40" name="Text 38"/>
          <p:cNvSpPr/>
          <p:nvPr/>
        </p:nvSpPr>
        <p:spPr>
          <a:xfrm>
            <a:off x="3886200" y="5184648"/>
            <a:ext cx="5852160" cy="731520"/>
          </a:xfrm>
          <a:prstGeom prst="rect">
            <a:avLst/>
          </a:prstGeom>
          <a:noFill/>
          <a:ln/>
        </p:spPr>
        <p:txBody>
          <a:bodyPr wrap="square" lIns="0" tIns="0" rIns="0" bIns="0" rtlCol="0" anchor="ctr"/>
          <a:lstStyle/>
          <a:p>
            <a:pPr marL="0" indent="0">
              <a:buNone/>
            </a:pPr>
            <a:r>
              <a:rPr lang="en-US" sz="1250" dirty="0">
                <a:solidFill>
                  <a:srgbClr val="2E2E2E"/>
                </a:solidFill>
                <a:latin typeface="Arial" pitchFamily="34" charset="0"/>
                <a:ea typeface="Arial" pitchFamily="34" charset="-122"/>
                <a:cs typeface="Arial" pitchFamily="34" charset="-120"/>
              </a:rPr>
              <a:t>Provide an interface usable without machine learning knowledge</a:t>
            </a:r>
            <a:endParaRPr lang="en-US" sz="1250" dirty="0"/>
          </a:p>
        </p:txBody>
      </p:sp>
      <p:sp>
        <p:nvSpPr>
          <p:cNvPr id="41" name="Shape 39"/>
          <p:cNvSpPr/>
          <p:nvPr/>
        </p:nvSpPr>
        <p:spPr>
          <a:xfrm>
            <a:off x="9829800" y="5413248"/>
            <a:ext cx="1234440" cy="274320"/>
          </a:xfrm>
          <a:prstGeom prst="roundRect">
            <a:avLst>
              <a:gd name="adj" fmla="val 50000"/>
            </a:avLst>
          </a:prstGeom>
          <a:solidFill>
            <a:srgbClr val="FFFFFF"/>
          </a:solidFill>
          <a:ln w="12700">
            <a:solidFill>
              <a:srgbClr val="333333"/>
            </a:solidFill>
            <a:prstDash val="solid"/>
          </a:ln>
        </p:spPr>
        <p:txBody>
          <a:bodyPr/>
          <a:p/>
        </p:txBody>
      </p:sp>
      <p:sp>
        <p:nvSpPr>
          <p:cNvPr id="42" name="Text 40"/>
          <p:cNvSpPr/>
          <p:nvPr/>
        </p:nvSpPr>
        <p:spPr>
          <a:xfrm>
            <a:off x="9829800" y="5413248"/>
            <a:ext cx="1234440" cy="274320"/>
          </a:xfrm>
          <a:prstGeom prst="rect">
            <a:avLst/>
          </a:prstGeom>
          <a:noFill/>
          <a:ln/>
        </p:spPr>
        <p:txBody>
          <a:bodyPr wrap="square" lIns="0" tIns="0" rIns="0" bIns="0" rtlCol="0" anchor="ctr"/>
          <a:lstStyle/>
          <a:p>
            <a:pPr marL="0" indent="0" algn="ctr">
              <a:buNone/>
            </a:pPr>
            <a:r>
              <a:rPr lang="en-US" sz="950" b="1" dirty="0">
                <a:solidFill>
                  <a:srgbClr val="5C5C5C"/>
                </a:solidFill>
                <a:latin typeface="Arial" pitchFamily="34" charset="0"/>
                <a:ea typeface="Arial" pitchFamily="34" charset="-122"/>
                <a:cs typeface="Arial" pitchFamily="34" charset="-120"/>
              </a:rPr>
              <a:t>Interface</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6  ·  METHODOLOGY</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Datasets</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8</a:t>
            </a:r>
            <a:endParaRPr lang="en-US" sz="1000" dirty="0"/>
          </a:p>
        </p:txBody>
      </p:sp>
      <p:sp>
        <p:nvSpPr>
          <p:cNvPr id="6" name="Shape 4"/>
          <p:cNvSpPr/>
          <p:nvPr/>
        </p:nvSpPr>
        <p:spPr>
          <a:xfrm>
            <a:off x="960120" y="1737360"/>
            <a:ext cx="4937760" cy="3246120"/>
          </a:xfrm>
          <a:prstGeom prst="roundRect">
            <a:avLst>
              <a:gd name="adj" fmla="val 2254"/>
            </a:avLst>
          </a:prstGeom>
          <a:solidFill>
            <a:srgbClr val="E3EDF8"/>
          </a:solidFill>
          <a:ln w="12700">
            <a:solidFill>
              <a:srgbClr val="333333"/>
            </a:solidFill>
            <a:prstDash val="solid"/>
          </a:ln>
        </p:spPr>
        <p:txBody>
          <a:bodyPr/>
          <a:p/>
        </p:txBody>
      </p:sp>
      <p:sp>
        <p:nvSpPr>
          <p:cNvPr id="7" name="Text 5"/>
          <p:cNvSpPr/>
          <p:nvPr/>
        </p:nvSpPr>
        <p:spPr>
          <a:xfrm>
            <a:off x="1234440" y="1920240"/>
            <a:ext cx="4389120" cy="457200"/>
          </a:xfrm>
          <a:prstGeom prst="rect">
            <a:avLst/>
          </a:prstGeom>
          <a:noFill/>
          <a:ln/>
        </p:spPr>
        <p:txBody>
          <a:bodyPr wrap="square" lIns="0" tIns="0" rIns="0" bIns="0" rtlCol="0" anchor="ctr"/>
          <a:lstStyle/>
          <a:p>
            <a:pPr marL="0" indent="0">
              <a:buNone/>
            </a:pPr>
            <a:r>
              <a:rPr lang="en-US" sz="2400" b="1" dirty="0">
                <a:solidFill>
                  <a:srgbClr val="1B4F8A"/>
                </a:solidFill>
                <a:latin typeface="Arial" pitchFamily="34" charset="0"/>
                <a:ea typeface="Arial" pitchFamily="34" charset="-122"/>
                <a:cs typeface="Arial" pitchFamily="34" charset="-120"/>
              </a:rPr>
              <a:t>PI1M</a:t>
            </a:r>
            <a:endParaRPr lang="en-US" sz="2400" dirty="0"/>
          </a:p>
        </p:txBody>
      </p:sp>
      <p:sp>
        <p:nvSpPr>
          <p:cNvPr id="8" name="Text 6"/>
          <p:cNvSpPr/>
          <p:nvPr/>
        </p:nvSpPr>
        <p:spPr>
          <a:xfrm>
            <a:off x="1234440" y="2359152"/>
            <a:ext cx="4389120" cy="274320"/>
          </a:xfrm>
          <a:prstGeom prst="rect">
            <a:avLst/>
          </a:prstGeom>
          <a:noFill/>
          <a:ln/>
        </p:spPr>
        <p:txBody>
          <a:bodyPr wrap="square" lIns="0" tIns="0" rIns="0" bIns="0" rtlCol="0" anchor="ctr"/>
          <a:lstStyle/>
          <a:p>
            <a:pPr marL="0" indent="0">
              <a:buNone/>
            </a:pPr>
            <a:r>
              <a:rPr lang="en-US" sz="1200" b="1" dirty="0">
                <a:solidFill>
                  <a:srgbClr val="5C5C5C"/>
                </a:solidFill>
                <a:latin typeface="Arial" pitchFamily="34" charset="0"/>
                <a:ea typeface="Arial" pitchFamily="34" charset="-122"/>
                <a:cs typeface="Arial" pitchFamily="34" charset="-120"/>
              </a:rPr>
              <a:t>Generator training corpus</a:t>
            </a:r>
            <a:endParaRPr lang="en-US" sz="1200" dirty="0"/>
          </a:p>
        </p:txBody>
      </p:sp>
      <p:sp>
        <p:nvSpPr>
          <p:cNvPr id="9" name="Text 7"/>
          <p:cNvSpPr/>
          <p:nvPr/>
        </p:nvSpPr>
        <p:spPr>
          <a:xfrm>
            <a:off x="1234440" y="2724912"/>
            <a:ext cx="4389120" cy="2011680"/>
          </a:xfrm>
          <a:prstGeom prst="rect">
            <a:avLst/>
          </a:prstGeom>
          <a:noFill/>
          <a:ln/>
        </p:spPr>
        <p:txBody>
          <a:bodyPr wrap="square" lIns="0" tIns="0" rIns="0" bIns="0" rtlCol="0" anchor="ctr"/>
          <a:lstStyle/>
          <a:p>
            <a:pPr marL="342900" indent="-342900">
              <a:lnSpc>
                <a:spcPts val="1813"/>
              </a:lnSpc>
              <a:spcAft>
                <a:spcPts val="700"/>
              </a:spcAft>
              <a:buSzPct val="100000"/>
              <a:buChar char="•"/>
            </a:pPr>
            <a:r>
              <a:rPr lang="en-US" sz="1250" dirty="0">
                <a:solidFill>
                  <a:srgbClr val="2E2E2E"/>
                </a:solidFill>
                <a:latin typeface="Arial" pitchFamily="34" charset="0"/>
                <a:ea typeface="Arial" pitchFamily="34" charset="-122"/>
                <a:cs typeface="Arial" pitchFamily="34" charset="-120"/>
              </a:rPr>
              <a:t>~1 million polymer repeat units</a:t>
            </a:r>
            <a:endParaRPr lang="en-US" sz="1250" dirty="0"/>
          </a:p>
          <a:p>
            <a:pPr marL="342900" indent="-342900">
              <a:lnSpc>
                <a:spcPts val="1813"/>
              </a:lnSpc>
              <a:spcAft>
                <a:spcPts val="700"/>
              </a:spcAft>
              <a:buSzPct val="100000"/>
              <a:buChar char="•"/>
            </a:pPr>
            <a:r>
              <a:rPr lang="en-US" sz="1250" dirty="0">
                <a:solidFill>
                  <a:srgbClr val="2E2E2E"/>
                </a:solidFill>
                <a:latin typeface="Arial" pitchFamily="34" charset="0"/>
                <a:ea typeface="Arial" pitchFamily="34" charset="-122"/>
                <a:cs typeface="Arial" pitchFamily="34" charset="-120"/>
              </a:rPr>
              <a:t>Structure-only</a:t>
            </a:r>
            <a:endParaRPr lang="en-US" sz="1250" dirty="0"/>
          </a:p>
          <a:p>
            <a:pPr marL="342900" indent="-342900">
              <a:lnSpc>
                <a:spcPts val="1813"/>
              </a:lnSpc>
              <a:spcAft>
                <a:spcPts val="700"/>
              </a:spcAft>
              <a:buSzPct val="100000"/>
              <a:buChar char="•"/>
            </a:pPr>
            <a:r>
              <a:rPr lang="en-US" sz="1250" dirty="0">
                <a:solidFill>
                  <a:srgbClr val="2E2E2E"/>
                </a:solidFill>
                <a:latin typeface="Arial" pitchFamily="34" charset="0"/>
                <a:ea typeface="Arial" pitchFamily="34" charset="-122"/>
                <a:cs typeface="Arial" pitchFamily="34" charset="-120"/>
              </a:rPr>
              <a:t>No property labels</a:t>
            </a:r>
            <a:endParaRPr lang="en-US" sz="1250" dirty="0"/>
          </a:p>
          <a:p>
            <a:pPr marL="342900" indent="-342900">
              <a:lnSpc>
                <a:spcPts val="1813"/>
              </a:lnSpc>
              <a:spcAft>
                <a:spcPts val="700"/>
              </a:spcAft>
              <a:buSzPct val="100000"/>
              <a:buChar char="•"/>
            </a:pPr>
            <a:r>
              <a:rPr lang="en-US" sz="1250" dirty="0">
                <a:solidFill>
                  <a:srgbClr val="2E2E2E"/>
                </a:solidFill>
                <a:latin typeface="Arial" pitchFamily="34" charset="0"/>
                <a:ea typeface="Arial" pitchFamily="34" charset="-122"/>
                <a:cs typeface="Arial" pitchFamily="34" charset="-120"/>
              </a:rPr>
              <a:t>Used to train the C-VAE (Tier 2)</a:t>
            </a:r>
            <a:endParaRPr lang="en-US" sz="1250" dirty="0"/>
          </a:p>
          <a:p>
            <a:pPr marL="342900" indent="-342900">
              <a:lnSpc>
                <a:spcPts val="1813"/>
              </a:lnSpc>
              <a:spcAft>
                <a:spcPts val="700"/>
              </a:spcAft>
              <a:buSzPct val="100000"/>
              <a:buChar char="•"/>
            </a:pPr>
            <a:r>
              <a:rPr lang="en-US" sz="1250" dirty="0">
                <a:solidFill>
                  <a:srgbClr val="2E2E2E"/>
                </a:solidFill>
                <a:latin typeface="Arial" pitchFamily="34" charset="0"/>
                <a:ea typeface="Arial" pitchFamily="34" charset="-122"/>
                <a:cs typeface="Arial" pitchFamily="34" charset="-120"/>
              </a:rPr>
              <a:t>986,529 unique after processing</a:t>
            </a:r>
            <a:endParaRPr lang="en-US" sz="1250" dirty="0"/>
          </a:p>
        </p:txBody>
      </p:sp>
      <p:sp>
        <p:nvSpPr>
          <p:cNvPr id="10" name="Shape 8"/>
          <p:cNvSpPr/>
          <p:nvPr/>
        </p:nvSpPr>
        <p:spPr>
          <a:xfrm>
            <a:off x="6263640" y="1737360"/>
            <a:ext cx="4937760" cy="3246120"/>
          </a:xfrm>
          <a:prstGeom prst="roundRect">
            <a:avLst>
              <a:gd name="adj" fmla="val 2254"/>
            </a:avLst>
          </a:prstGeom>
          <a:solidFill>
            <a:srgbClr val="DCF2E4"/>
          </a:solidFill>
          <a:ln w="12700">
            <a:solidFill>
              <a:srgbClr val="333333"/>
            </a:solidFill>
            <a:prstDash val="solid"/>
          </a:ln>
        </p:spPr>
        <p:txBody>
          <a:bodyPr/>
          <a:p/>
        </p:txBody>
      </p:sp>
      <p:sp>
        <p:nvSpPr>
          <p:cNvPr id="11" name="Text 9"/>
          <p:cNvSpPr/>
          <p:nvPr/>
        </p:nvSpPr>
        <p:spPr>
          <a:xfrm>
            <a:off x="6537960" y="1920240"/>
            <a:ext cx="4480560" cy="457200"/>
          </a:xfrm>
          <a:prstGeom prst="rect">
            <a:avLst/>
          </a:prstGeom>
          <a:noFill/>
          <a:ln/>
        </p:spPr>
        <p:txBody>
          <a:bodyPr wrap="square" lIns="0" tIns="0" rIns="0" bIns="0" rtlCol="0" anchor="ctr"/>
          <a:lstStyle/>
          <a:p>
            <a:pPr marL="0" indent="0">
              <a:buNone/>
            </a:pPr>
            <a:r>
              <a:rPr lang="en-US" sz="2100" b="1" dirty="0">
                <a:solidFill>
                  <a:srgbClr val="156B33"/>
                </a:solidFill>
                <a:latin typeface="Arial" pitchFamily="34" charset="0"/>
                <a:ea typeface="Arial" pitchFamily="34" charset="-122"/>
                <a:cs typeface="Arial" pitchFamily="34" charset="-120"/>
              </a:rPr>
              <a:t>Open Polymer Challenge</a:t>
            </a:r>
            <a:endParaRPr lang="en-US" sz="2100" dirty="0"/>
          </a:p>
        </p:txBody>
      </p:sp>
      <p:sp>
        <p:nvSpPr>
          <p:cNvPr id="12" name="Text 10"/>
          <p:cNvSpPr/>
          <p:nvPr/>
        </p:nvSpPr>
        <p:spPr>
          <a:xfrm>
            <a:off x="6537960" y="2359152"/>
            <a:ext cx="4389120" cy="274320"/>
          </a:xfrm>
          <a:prstGeom prst="rect">
            <a:avLst/>
          </a:prstGeom>
          <a:noFill/>
          <a:ln/>
        </p:spPr>
        <p:txBody>
          <a:bodyPr wrap="square" lIns="0" tIns="0" rIns="0" bIns="0" rtlCol="0" anchor="ctr"/>
          <a:lstStyle/>
          <a:p>
            <a:pPr marL="0" indent="0">
              <a:buNone/>
            </a:pPr>
            <a:r>
              <a:rPr lang="en-US" sz="1200" b="1" dirty="0">
                <a:solidFill>
                  <a:srgbClr val="5C5C5C"/>
                </a:solidFill>
                <a:latin typeface="Arial" pitchFamily="34" charset="0"/>
                <a:ea typeface="Arial" pitchFamily="34" charset="-122"/>
                <a:cs typeface="Arial" pitchFamily="34" charset="-120"/>
              </a:rPr>
              <a:t>Oracle training data</a:t>
            </a:r>
            <a:endParaRPr lang="en-US" sz="1200" dirty="0"/>
          </a:p>
        </p:txBody>
      </p:sp>
      <p:sp>
        <p:nvSpPr>
          <p:cNvPr id="13" name="Text 11"/>
          <p:cNvSpPr/>
          <p:nvPr/>
        </p:nvSpPr>
        <p:spPr>
          <a:xfrm>
            <a:off x="6537960" y="2724912"/>
            <a:ext cx="4389120" cy="2011680"/>
          </a:xfrm>
          <a:prstGeom prst="rect">
            <a:avLst/>
          </a:prstGeom>
          <a:noFill/>
          <a:ln/>
        </p:spPr>
        <p:txBody>
          <a:bodyPr wrap="square" lIns="0" tIns="0" rIns="0" bIns="0" rtlCol="0" anchor="ctr"/>
          <a:lstStyle/>
          <a:p>
            <a:pPr marL="342900" indent="-342900">
              <a:lnSpc>
                <a:spcPts val="1813"/>
              </a:lnSpc>
              <a:spcAft>
                <a:spcPts val="700"/>
              </a:spcAft>
              <a:buSzPct val="100000"/>
              <a:buChar char="•"/>
            </a:pPr>
            <a:r>
              <a:rPr lang="en-US" sz="1250" dirty="0">
                <a:solidFill>
                  <a:srgbClr val="2E2E2E"/>
                </a:solidFill>
                <a:latin typeface="Arial" pitchFamily="34" charset="0"/>
                <a:ea typeface="Arial" pitchFamily="34" charset="-122"/>
                <a:cs typeface="Arial" pitchFamily="34" charset="-120"/>
              </a:rPr>
              <a:t>7,973 polymers</a:t>
            </a:r>
            <a:endParaRPr lang="en-US" sz="1250" dirty="0"/>
          </a:p>
          <a:p>
            <a:pPr marL="342900" indent="-342900">
              <a:lnSpc>
                <a:spcPts val="1813"/>
              </a:lnSpc>
              <a:spcAft>
                <a:spcPts val="700"/>
              </a:spcAft>
              <a:buSzPct val="100000"/>
              <a:buChar char="•"/>
            </a:pPr>
            <a:r>
              <a:rPr lang="en-US" sz="1250" dirty="0">
                <a:solidFill>
                  <a:srgbClr val="2E2E2E"/>
                </a:solidFill>
                <a:latin typeface="Arial" pitchFamily="34" charset="0"/>
                <a:ea typeface="Arial" pitchFamily="34" charset="-122"/>
                <a:cs typeface="Arial" pitchFamily="34" charset="-120"/>
              </a:rPr>
              <a:t>Five properties: Tg, FFV, Tc, Density, Rg</a:t>
            </a:r>
            <a:endParaRPr lang="en-US" sz="1250" dirty="0"/>
          </a:p>
          <a:p>
            <a:pPr marL="342900" indent="-342900">
              <a:lnSpc>
                <a:spcPts val="1813"/>
              </a:lnSpc>
              <a:spcAft>
                <a:spcPts val="700"/>
              </a:spcAft>
              <a:buSzPct val="100000"/>
              <a:buChar char="•"/>
            </a:pPr>
            <a:r>
              <a:rPr lang="en-US" sz="1250" dirty="0">
                <a:solidFill>
                  <a:srgbClr val="2E2E2E"/>
                </a:solidFill>
                <a:latin typeface="Arial" pitchFamily="34" charset="0"/>
                <a:ea typeface="Arial" pitchFamily="34" charset="-122"/>
                <a:cs typeface="Arial" pitchFamily="34" charset="-120"/>
              </a:rPr>
              <a:t>Property labels present but sparse</a:t>
            </a:r>
            <a:endParaRPr lang="en-US" sz="1250" dirty="0"/>
          </a:p>
          <a:p>
            <a:pPr marL="342900" indent="-342900">
              <a:lnSpc>
                <a:spcPts val="1813"/>
              </a:lnSpc>
              <a:spcAft>
                <a:spcPts val="700"/>
              </a:spcAft>
              <a:buSzPct val="100000"/>
              <a:buChar char="•"/>
            </a:pPr>
            <a:r>
              <a:rPr lang="en-US" sz="1250" dirty="0">
                <a:solidFill>
                  <a:srgbClr val="2E2E2E"/>
                </a:solidFill>
                <a:latin typeface="Arial" pitchFamily="34" charset="0"/>
                <a:ea typeface="Arial" pitchFamily="34" charset="-122"/>
                <a:cs typeface="Arial" pitchFamily="34" charset="-120"/>
              </a:rPr>
              <a:t>Used to train the Oracle (Tier 3)</a:t>
            </a:r>
            <a:endParaRPr lang="en-US" sz="1250" dirty="0"/>
          </a:p>
          <a:p>
            <a:pPr marL="342900" indent="-342900">
              <a:lnSpc>
                <a:spcPts val="1813"/>
              </a:lnSpc>
              <a:spcAft>
                <a:spcPts val="700"/>
              </a:spcAft>
              <a:buSzPct val="100000"/>
              <a:buChar char="•"/>
            </a:pPr>
            <a:r>
              <a:rPr lang="en-US" sz="1250" dirty="0">
                <a:solidFill>
                  <a:srgbClr val="2E2E2E"/>
                </a:solidFill>
                <a:latin typeface="Arial" pitchFamily="34" charset="0"/>
                <a:ea typeface="Arial" pitchFamily="34" charset="-122"/>
                <a:cs typeface="Arial" pitchFamily="34" charset="-120"/>
              </a:rPr>
              <a:t>Only 511 have a measured Tg</a:t>
            </a:r>
            <a:endParaRPr lang="en-US" sz="1250" dirty="0"/>
          </a:p>
        </p:txBody>
      </p:sp>
      <p:sp>
        <p:nvSpPr>
          <p:cNvPr id="14" name="Shape 12"/>
          <p:cNvSpPr/>
          <p:nvPr/>
        </p:nvSpPr>
        <p:spPr>
          <a:xfrm>
            <a:off x="960120" y="5193792"/>
            <a:ext cx="10241280" cy="731520"/>
          </a:xfrm>
          <a:prstGeom prst="roundRect">
            <a:avLst>
              <a:gd name="adj" fmla="val 10000"/>
            </a:avLst>
          </a:prstGeom>
          <a:solidFill>
            <a:srgbClr val="ECECEC"/>
          </a:solidFill>
          <a:ln w="12700">
            <a:solidFill>
              <a:srgbClr val="333333"/>
            </a:solidFill>
            <a:prstDash val="solid"/>
          </a:ln>
        </p:spPr>
        <p:txBody>
          <a:bodyPr/>
          <a:p/>
        </p:txBody>
      </p:sp>
      <p:sp>
        <p:nvSpPr>
          <p:cNvPr id="15" name="Text 13"/>
          <p:cNvSpPr/>
          <p:nvPr/>
        </p:nvSpPr>
        <p:spPr>
          <a:xfrm>
            <a:off x="960120" y="5193792"/>
            <a:ext cx="10241280" cy="731520"/>
          </a:xfrm>
          <a:prstGeom prst="rect">
            <a:avLst/>
          </a:prstGeom>
          <a:noFill/>
          <a:ln/>
        </p:spPr>
        <p:txBody>
          <a:bodyPr wrap="square" lIns="0" tIns="0" rIns="0" bIns="0" rtlCol="0" anchor="ctr"/>
          <a:lstStyle/>
          <a:p>
            <a:pPr marL="0" indent="0" algn="ctr">
              <a:buNone/>
            </a:pPr>
            <a:r>
              <a:rPr lang="en-US" sz="1400" b="1" dirty="0">
                <a:solidFill>
                  <a:srgbClr val="111111"/>
                </a:solidFill>
                <a:latin typeface="Arial" pitchFamily="34" charset="0"/>
                <a:ea typeface="Arial" pitchFamily="34" charset="-122"/>
                <a:cs typeface="Arial" pitchFamily="34" charset="-120"/>
              </a:rPr>
              <a:t>PI1M = many structures, no labels        Challenge dataset = few structures, property labels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6  ·  METHODOLOGY</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Why the Build Order Is “Backwards”</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9</a:t>
            </a:r>
            <a:endParaRPr lang="en-US" sz="1000" dirty="0"/>
          </a:p>
        </p:txBody>
      </p:sp>
      <p:sp>
        <p:nvSpPr>
          <p:cNvPr id="6" name="Text 4"/>
          <p:cNvSpPr/>
          <p:nvPr/>
        </p:nvSpPr>
        <p:spPr>
          <a:xfrm>
            <a:off x="960120" y="1627632"/>
            <a:ext cx="10241280" cy="365760"/>
          </a:xfrm>
          <a:prstGeom prst="rect">
            <a:avLst/>
          </a:prstGeom>
          <a:noFill/>
          <a:ln/>
        </p:spPr>
        <p:txBody>
          <a:bodyPr wrap="square" lIns="0" tIns="0" rIns="0" bIns="0" rtlCol="0" anchor="ctr"/>
          <a:lstStyle/>
          <a:p>
            <a:pPr marL="0" indent="0" algn="ctr">
              <a:buNone/>
            </a:pPr>
            <a:r>
              <a:rPr lang="en-US" sz="1300" dirty="0">
                <a:solidFill>
                  <a:srgbClr val="2E2E2E"/>
                </a:solidFill>
                <a:latin typeface="Arial" pitchFamily="34" charset="0"/>
                <a:ea typeface="Arial" pitchFamily="34" charset="-122"/>
                <a:cs typeface="Arial" pitchFamily="34" charset="-120"/>
              </a:rPr>
              <a:t>RAG is only needed at inference time. The generator needs numerical conditioning during training, and PI1M has no labels.</a:t>
            </a:r>
            <a:endParaRPr lang="en-US" sz="1300" dirty="0"/>
          </a:p>
        </p:txBody>
      </p:sp>
      <p:sp>
        <p:nvSpPr>
          <p:cNvPr id="7" name="Shape 5"/>
          <p:cNvSpPr/>
          <p:nvPr/>
        </p:nvSpPr>
        <p:spPr>
          <a:xfrm>
            <a:off x="960120" y="2103120"/>
            <a:ext cx="10241280" cy="1691640"/>
          </a:xfrm>
          <a:prstGeom prst="roundRect">
            <a:avLst>
              <a:gd name="adj" fmla="val 4324"/>
            </a:avLst>
          </a:prstGeom>
          <a:solidFill>
            <a:srgbClr val="DCF2E4"/>
          </a:solidFill>
          <a:ln w="12700">
            <a:solidFill>
              <a:srgbClr val="333333"/>
            </a:solidFill>
            <a:prstDash val="solid"/>
          </a:ln>
        </p:spPr>
        <p:txBody>
          <a:bodyPr/>
          <a:p/>
        </p:txBody>
      </p:sp>
      <p:sp>
        <p:nvSpPr>
          <p:cNvPr id="8" name="Text 6"/>
          <p:cNvSpPr/>
          <p:nvPr/>
        </p:nvSpPr>
        <p:spPr>
          <a:xfrm>
            <a:off x="1234440" y="2240280"/>
            <a:ext cx="5486400" cy="274320"/>
          </a:xfrm>
          <a:prstGeom prst="rect">
            <a:avLst/>
          </a:prstGeom>
          <a:noFill/>
          <a:ln/>
        </p:spPr>
        <p:txBody>
          <a:bodyPr wrap="square" lIns="0" tIns="0" rIns="0" bIns="0" rtlCol="0" anchor="ctr"/>
          <a:lstStyle/>
          <a:p>
            <a:pPr marL="0" indent="0">
              <a:buNone/>
            </a:pPr>
            <a:r>
              <a:rPr lang="en-US" sz="1150" b="1" dirty="0">
                <a:solidFill>
                  <a:srgbClr val="156B33"/>
                </a:solidFill>
                <a:latin typeface="Arial" pitchFamily="34" charset="0"/>
                <a:ea typeface="Arial" pitchFamily="34" charset="-122"/>
                <a:cs typeface="Arial" pitchFamily="34" charset="-120"/>
              </a:rPr>
              <a:t>IMPLEMENTATION ORDER  (how we built it)</a:t>
            </a:r>
            <a:endParaRPr lang="en-US" sz="1150" dirty="0"/>
          </a:p>
        </p:txBody>
      </p:sp>
      <p:sp>
        <p:nvSpPr>
          <p:cNvPr id="9" name="Shape 7"/>
          <p:cNvSpPr/>
          <p:nvPr/>
        </p:nvSpPr>
        <p:spPr>
          <a:xfrm>
            <a:off x="1234440" y="2606040"/>
            <a:ext cx="1207008" cy="868680"/>
          </a:xfrm>
          <a:prstGeom prst="roundRect">
            <a:avLst>
              <a:gd name="adj" fmla="val 8421"/>
            </a:avLst>
          </a:prstGeom>
          <a:solidFill>
            <a:srgbClr val="FFFFFF"/>
          </a:solidFill>
          <a:ln w="12700">
            <a:solidFill>
              <a:srgbClr val="333333"/>
            </a:solidFill>
            <a:prstDash val="solid"/>
          </a:ln>
        </p:spPr>
        <p:txBody>
          <a:bodyPr/>
          <a:p/>
        </p:txBody>
      </p:sp>
      <p:sp>
        <p:nvSpPr>
          <p:cNvPr id="10" name="Text 8"/>
          <p:cNvSpPr/>
          <p:nvPr/>
        </p:nvSpPr>
        <p:spPr>
          <a:xfrm>
            <a:off x="1307592" y="2606040"/>
            <a:ext cx="1060704" cy="868680"/>
          </a:xfrm>
          <a:prstGeom prst="rect">
            <a:avLst/>
          </a:prstGeom>
          <a:noFill/>
          <a:ln/>
        </p:spPr>
        <p:txBody>
          <a:bodyPr wrap="square" lIns="0" tIns="0" rIns="0" bIns="0" rtlCol="0" anchor="ctr"/>
          <a:lstStyle/>
          <a:p>
            <a:pPr marL="0" indent="0" algn="ctr">
              <a:lnSpc>
                <a:spcPts val="1313"/>
              </a:lnSpc>
              <a:buNone/>
            </a:pPr>
            <a:r>
              <a:rPr lang="en-US" sz="1050" b="1" dirty="0">
                <a:solidFill>
                  <a:srgbClr val="111111"/>
                </a:solidFill>
                <a:latin typeface="Arial" pitchFamily="34" charset="0"/>
                <a:ea typeface="Arial" pitchFamily="34" charset="-122"/>
                <a:cs typeface="Arial" pitchFamily="34" charset="-120"/>
              </a:rPr>
              <a:t>Data</a:t>
            </a:r>
            <a:endParaRPr lang="en-US" sz="1050" dirty="0"/>
          </a:p>
        </p:txBody>
      </p:sp>
      <p:sp>
        <p:nvSpPr>
          <p:cNvPr id="11" name="Shape 9"/>
          <p:cNvSpPr/>
          <p:nvPr/>
        </p:nvSpPr>
        <p:spPr>
          <a:xfrm>
            <a:off x="2478024" y="2926080"/>
            <a:ext cx="164592" cy="237744"/>
          </a:xfrm>
          <a:prstGeom prst="rightArrow">
            <a:avLst/>
          </a:prstGeom>
          <a:solidFill>
            <a:srgbClr val="111111"/>
          </a:solidFill>
          <a:ln w="12700">
            <a:solidFill>
              <a:srgbClr val="333333"/>
            </a:solidFill>
            <a:prstDash val="solid"/>
          </a:ln>
        </p:spPr>
        <p:txBody>
          <a:bodyPr/>
          <a:p/>
        </p:txBody>
      </p:sp>
      <p:sp>
        <p:nvSpPr>
          <p:cNvPr id="12" name="Shape 10"/>
          <p:cNvSpPr/>
          <p:nvPr/>
        </p:nvSpPr>
        <p:spPr>
          <a:xfrm>
            <a:off x="2660904" y="2606040"/>
            <a:ext cx="1207008" cy="868680"/>
          </a:xfrm>
          <a:prstGeom prst="roundRect">
            <a:avLst>
              <a:gd name="adj" fmla="val 8421"/>
            </a:avLst>
          </a:prstGeom>
          <a:solidFill>
            <a:srgbClr val="FFFFFF"/>
          </a:solidFill>
          <a:ln w="12700">
            <a:solidFill>
              <a:srgbClr val="333333"/>
            </a:solidFill>
            <a:prstDash val="solid"/>
          </a:ln>
        </p:spPr>
        <p:txBody>
          <a:bodyPr/>
          <a:p/>
        </p:txBody>
      </p:sp>
      <p:sp>
        <p:nvSpPr>
          <p:cNvPr id="13" name="Text 11"/>
          <p:cNvSpPr/>
          <p:nvPr/>
        </p:nvSpPr>
        <p:spPr>
          <a:xfrm>
            <a:off x="2734056" y="2606040"/>
            <a:ext cx="1060704" cy="868680"/>
          </a:xfrm>
          <a:prstGeom prst="rect">
            <a:avLst/>
          </a:prstGeom>
          <a:noFill/>
          <a:ln/>
        </p:spPr>
        <p:txBody>
          <a:bodyPr wrap="square" lIns="0" tIns="0" rIns="0" bIns="0" rtlCol="0" anchor="ctr"/>
          <a:lstStyle/>
          <a:p>
            <a:pPr marL="0" indent="0" algn="ctr">
              <a:lnSpc>
                <a:spcPts val="1313"/>
              </a:lnSpc>
              <a:buNone/>
            </a:pPr>
            <a:r>
              <a:rPr lang="en-US" sz="1050" b="1" dirty="0">
                <a:solidFill>
                  <a:srgbClr val="111111"/>
                </a:solidFill>
                <a:latin typeface="Arial" pitchFamily="34" charset="0"/>
                <a:ea typeface="Arial" pitchFamily="34" charset="-122"/>
                <a:cs typeface="Arial" pitchFamily="34" charset="-120"/>
              </a:rPr>
              <a:t>Oracle</a:t>
            </a:r>
            <a:endParaRPr lang="en-US" sz="1050" dirty="0"/>
          </a:p>
        </p:txBody>
      </p:sp>
      <p:sp>
        <p:nvSpPr>
          <p:cNvPr id="14" name="Shape 12"/>
          <p:cNvSpPr/>
          <p:nvPr/>
        </p:nvSpPr>
        <p:spPr>
          <a:xfrm>
            <a:off x="3904488" y="2926080"/>
            <a:ext cx="164592" cy="237744"/>
          </a:xfrm>
          <a:prstGeom prst="rightArrow">
            <a:avLst/>
          </a:prstGeom>
          <a:solidFill>
            <a:srgbClr val="111111"/>
          </a:solidFill>
          <a:ln w="12700">
            <a:solidFill>
              <a:srgbClr val="333333"/>
            </a:solidFill>
            <a:prstDash val="solid"/>
          </a:ln>
        </p:spPr>
        <p:txBody>
          <a:bodyPr/>
          <a:p/>
        </p:txBody>
      </p:sp>
      <p:sp>
        <p:nvSpPr>
          <p:cNvPr id="15" name="Shape 13"/>
          <p:cNvSpPr/>
          <p:nvPr/>
        </p:nvSpPr>
        <p:spPr>
          <a:xfrm>
            <a:off x="4087368" y="2606040"/>
            <a:ext cx="1207008" cy="868680"/>
          </a:xfrm>
          <a:prstGeom prst="roundRect">
            <a:avLst>
              <a:gd name="adj" fmla="val 8421"/>
            </a:avLst>
          </a:prstGeom>
          <a:solidFill>
            <a:srgbClr val="FFFFFF"/>
          </a:solidFill>
          <a:ln w="12700">
            <a:solidFill>
              <a:srgbClr val="333333"/>
            </a:solidFill>
            <a:prstDash val="solid"/>
          </a:ln>
        </p:spPr>
        <p:txBody>
          <a:bodyPr/>
          <a:p/>
        </p:txBody>
      </p:sp>
      <p:sp>
        <p:nvSpPr>
          <p:cNvPr id="16" name="Text 14"/>
          <p:cNvSpPr/>
          <p:nvPr/>
        </p:nvSpPr>
        <p:spPr>
          <a:xfrm>
            <a:off x="4160520" y="2606040"/>
            <a:ext cx="1060704" cy="868680"/>
          </a:xfrm>
          <a:prstGeom prst="rect">
            <a:avLst/>
          </a:prstGeom>
          <a:noFill/>
          <a:ln/>
        </p:spPr>
        <p:txBody>
          <a:bodyPr wrap="square" lIns="0" tIns="0" rIns="0" bIns="0" rtlCol="0" anchor="ctr"/>
          <a:lstStyle/>
          <a:p>
            <a:pPr marL="0" indent="0" algn="ctr">
              <a:lnSpc>
                <a:spcPts val="1313"/>
              </a:lnSpc>
              <a:buNone/>
            </a:pPr>
            <a:r>
              <a:rPr lang="en-US" sz="1050" b="1" dirty="0">
                <a:solidFill>
                  <a:srgbClr val="111111"/>
                </a:solidFill>
                <a:latin typeface="Arial" pitchFamily="34" charset="0"/>
                <a:ea typeface="Arial" pitchFamily="34" charset="-122"/>
                <a:cs typeface="Arial" pitchFamily="34" charset="-120"/>
              </a:rPr>
              <a:t>Pseudo-</a:t>
            </a:r>
            <a:endParaRPr lang="en-US" sz="1050" dirty="0"/>
          </a:p>
          <a:p>
            <a:pPr marL="0" indent="0" algn="ctr">
              <a:lnSpc>
                <a:spcPts val="1313"/>
              </a:lnSpc>
              <a:buNone/>
            </a:pPr>
            <a:r>
              <a:rPr lang="en-US" sz="1050" b="1" dirty="0">
                <a:solidFill>
                  <a:srgbClr val="111111"/>
                </a:solidFill>
                <a:latin typeface="Arial" pitchFamily="34" charset="0"/>
                <a:ea typeface="Arial" pitchFamily="34" charset="-122"/>
                <a:cs typeface="Arial" pitchFamily="34" charset="-120"/>
              </a:rPr>
              <a:t>labelling</a:t>
            </a:r>
            <a:endParaRPr lang="en-US" sz="1050" dirty="0"/>
          </a:p>
        </p:txBody>
      </p:sp>
      <p:sp>
        <p:nvSpPr>
          <p:cNvPr id="17" name="Shape 15"/>
          <p:cNvSpPr/>
          <p:nvPr/>
        </p:nvSpPr>
        <p:spPr>
          <a:xfrm>
            <a:off x="5330952" y="2926080"/>
            <a:ext cx="164592" cy="237744"/>
          </a:xfrm>
          <a:prstGeom prst="rightArrow">
            <a:avLst/>
          </a:prstGeom>
          <a:solidFill>
            <a:srgbClr val="111111"/>
          </a:solidFill>
          <a:ln w="12700">
            <a:solidFill>
              <a:srgbClr val="333333"/>
            </a:solidFill>
            <a:prstDash val="solid"/>
          </a:ln>
        </p:spPr>
        <p:txBody>
          <a:bodyPr/>
          <a:p/>
        </p:txBody>
      </p:sp>
      <p:sp>
        <p:nvSpPr>
          <p:cNvPr id="18" name="Shape 16"/>
          <p:cNvSpPr/>
          <p:nvPr/>
        </p:nvSpPr>
        <p:spPr>
          <a:xfrm>
            <a:off x="5513832" y="2606040"/>
            <a:ext cx="1207008" cy="868680"/>
          </a:xfrm>
          <a:prstGeom prst="roundRect">
            <a:avLst>
              <a:gd name="adj" fmla="val 8421"/>
            </a:avLst>
          </a:prstGeom>
          <a:solidFill>
            <a:srgbClr val="FFFFFF"/>
          </a:solidFill>
          <a:ln w="12700">
            <a:solidFill>
              <a:srgbClr val="333333"/>
            </a:solidFill>
            <a:prstDash val="solid"/>
          </a:ln>
        </p:spPr>
        <p:txBody>
          <a:bodyPr/>
          <a:p/>
        </p:txBody>
      </p:sp>
      <p:sp>
        <p:nvSpPr>
          <p:cNvPr id="19" name="Text 17"/>
          <p:cNvSpPr/>
          <p:nvPr/>
        </p:nvSpPr>
        <p:spPr>
          <a:xfrm>
            <a:off x="5586984" y="2606040"/>
            <a:ext cx="1060704" cy="868680"/>
          </a:xfrm>
          <a:prstGeom prst="rect">
            <a:avLst/>
          </a:prstGeom>
          <a:noFill/>
          <a:ln/>
        </p:spPr>
        <p:txBody>
          <a:bodyPr wrap="square" lIns="0" tIns="0" rIns="0" bIns="0" rtlCol="0" anchor="ctr"/>
          <a:lstStyle/>
          <a:p>
            <a:pPr marL="0" indent="0" algn="ctr">
              <a:lnSpc>
                <a:spcPts val="1313"/>
              </a:lnSpc>
              <a:buNone/>
            </a:pPr>
            <a:r>
              <a:rPr lang="en-US" sz="1050" b="1" dirty="0">
                <a:solidFill>
                  <a:srgbClr val="111111"/>
                </a:solidFill>
                <a:latin typeface="Arial" pitchFamily="34" charset="0"/>
                <a:ea typeface="Arial" pitchFamily="34" charset="-122"/>
                <a:cs typeface="Arial" pitchFamily="34" charset="-120"/>
              </a:rPr>
              <a:t>C-VAE</a:t>
            </a:r>
            <a:endParaRPr lang="en-US" sz="1050" dirty="0"/>
          </a:p>
        </p:txBody>
      </p:sp>
      <p:sp>
        <p:nvSpPr>
          <p:cNvPr id="20" name="Shape 18"/>
          <p:cNvSpPr/>
          <p:nvPr/>
        </p:nvSpPr>
        <p:spPr>
          <a:xfrm>
            <a:off x="6757416" y="2926080"/>
            <a:ext cx="164592" cy="237744"/>
          </a:xfrm>
          <a:prstGeom prst="rightArrow">
            <a:avLst/>
          </a:prstGeom>
          <a:solidFill>
            <a:srgbClr val="111111"/>
          </a:solidFill>
          <a:ln w="12700">
            <a:solidFill>
              <a:srgbClr val="333333"/>
            </a:solidFill>
            <a:prstDash val="solid"/>
          </a:ln>
        </p:spPr>
        <p:txBody>
          <a:bodyPr/>
          <a:p/>
        </p:txBody>
      </p:sp>
      <p:sp>
        <p:nvSpPr>
          <p:cNvPr id="21" name="Shape 19"/>
          <p:cNvSpPr/>
          <p:nvPr/>
        </p:nvSpPr>
        <p:spPr>
          <a:xfrm>
            <a:off x="6940296" y="2606040"/>
            <a:ext cx="1207008" cy="868680"/>
          </a:xfrm>
          <a:prstGeom prst="roundRect">
            <a:avLst>
              <a:gd name="adj" fmla="val 8421"/>
            </a:avLst>
          </a:prstGeom>
          <a:solidFill>
            <a:srgbClr val="FFFFFF"/>
          </a:solidFill>
          <a:ln w="12700">
            <a:solidFill>
              <a:srgbClr val="333333"/>
            </a:solidFill>
            <a:prstDash val="solid"/>
          </a:ln>
        </p:spPr>
        <p:txBody>
          <a:bodyPr/>
          <a:p/>
        </p:txBody>
      </p:sp>
      <p:sp>
        <p:nvSpPr>
          <p:cNvPr id="22" name="Text 20"/>
          <p:cNvSpPr/>
          <p:nvPr/>
        </p:nvSpPr>
        <p:spPr>
          <a:xfrm>
            <a:off x="7013448" y="2606040"/>
            <a:ext cx="1060704" cy="868680"/>
          </a:xfrm>
          <a:prstGeom prst="rect">
            <a:avLst/>
          </a:prstGeom>
          <a:noFill/>
          <a:ln/>
        </p:spPr>
        <p:txBody>
          <a:bodyPr wrap="square" lIns="0" tIns="0" rIns="0" bIns="0" rtlCol="0" anchor="ctr"/>
          <a:lstStyle/>
          <a:p>
            <a:pPr marL="0" indent="0" algn="ctr">
              <a:lnSpc>
                <a:spcPts val="1313"/>
              </a:lnSpc>
              <a:buNone/>
            </a:pPr>
            <a:r>
              <a:rPr lang="en-US" sz="1050" b="1" dirty="0">
                <a:solidFill>
                  <a:srgbClr val="111111"/>
                </a:solidFill>
                <a:latin typeface="Arial" pitchFamily="34" charset="0"/>
                <a:ea typeface="Arial" pitchFamily="34" charset="-122"/>
                <a:cs typeface="Arial" pitchFamily="34" charset="-120"/>
              </a:rPr>
              <a:t>Conditioning</a:t>
            </a:r>
            <a:endParaRPr lang="en-US" sz="1050" dirty="0"/>
          </a:p>
          <a:p>
            <a:pPr marL="0" indent="0" algn="ctr">
              <a:lnSpc>
                <a:spcPts val="1313"/>
              </a:lnSpc>
              <a:buNone/>
            </a:pPr>
            <a:r>
              <a:rPr lang="en-US" sz="1050" b="1" dirty="0">
                <a:solidFill>
                  <a:srgbClr val="111111"/>
                </a:solidFill>
                <a:latin typeface="Arial" pitchFamily="34" charset="0"/>
                <a:ea typeface="Arial" pitchFamily="34" charset="-122"/>
                <a:cs typeface="Arial" pitchFamily="34" charset="-120"/>
              </a:rPr>
              <a:t>validation</a:t>
            </a:r>
            <a:endParaRPr lang="en-US" sz="1050" dirty="0"/>
          </a:p>
        </p:txBody>
      </p:sp>
      <p:sp>
        <p:nvSpPr>
          <p:cNvPr id="23" name="Shape 21"/>
          <p:cNvSpPr/>
          <p:nvPr/>
        </p:nvSpPr>
        <p:spPr>
          <a:xfrm>
            <a:off x="8183880" y="2926080"/>
            <a:ext cx="164592" cy="237744"/>
          </a:xfrm>
          <a:prstGeom prst="rightArrow">
            <a:avLst/>
          </a:prstGeom>
          <a:solidFill>
            <a:srgbClr val="111111"/>
          </a:solidFill>
          <a:ln w="12700">
            <a:solidFill>
              <a:srgbClr val="333333"/>
            </a:solidFill>
            <a:prstDash val="solid"/>
          </a:ln>
        </p:spPr>
        <p:txBody>
          <a:bodyPr/>
          <a:p/>
        </p:txBody>
      </p:sp>
      <p:sp>
        <p:nvSpPr>
          <p:cNvPr id="24" name="Shape 22"/>
          <p:cNvSpPr/>
          <p:nvPr/>
        </p:nvSpPr>
        <p:spPr>
          <a:xfrm>
            <a:off x="8366760" y="2606040"/>
            <a:ext cx="1207008" cy="868680"/>
          </a:xfrm>
          <a:prstGeom prst="roundRect">
            <a:avLst>
              <a:gd name="adj" fmla="val 8421"/>
            </a:avLst>
          </a:prstGeom>
          <a:solidFill>
            <a:srgbClr val="FFFFFF"/>
          </a:solidFill>
          <a:ln w="12700">
            <a:solidFill>
              <a:srgbClr val="333333"/>
            </a:solidFill>
            <a:prstDash val="solid"/>
          </a:ln>
        </p:spPr>
        <p:txBody>
          <a:bodyPr/>
          <a:p/>
        </p:txBody>
      </p:sp>
      <p:sp>
        <p:nvSpPr>
          <p:cNvPr id="25" name="Text 23"/>
          <p:cNvSpPr/>
          <p:nvPr/>
        </p:nvSpPr>
        <p:spPr>
          <a:xfrm>
            <a:off x="8439912" y="2606040"/>
            <a:ext cx="1060704" cy="868680"/>
          </a:xfrm>
          <a:prstGeom prst="rect">
            <a:avLst/>
          </a:prstGeom>
          <a:noFill/>
          <a:ln/>
        </p:spPr>
        <p:txBody>
          <a:bodyPr wrap="square" lIns="0" tIns="0" rIns="0" bIns="0" rtlCol="0" anchor="ctr"/>
          <a:lstStyle/>
          <a:p>
            <a:pPr marL="0" indent="0" algn="ctr">
              <a:lnSpc>
                <a:spcPts val="1313"/>
              </a:lnSpc>
              <a:buNone/>
            </a:pPr>
            <a:r>
              <a:rPr lang="en-US" sz="1050" b="1" dirty="0">
                <a:solidFill>
                  <a:srgbClr val="111111"/>
                </a:solidFill>
                <a:latin typeface="Arial" pitchFamily="34" charset="0"/>
                <a:ea typeface="Arial" pitchFamily="34" charset="-122"/>
                <a:cs typeface="Arial" pitchFamily="34" charset="-120"/>
              </a:rPr>
              <a:t>RAG</a:t>
            </a:r>
            <a:endParaRPr lang="en-US" sz="1050" dirty="0"/>
          </a:p>
        </p:txBody>
      </p:sp>
      <p:sp>
        <p:nvSpPr>
          <p:cNvPr id="26" name="Shape 24"/>
          <p:cNvSpPr/>
          <p:nvPr/>
        </p:nvSpPr>
        <p:spPr>
          <a:xfrm>
            <a:off x="9610344" y="2926080"/>
            <a:ext cx="164592" cy="237744"/>
          </a:xfrm>
          <a:prstGeom prst="rightArrow">
            <a:avLst/>
          </a:prstGeom>
          <a:solidFill>
            <a:srgbClr val="111111"/>
          </a:solidFill>
          <a:ln w="12700">
            <a:solidFill>
              <a:srgbClr val="333333"/>
            </a:solidFill>
            <a:prstDash val="solid"/>
          </a:ln>
        </p:spPr>
        <p:txBody>
          <a:bodyPr/>
          <a:p/>
        </p:txBody>
      </p:sp>
      <p:sp>
        <p:nvSpPr>
          <p:cNvPr id="27" name="Shape 25"/>
          <p:cNvSpPr/>
          <p:nvPr/>
        </p:nvSpPr>
        <p:spPr>
          <a:xfrm>
            <a:off x="9793224" y="2606040"/>
            <a:ext cx="1207008" cy="868680"/>
          </a:xfrm>
          <a:prstGeom prst="roundRect">
            <a:avLst>
              <a:gd name="adj" fmla="val 8421"/>
            </a:avLst>
          </a:prstGeom>
          <a:solidFill>
            <a:srgbClr val="FFFFFF"/>
          </a:solidFill>
          <a:ln w="12700">
            <a:solidFill>
              <a:srgbClr val="333333"/>
            </a:solidFill>
            <a:prstDash val="solid"/>
          </a:ln>
        </p:spPr>
        <p:txBody>
          <a:bodyPr/>
          <a:p/>
        </p:txBody>
      </p:sp>
      <p:sp>
        <p:nvSpPr>
          <p:cNvPr id="28" name="Text 26"/>
          <p:cNvSpPr/>
          <p:nvPr/>
        </p:nvSpPr>
        <p:spPr>
          <a:xfrm>
            <a:off x="9866376" y="2606040"/>
            <a:ext cx="1060704" cy="868680"/>
          </a:xfrm>
          <a:prstGeom prst="rect">
            <a:avLst/>
          </a:prstGeom>
          <a:noFill/>
          <a:ln/>
        </p:spPr>
        <p:txBody>
          <a:bodyPr wrap="square" lIns="0" tIns="0" rIns="0" bIns="0" rtlCol="0" anchor="ctr"/>
          <a:lstStyle/>
          <a:p>
            <a:pPr marL="0" indent="0" algn="ctr">
              <a:lnSpc>
                <a:spcPts val="1313"/>
              </a:lnSpc>
              <a:buNone/>
            </a:pPr>
            <a:r>
              <a:rPr lang="en-US" sz="1050" b="1" dirty="0">
                <a:solidFill>
                  <a:srgbClr val="111111"/>
                </a:solidFill>
                <a:latin typeface="Arial" pitchFamily="34" charset="0"/>
                <a:ea typeface="Arial" pitchFamily="34" charset="-122"/>
                <a:cs typeface="Arial" pitchFamily="34" charset="-120"/>
              </a:rPr>
              <a:t>Closed</a:t>
            </a:r>
            <a:endParaRPr lang="en-US" sz="1050" dirty="0"/>
          </a:p>
          <a:p>
            <a:pPr marL="0" indent="0" algn="ctr">
              <a:lnSpc>
                <a:spcPts val="1313"/>
              </a:lnSpc>
              <a:buNone/>
            </a:pPr>
            <a:r>
              <a:rPr lang="en-US" sz="1050" b="1" dirty="0">
                <a:solidFill>
                  <a:srgbClr val="111111"/>
                </a:solidFill>
                <a:latin typeface="Arial" pitchFamily="34" charset="0"/>
                <a:ea typeface="Arial" pitchFamily="34" charset="-122"/>
                <a:cs typeface="Arial" pitchFamily="34" charset="-120"/>
              </a:rPr>
              <a:t>loop</a:t>
            </a:r>
            <a:endParaRPr lang="en-US" sz="1050" dirty="0"/>
          </a:p>
        </p:txBody>
      </p:sp>
      <p:sp>
        <p:nvSpPr>
          <p:cNvPr id="29" name="Shape 27"/>
          <p:cNvSpPr/>
          <p:nvPr/>
        </p:nvSpPr>
        <p:spPr>
          <a:xfrm>
            <a:off x="960120" y="3977640"/>
            <a:ext cx="10241280" cy="1600200"/>
          </a:xfrm>
          <a:prstGeom prst="roundRect">
            <a:avLst>
              <a:gd name="adj" fmla="val 4571"/>
            </a:avLst>
          </a:prstGeom>
          <a:solidFill>
            <a:srgbClr val="E3EDF8"/>
          </a:solidFill>
          <a:ln w="12700">
            <a:solidFill>
              <a:srgbClr val="333333"/>
            </a:solidFill>
            <a:prstDash val="solid"/>
          </a:ln>
        </p:spPr>
        <p:txBody>
          <a:bodyPr/>
          <a:p/>
        </p:txBody>
      </p:sp>
      <p:sp>
        <p:nvSpPr>
          <p:cNvPr id="30" name="Text 28"/>
          <p:cNvSpPr/>
          <p:nvPr/>
        </p:nvSpPr>
        <p:spPr>
          <a:xfrm>
            <a:off x="1234440" y="4114800"/>
            <a:ext cx="5486400" cy="274320"/>
          </a:xfrm>
          <a:prstGeom prst="rect">
            <a:avLst/>
          </a:prstGeom>
          <a:noFill/>
          <a:ln/>
        </p:spPr>
        <p:txBody>
          <a:bodyPr wrap="square" lIns="0" tIns="0" rIns="0" bIns="0" rtlCol="0" anchor="ctr"/>
          <a:lstStyle/>
          <a:p>
            <a:pPr marL="0" indent="0">
              <a:buNone/>
            </a:pPr>
            <a:r>
              <a:rPr lang="en-US" sz="1150" b="1" dirty="0">
                <a:solidFill>
                  <a:srgbClr val="1B4F8A"/>
                </a:solidFill>
                <a:latin typeface="Arial" pitchFamily="34" charset="0"/>
                <a:ea typeface="Arial" pitchFamily="34" charset="-122"/>
                <a:cs typeface="Arial" pitchFamily="34" charset="-120"/>
              </a:rPr>
              <a:t>FINAL USER FLOW  (how it runs)</a:t>
            </a:r>
            <a:endParaRPr lang="en-US" sz="1150" dirty="0"/>
          </a:p>
        </p:txBody>
      </p:sp>
      <p:sp>
        <p:nvSpPr>
          <p:cNvPr id="31" name="Shape 29"/>
          <p:cNvSpPr/>
          <p:nvPr/>
        </p:nvSpPr>
        <p:spPr>
          <a:xfrm>
            <a:off x="1417320" y="4480560"/>
            <a:ext cx="1691640" cy="777240"/>
          </a:xfrm>
          <a:prstGeom prst="roundRect">
            <a:avLst>
              <a:gd name="adj" fmla="val 9412"/>
            </a:avLst>
          </a:prstGeom>
          <a:solidFill>
            <a:srgbClr val="FFFFFF"/>
          </a:solidFill>
          <a:ln w="12700">
            <a:solidFill>
              <a:srgbClr val="333333"/>
            </a:solidFill>
            <a:prstDash val="solid"/>
          </a:ln>
        </p:spPr>
        <p:txBody>
          <a:bodyPr/>
          <a:p/>
        </p:txBody>
      </p:sp>
      <p:sp>
        <p:nvSpPr>
          <p:cNvPr id="32" name="Text 30"/>
          <p:cNvSpPr/>
          <p:nvPr/>
        </p:nvSpPr>
        <p:spPr>
          <a:xfrm>
            <a:off x="1490472" y="4480560"/>
            <a:ext cx="1545336" cy="777240"/>
          </a:xfrm>
          <a:prstGeom prst="rect">
            <a:avLst/>
          </a:prstGeom>
          <a:noFill/>
          <a:ln/>
        </p:spPr>
        <p:txBody>
          <a:bodyPr wrap="square" lIns="0" tIns="0" rIns="0" bIns="0" rtlCol="0" anchor="ctr"/>
          <a:lstStyle/>
          <a:p>
            <a:pPr marL="0" indent="0" algn="ctr">
              <a:lnSpc>
                <a:spcPts val="1500"/>
              </a:lnSpc>
              <a:buNone/>
            </a:pPr>
            <a:r>
              <a:rPr lang="en-US" sz="1200" b="1" dirty="0">
                <a:solidFill>
                  <a:srgbClr val="111111"/>
                </a:solidFill>
                <a:latin typeface="Arial" pitchFamily="34" charset="0"/>
                <a:ea typeface="Arial" pitchFamily="34" charset="-122"/>
                <a:cs typeface="Arial" pitchFamily="34" charset="-120"/>
              </a:rPr>
              <a:t>Human</a:t>
            </a:r>
            <a:endParaRPr lang="en-US" sz="1200" dirty="0"/>
          </a:p>
        </p:txBody>
      </p:sp>
      <p:sp>
        <p:nvSpPr>
          <p:cNvPr id="33" name="Shape 31"/>
          <p:cNvSpPr/>
          <p:nvPr/>
        </p:nvSpPr>
        <p:spPr>
          <a:xfrm>
            <a:off x="3154680" y="4754880"/>
            <a:ext cx="219456" cy="237744"/>
          </a:xfrm>
          <a:prstGeom prst="rightArrow">
            <a:avLst/>
          </a:prstGeom>
          <a:solidFill>
            <a:srgbClr val="111111"/>
          </a:solidFill>
          <a:ln w="12700">
            <a:solidFill>
              <a:srgbClr val="333333"/>
            </a:solidFill>
            <a:prstDash val="solid"/>
          </a:ln>
        </p:spPr>
        <p:txBody>
          <a:bodyPr/>
          <a:p/>
        </p:txBody>
      </p:sp>
      <p:sp>
        <p:nvSpPr>
          <p:cNvPr id="34" name="Shape 32"/>
          <p:cNvSpPr/>
          <p:nvPr/>
        </p:nvSpPr>
        <p:spPr>
          <a:xfrm>
            <a:off x="3429000" y="4480560"/>
            <a:ext cx="1691640" cy="777240"/>
          </a:xfrm>
          <a:prstGeom prst="roundRect">
            <a:avLst>
              <a:gd name="adj" fmla="val 9412"/>
            </a:avLst>
          </a:prstGeom>
          <a:solidFill>
            <a:srgbClr val="FFFFFF"/>
          </a:solidFill>
          <a:ln w="12700">
            <a:solidFill>
              <a:srgbClr val="333333"/>
            </a:solidFill>
            <a:prstDash val="solid"/>
          </a:ln>
        </p:spPr>
        <p:txBody>
          <a:bodyPr/>
          <a:p/>
        </p:txBody>
      </p:sp>
      <p:sp>
        <p:nvSpPr>
          <p:cNvPr id="35" name="Text 33"/>
          <p:cNvSpPr/>
          <p:nvPr/>
        </p:nvSpPr>
        <p:spPr>
          <a:xfrm>
            <a:off x="3502152" y="4480560"/>
            <a:ext cx="1545336" cy="777240"/>
          </a:xfrm>
          <a:prstGeom prst="rect">
            <a:avLst/>
          </a:prstGeom>
          <a:noFill/>
          <a:ln/>
        </p:spPr>
        <p:txBody>
          <a:bodyPr wrap="square" lIns="0" tIns="0" rIns="0" bIns="0" rtlCol="0" anchor="ctr"/>
          <a:lstStyle/>
          <a:p>
            <a:pPr marL="0" indent="0" algn="ctr">
              <a:lnSpc>
                <a:spcPts val="1500"/>
              </a:lnSpc>
              <a:buNone/>
            </a:pPr>
            <a:r>
              <a:rPr lang="en-US" sz="1200" b="1" dirty="0">
                <a:solidFill>
                  <a:srgbClr val="111111"/>
                </a:solidFill>
                <a:latin typeface="Arial" pitchFamily="34" charset="0"/>
                <a:ea typeface="Arial" pitchFamily="34" charset="-122"/>
                <a:cs typeface="Arial" pitchFamily="34" charset="-120"/>
              </a:rPr>
              <a:t>RAG</a:t>
            </a:r>
            <a:endParaRPr lang="en-US" sz="1200" dirty="0"/>
          </a:p>
        </p:txBody>
      </p:sp>
      <p:sp>
        <p:nvSpPr>
          <p:cNvPr id="36" name="Shape 34"/>
          <p:cNvSpPr/>
          <p:nvPr/>
        </p:nvSpPr>
        <p:spPr>
          <a:xfrm>
            <a:off x="5166360" y="4754880"/>
            <a:ext cx="219456" cy="237744"/>
          </a:xfrm>
          <a:prstGeom prst="rightArrow">
            <a:avLst/>
          </a:prstGeom>
          <a:solidFill>
            <a:srgbClr val="111111"/>
          </a:solidFill>
          <a:ln w="12700">
            <a:solidFill>
              <a:srgbClr val="333333"/>
            </a:solidFill>
            <a:prstDash val="solid"/>
          </a:ln>
        </p:spPr>
        <p:txBody>
          <a:bodyPr/>
          <a:p/>
        </p:txBody>
      </p:sp>
      <p:sp>
        <p:nvSpPr>
          <p:cNvPr id="37" name="Shape 35"/>
          <p:cNvSpPr/>
          <p:nvPr/>
        </p:nvSpPr>
        <p:spPr>
          <a:xfrm>
            <a:off x="5440680" y="4480560"/>
            <a:ext cx="1691640" cy="777240"/>
          </a:xfrm>
          <a:prstGeom prst="roundRect">
            <a:avLst>
              <a:gd name="adj" fmla="val 9412"/>
            </a:avLst>
          </a:prstGeom>
          <a:solidFill>
            <a:srgbClr val="FFFFFF"/>
          </a:solidFill>
          <a:ln w="12700">
            <a:solidFill>
              <a:srgbClr val="333333"/>
            </a:solidFill>
            <a:prstDash val="solid"/>
          </a:ln>
        </p:spPr>
        <p:txBody>
          <a:bodyPr/>
          <a:p/>
        </p:txBody>
      </p:sp>
      <p:sp>
        <p:nvSpPr>
          <p:cNvPr id="38" name="Text 36"/>
          <p:cNvSpPr/>
          <p:nvPr/>
        </p:nvSpPr>
        <p:spPr>
          <a:xfrm>
            <a:off x="5513832" y="4480560"/>
            <a:ext cx="1545336" cy="777240"/>
          </a:xfrm>
          <a:prstGeom prst="rect">
            <a:avLst/>
          </a:prstGeom>
          <a:noFill/>
          <a:ln/>
        </p:spPr>
        <p:txBody>
          <a:bodyPr wrap="square" lIns="0" tIns="0" rIns="0" bIns="0" rtlCol="0" anchor="ctr"/>
          <a:lstStyle/>
          <a:p>
            <a:pPr marL="0" indent="0" algn="ctr">
              <a:lnSpc>
                <a:spcPts val="1500"/>
              </a:lnSpc>
              <a:buNone/>
            </a:pPr>
            <a:r>
              <a:rPr lang="en-US" sz="1200" b="1" dirty="0">
                <a:solidFill>
                  <a:srgbClr val="111111"/>
                </a:solidFill>
                <a:latin typeface="Arial" pitchFamily="34" charset="0"/>
                <a:ea typeface="Arial" pitchFamily="34" charset="-122"/>
                <a:cs typeface="Arial" pitchFamily="34" charset="-120"/>
              </a:rPr>
              <a:t>C-VAE</a:t>
            </a:r>
            <a:endParaRPr lang="en-US" sz="1200" dirty="0"/>
          </a:p>
        </p:txBody>
      </p:sp>
      <p:sp>
        <p:nvSpPr>
          <p:cNvPr id="39" name="Shape 37"/>
          <p:cNvSpPr/>
          <p:nvPr/>
        </p:nvSpPr>
        <p:spPr>
          <a:xfrm>
            <a:off x="7178040" y="4754880"/>
            <a:ext cx="219456" cy="237744"/>
          </a:xfrm>
          <a:prstGeom prst="rightArrow">
            <a:avLst/>
          </a:prstGeom>
          <a:solidFill>
            <a:srgbClr val="111111"/>
          </a:solidFill>
          <a:ln w="12700">
            <a:solidFill>
              <a:srgbClr val="333333"/>
            </a:solidFill>
            <a:prstDash val="solid"/>
          </a:ln>
        </p:spPr>
        <p:txBody>
          <a:bodyPr/>
          <a:p/>
        </p:txBody>
      </p:sp>
      <p:sp>
        <p:nvSpPr>
          <p:cNvPr id="40" name="Shape 38"/>
          <p:cNvSpPr/>
          <p:nvPr/>
        </p:nvSpPr>
        <p:spPr>
          <a:xfrm>
            <a:off x="7452360" y="4480560"/>
            <a:ext cx="1691640" cy="777240"/>
          </a:xfrm>
          <a:prstGeom prst="roundRect">
            <a:avLst>
              <a:gd name="adj" fmla="val 9412"/>
            </a:avLst>
          </a:prstGeom>
          <a:solidFill>
            <a:srgbClr val="FFFFFF"/>
          </a:solidFill>
          <a:ln w="12700">
            <a:solidFill>
              <a:srgbClr val="333333"/>
            </a:solidFill>
            <a:prstDash val="solid"/>
          </a:ln>
        </p:spPr>
        <p:txBody>
          <a:bodyPr/>
          <a:p/>
        </p:txBody>
      </p:sp>
      <p:sp>
        <p:nvSpPr>
          <p:cNvPr id="41" name="Text 39"/>
          <p:cNvSpPr/>
          <p:nvPr/>
        </p:nvSpPr>
        <p:spPr>
          <a:xfrm>
            <a:off x="7525512" y="4480560"/>
            <a:ext cx="1545336" cy="777240"/>
          </a:xfrm>
          <a:prstGeom prst="rect">
            <a:avLst/>
          </a:prstGeom>
          <a:noFill/>
          <a:ln/>
        </p:spPr>
        <p:txBody>
          <a:bodyPr wrap="square" lIns="0" tIns="0" rIns="0" bIns="0" rtlCol="0" anchor="ctr"/>
          <a:lstStyle/>
          <a:p>
            <a:pPr marL="0" indent="0" algn="ctr">
              <a:lnSpc>
                <a:spcPts val="1500"/>
              </a:lnSpc>
              <a:buNone/>
            </a:pPr>
            <a:r>
              <a:rPr lang="en-US" sz="1200" b="1" dirty="0">
                <a:solidFill>
                  <a:srgbClr val="111111"/>
                </a:solidFill>
                <a:latin typeface="Arial" pitchFamily="34" charset="0"/>
                <a:ea typeface="Arial" pitchFamily="34" charset="-122"/>
                <a:cs typeface="Arial" pitchFamily="34" charset="-120"/>
              </a:rPr>
              <a:t>Oracle</a:t>
            </a:r>
            <a:endParaRPr lang="en-US" sz="1200" dirty="0"/>
          </a:p>
        </p:txBody>
      </p:sp>
      <p:sp>
        <p:nvSpPr>
          <p:cNvPr id="42" name="Shape 40"/>
          <p:cNvSpPr/>
          <p:nvPr/>
        </p:nvSpPr>
        <p:spPr>
          <a:xfrm>
            <a:off x="9189720" y="4754880"/>
            <a:ext cx="219456" cy="237744"/>
          </a:xfrm>
          <a:prstGeom prst="rightArrow">
            <a:avLst/>
          </a:prstGeom>
          <a:solidFill>
            <a:srgbClr val="111111"/>
          </a:solidFill>
          <a:ln w="12700">
            <a:solidFill>
              <a:srgbClr val="333333"/>
            </a:solidFill>
            <a:prstDash val="solid"/>
          </a:ln>
        </p:spPr>
        <p:txBody>
          <a:bodyPr/>
          <a:p/>
        </p:txBody>
      </p:sp>
      <p:sp>
        <p:nvSpPr>
          <p:cNvPr id="43" name="Shape 41"/>
          <p:cNvSpPr/>
          <p:nvPr/>
        </p:nvSpPr>
        <p:spPr>
          <a:xfrm>
            <a:off x="9464040" y="4480560"/>
            <a:ext cx="1691640" cy="777240"/>
          </a:xfrm>
          <a:prstGeom prst="roundRect">
            <a:avLst>
              <a:gd name="adj" fmla="val 9412"/>
            </a:avLst>
          </a:prstGeom>
          <a:solidFill>
            <a:srgbClr val="FFFFFF"/>
          </a:solidFill>
          <a:ln w="12700">
            <a:solidFill>
              <a:srgbClr val="333333"/>
            </a:solidFill>
            <a:prstDash val="solid"/>
          </a:ln>
        </p:spPr>
        <p:txBody>
          <a:bodyPr/>
          <a:p/>
        </p:txBody>
      </p:sp>
      <p:sp>
        <p:nvSpPr>
          <p:cNvPr id="44" name="Text 42"/>
          <p:cNvSpPr/>
          <p:nvPr/>
        </p:nvSpPr>
        <p:spPr>
          <a:xfrm>
            <a:off x="9537192" y="4480560"/>
            <a:ext cx="1545336" cy="777240"/>
          </a:xfrm>
          <a:prstGeom prst="rect">
            <a:avLst/>
          </a:prstGeom>
          <a:noFill/>
          <a:ln/>
        </p:spPr>
        <p:txBody>
          <a:bodyPr wrap="square" lIns="0" tIns="0" rIns="0" bIns="0" rtlCol="0" anchor="ctr"/>
          <a:lstStyle/>
          <a:p>
            <a:pPr marL="0" indent="0" algn="ctr">
              <a:lnSpc>
                <a:spcPts val="1500"/>
              </a:lnSpc>
              <a:buNone/>
            </a:pPr>
            <a:r>
              <a:rPr lang="en-US" sz="1200" b="1" dirty="0">
                <a:solidFill>
                  <a:srgbClr val="111111"/>
                </a:solidFill>
                <a:latin typeface="Arial" pitchFamily="34" charset="0"/>
                <a:ea typeface="Arial" pitchFamily="34" charset="-122"/>
                <a:cs typeface="Arial" pitchFamily="34" charset="-120"/>
              </a:rPr>
              <a:t>Accept /</a:t>
            </a:r>
            <a:endParaRPr lang="en-US" sz="1200" dirty="0"/>
          </a:p>
          <a:p>
            <a:pPr marL="0" indent="0" algn="ctr">
              <a:lnSpc>
                <a:spcPts val="1500"/>
              </a:lnSpc>
              <a:buNone/>
            </a:pPr>
            <a:r>
              <a:rPr lang="en-US" sz="1200" b="1" dirty="0">
                <a:solidFill>
                  <a:srgbClr val="111111"/>
                </a:solidFill>
                <a:latin typeface="Arial" pitchFamily="34" charset="0"/>
                <a:ea typeface="Arial" pitchFamily="34" charset="-122"/>
                <a:cs typeface="Arial" pitchFamily="34" charset="-120"/>
              </a:rPr>
              <a:t>Reject</a:t>
            </a:r>
            <a:endParaRPr lang="en-US" sz="1200" dirty="0"/>
          </a:p>
        </p:txBody>
      </p:sp>
      <p:sp>
        <p:nvSpPr>
          <p:cNvPr id="45" name="Text 43"/>
          <p:cNvSpPr/>
          <p:nvPr/>
        </p:nvSpPr>
        <p:spPr>
          <a:xfrm>
            <a:off x="960120" y="5715000"/>
            <a:ext cx="10241280" cy="320040"/>
          </a:xfrm>
          <a:prstGeom prst="rect">
            <a:avLst/>
          </a:prstGeom>
          <a:noFill/>
          <a:ln/>
        </p:spPr>
        <p:txBody>
          <a:bodyPr wrap="square" lIns="0" tIns="0" rIns="0" bIns="0" rtlCol="0" anchor="ctr"/>
          <a:lstStyle/>
          <a:p>
            <a:pPr marL="0" indent="0" algn="ctr">
              <a:buNone/>
            </a:pP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6  ·  METHODOLOGY</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Molecular Representation</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10</a:t>
            </a:r>
            <a:endParaRPr lang="en-US" sz="1000" dirty="0"/>
          </a:p>
        </p:txBody>
      </p:sp>
      <p:sp>
        <p:nvSpPr>
          <p:cNvPr id="6" name="Shape 4"/>
          <p:cNvSpPr/>
          <p:nvPr/>
        </p:nvSpPr>
        <p:spPr>
          <a:xfrm>
            <a:off x="960120" y="1691640"/>
            <a:ext cx="4846320" cy="1371600"/>
          </a:xfrm>
          <a:prstGeom prst="roundRect">
            <a:avLst>
              <a:gd name="adj" fmla="val 5333"/>
            </a:avLst>
          </a:prstGeom>
          <a:solidFill>
            <a:srgbClr val="ECECEC"/>
          </a:solidFill>
          <a:ln w="12700">
            <a:solidFill>
              <a:srgbClr val="333333"/>
            </a:solidFill>
            <a:prstDash val="solid"/>
          </a:ln>
        </p:spPr>
        <p:txBody>
          <a:bodyPr/>
          <a:p/>
        </p:txBody>
      </p:sp>
      <p:sp>
        <p:nvSpPr>
          <p:cNvPr id="7" name="Text 5"/>
          <p:cNvSpPr/>
          <p:nvPr/>
        </p:nvSpPr>
        <p:spPr>
          <a:xfrm>
            <a:off x="1234440" y="1810512"/>
            <a:ext cx="4297680" cy="274320"/>
          </a:xfrm>
          <a:prstGeom prst="rect">
            <a:avLst/>
          </a:prstGeom>
          <a:noFill/>
          <a:ln/>
        </p:spPr>
        <p:txBody>
          <a:bodyPr wrap="square" lIns="0" tIns="0" rIns="0" bIns="0" rtlCol="0" anchor="ctr"/>
          <a:lstStyle/>
          <a:p>
            <a:pPr marL="0" indent="0">
              <a:buNone/>
            </a:pPr>
            <a:r>
              <a:rPr lang="en-US" sz="1200" b="1" dirty="0">
                <a:solidFill>
                  <a:srgbClr val="5C5C5C"/>
                </a:solidFill>
                <a:latin typeface="Arial" pitchFamily="34" charset="0"/>
                <a:ea typeface="Arial" pitchFamily="34" charset="-122"/>
                <a:cs typeface="Arial" pitchFamily="34" charset="-120"/>
              </a:rPr>
              <a:t>Polymer repeat unit</a:t>
            </a:r>
            <a:endParaRPr lang="en-US" sz="1200" dirty="0"/>
          </a:p>
        </p:txBody>
      </p:sp>
      <p:sp>
        <p:nvSpPr>
          <p:cNvPr id="8" name="Text 6"/>
          <p:cNvSpPr/>
          <p:nvPr/>
        </p:nvSpPr>
        <p:spPr>
          <a:xfrm>
            <a:off x="1234440" y="2103120"/>
            <a:ext cx="1828800" cy="548640"/>
          </a:xfrm>
          <a:prstGeom prst="rect">
            <a:avLst/>
          </a:prstGeom>
          <a:noFill/>
          <a:ln/>
        </p:spPr>
        <p:txBody>
          <a:bodyPr wrap="square" lIns="0" tIns="0" rIns="0" bIns="0" rtlCol="0" anchor="ctr"/>
          <a:lstStyle/>
          <a:p>
            <a:pPr marL="0" indent="0">
              <a:buNone/>
            </a:pPr>
            <a:r>
              <a:rPr lang="en-US" sz="2600" b="1" dirty="0">
                <a:solidFill>
                  <a:srgbClr val="111111"/>
                </a:solidFill>
                <a:latin typeface="Courier New" pitchFamily="34" charset="0"/>
                <a:ea typeface="Courier New" pitchFamily="34" charset="-122"/>
                <a:cs typeface="Courier New" pitchFamily="34" charset="-120"/>
              </a:rPr>
              <a:t>*CC*</a:t>
            </a:r>
            <a:endParaRPr lang="en-US" sz="2600" dirty="0"/>
          </a:p>
        </p:txBody>
      </p:sp>
      <p:sp>
        <p:nvSpPr>
          <p:cNvPr id="9" name="Text 7"/>
          <p:cNvSpPr/>
          <p:nvPr/>
        </p:nvSpPr>
        <p:spPr>
          <a:xfrm>
            <a:off x="3017520" y="2121408"/>
            <a:ext cx="2606040" cy="548640"/>
          </a:xfrm>
          <a:prstGeom prst="rect">
            <a:avLst/>
          </a:prstGeom>
          <a:noFill/>
          <a:ln/>
        </p:spPr>
        <p:txBody>
          <a:bodyPr wrap="square" lIns="0" tIns="0" rIns="0" bIns="0" rtlCol="0" anchor="ctr"/>
          <a:lstStyle/>
          <a:p>
            <a:pPr marL="0" indent="0">
              <a:lnSpc>
                <a:spcPts val="1400"/>
              </a:lnSpc>
              <a:buNone/>
            </a:pPr>
            <a:r>
              <a:rPr lang="en-US" sz="1100" dirty="0">
                <a:solidFill>
                  <a:srgbClr val="2E2E2E"/>
                </a:solidFill>
                <a:latin typeface="Arial" pitchFamily="34" charset="0"/>
                <a:ea typeface="Arial" pitchFamily="34" charset="-122"/>
                <a:cs typeface="Arial" pitchFamily="34" charset="-120"/>
              </a:rPr>
              <a:t>The two * symbols are the chain</a:t>
            </a:r>
            <a:endParaRPr lang="en-US" sz="1100" dirty="0"/>
          </a:p>
          <a:p>
            <a:pPr marL="0" indent="0">
              <a:lnSpc>
                <a:spcPts val="1400"/>
              </a:lnSpc>
              <a:buNone/>
            </a:pPr>
            <a:r>
              <a:rPr lang="en-US" sz="1100" dirty="0">
                <a:solidFill>
                  <a:srgbClr val="2E2E2E"/>
                </a:solidFill>
                <a:latin typeface="Arial" pitchFamily="34" charset="0"/>
                <a:ea typeface="Arial" pitchFamily="34" charset="-122"/>
                <a:cs typeface="Arial" pitchFamily="34" charset="-120"/>
              </a:rPr>
              <a:t>connection points</a:t>
            </a:r>
            <a:endParaRPr lang="en-US" sz="1100" dirty="0"/>
          </a:p>
        </p:txBody>
      </p:sp>
      <p:sp>
        <p:nvSpPr>
          <p:cNvPr id="10" name="Shape 8"/>
          <p:cNvSpPr/>
          <p:nvPr/>
        </p:nvSpPr>
        <p:spPr>
          <a:xfrm>
            <a:off x="6263640" y="1691640"/>
            <a:ext cx="4937760" cy="1371600"/>
          </a:xfrm>
          <a:prstGeom prst="roundRect">
            <a:avLst>
              <a:gd name="adj" fmla="val 5333"/>
            </a:avLst>
          </a:prstGeom>
          <a:solidFill>
            <a:srgbClr val="DCF2E4"/>
          </a:solidFill>
          <a:ln w="12700">
            <a:solidFill>
              <a:srgbClr val="333333"/>
            </a:solidFill>
            <a:prstDash val="solid"/>
          </a:ln>
        </p:spPr>
        <p:txBody>
          <a:bodyPr/>
          <a:p/>
        </p:txBody>
      </p:sp>
      <p:sp>
        <p:nvSpPr>
          <p:cNvPr id="11" name="Text 9"/>
          <p:cNvSpPr/>
          <p:nvPr/>
        </p:nvSpPr>
        <p:spPr>
          <a:xfrm>
            <a:off x="6537960" y="1810512"/>
            <a:ext cx="4389120" cy="292608"/>
          </a:xfrm>
          <a:prstGeom prst="rect">
            <a:avLst/>
          </a:prstGeom>
          <a:noFill/>
          <a:ln/>
        </p:spPr>
        <p:txBody>
          <a:bodyPr wrap="square" lIns="0" tIns="0" rIns="0" bIns="0" rtlCol="0" anchor="ctr"/>
          <a:lstStyle/>
          <a:p>
            <a:pPr marL="0" indent="0">
              <a:buNone/>
            </a:pPr>
            <a:r>
              <a:rPr lang="en-US" sz="1400" b="1" dirty="0">
                <a:solidFill>
                  <a:srgbClr val="156B33"/>
                </a:solidFill>
                <a:latin typeface="Arial" pitchFamily="34" charset="0"/>
                <a:ea typeface="Arial" pitchFamily="34" charset="-122"/>
                <a:cs typeface="Arial" pitchFamily="34" charset="-120"/>
              </a:rPr>
              <a:t>Why SELFIES?</a:t>
            </a:r>
            <a:endParaRPr lang="en-US" sz="1400" dirty="0"/>
          </a:p>
        </p:txBody>
      </p:sp>
      <p:sp>
        <p:nvSpPr>
          <p:cNvPr id="12" name="Text 10"/>
          <p:cNvSpPr/>
          <p:nvPr/>
        </p:nvSpPr>
        <p:spPr>
          <a:xfrm>
            <a:off x="6537960" y="2148840"/>
            <a:ext cx="4389120" cy="777240"/>
          </a:xfrm>
          <a:prstGeom prst="rect">
            <a:avLst/>
          </a:prstGeom>
          <a:noFill/>
          <a:ln/>
        </p:spPr>
        <p:txBody>
          <a:bodyPr wrap="square" lIns="0" tIns="0" rIns="0" bIns="0" rtlCol="0" anchor="ctr"/>
          <a:lstStyle/>
          <a:p>
            <a:pPr marL="0" indent="0">
              <a:lnSpc>
                <a:spcPts val="1600"/>
              </a:lnSpc>
              <a:buNone/>
            </a:pPr>
            <a:r>
              <a:rPr lang="en-US" sz="1200" dirty="0">
                <a:solidFill>
                  <a:srgbClr val="2E2E2E"/>
                </a:solidFill>
                <a:latin typeface="Arial" pitchFamily="34" charset="0"/>
                <a:ea typeface="Arial" pitchFamily="34" charset="-122"/>
                <a:cs typeface="Arial" pitchFamily="34" charset="-120"/>
              </a:rPr>
              <a:t>Every syntactically valid SELFIES string decodes to a valid molecule. The invalid-output failure mode is removed by construction.</a:t>
            </a:r>
            <a:endParaRPr lang="en-US" sz="1200" dirty="0"/>
          </a:p>
        </p:txBody>
      </p:sp>
      <p:sp>
        <p:nvSpPr>
          <p:cNvPr id="13" name="Shape 11"/>
          <p:cNvSpPr/>
          <p:nvPr/>
        </p:nvSpPr>
        <p:spPr>
          <a:xfrm>
            <a:off x="1234440" y="3291840"/>
            <a:ext cx="2148840" cy="685800"/>
          </a:xfrm>
          <a:prstGeom prst="roundRect">
            <a:avLst>
              <a:gd name="adj" fmla="val 10667"/>
            </a:avLst>
          </a:prstGeom>
          <a:solidFill>
            <a:srgbClr val="E3EDF8"/>
          </a:solidFill>
          <a:ln w="12700">
            <a:solidFill>
              <a:srgbClr val="333333"/>
            </a:solidFill>
            <a:prstDash val="solid"/>
          </a:ln>
        </p:spPr>
        <p:txBody>
          <a:bodyPr/>
          <a:p/>
        </p:txBody>
      </p:sp>
      <p:sp>
        <p:nvSpPr>
          <p:cNvPr id="14" name="Text 12"/>
          <p:cNvSpPr/>
          <p:nvPr/>
        </p:nvSpPr>
        <p:spPr>
          <a:xfrm>
            <a:off x="1307592" y="3291840"/>
            <a:ext cx="2002536" cy="685800"/>
          </a:xfrm>
          <a:prstGeom prst="rect">
            <a:avLst/>
          </a:prstGeom>
          <a:noFill/>
          <a:ln/>
        </p:spPr>
        <p:txBody>
          <a:bodyPr wrap="square" lIns="0" tIns="0" rIns="0" bIns="0" rtlCol="0" anchor="ctr"/>
          <a:lstStyle/>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SMILES</a:t>
            </a:r>
            <a:endParaRPr lang="en-US" sz="1250" dirty="0"/>
          </a:p>
        </p:txBody>
      </p:sp>
      <p:sp>
        <p:nvSpPr>
          <p:cNvPr id="15" name="Shape 13"/>
          <p:cNvSpPr/>
          <p:nvPr/>
        </p:nvSpPr>
        <p:spPr>
          <a:xfrm>
            <a:off x="3465576" y="3520440"/>
            <a:ext cx="292608" cy="237744"/>
          </a:xfrm>
          <a:prstGeom prst="rightArrow">
            <a:avLst/>
          </a:prstGeom>
          <a:solidFill>
            <a:srgbClr val="111111"/>
          </a:solidFill>
          <a:ln w="12700">
            <a:solidFill>
              <a:srgbClr val="333333"/>
            </a:solidFill>
            <a:prstDash val="solid"/>
          </a:ln>
        </p:spPr>
        <p:txBody>
          <a:bodyPr/>
          <a:p/>
        </p:txBody>
      </p:sp>
      <p:sp>
        <p:nvSpPr>
          <p:cNvPr id="16" name="Shape 14"/>
          <p:cNvSpPr/>
          <p:nvPr/>
        </p:nvSpPr>
        <p:spPr>
          <a:xfrm>
            <a:off x="3840480" y="3291840"/>
            <a:ext cx="2148840" cy="685800"/>
          </a:xfrm>
          <a:prstGeom prst="roundRect">
            <a:avLst>
              <a:gd name="adj" fmla="val 10667"/>
            </a:avLst>
          </a:prstGeom>
          <a:solidFill>
            <a:srgbClr val="E3EDF8"/>
          </a:solidFill>
          <a:ln w="12700">
            <a:solidFill>
              <a:srgbClr val="333333"/>
            </a:solidFill>
            <a:prstDash val="solid"/>
          </a:ln>
        </p:spPr>
        <p:txBody>
          <a:bodyPr/>
          <a:p/>
        </p:txBody>
      </p:sp>
      <p:sp>
        <p:nvSpPr>
          <p:cNvPr id="17" name="Text 15"/>
          <p:cNvSpPr/>
          <p:nvPr/>
        </p:nvSpPr>
        <p:spPr>
          <a:xfrm>
            <a:off x="3913632" y="3291840"/>
            <a:ext cx="2002536" cy="685800"/>
          </a:xfrm>
          <a:prstGeom prst="rect">
            <a:avLst/>
          </a:prstGeom>
          <a:noFill/>
          <a:ln/>
        </p:spPr>
        <p:txBody>
          <a:bodyPr wrap="square" lIns="0" tIns="0" rIns="0" bIns="0" rtlCol="0" anchor="ctr"/>
          <a:lstStyle/>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SELFIES</a:t>
            </a:r>
            <a:endParaRPr lang="en-US" sz="1250" dirty="0"/>
          </a:p>
        </p:txBody>
      </p:sp>
      <p:sp>
        <p:nvSpPr>
          <p:cNvPr id="18" name="Shape 16"/>
          <p:cNvSpPr/>
          <p:nvPr/>
        </p:nvSpPr>
        <p:spPr>
          <a:xfrm>
            <a:off x="6071616" y="3520440"/>
            <a:ext cx="292608" cy="237744"/>
          </a:xfrm>
          <a:prstGeom prst="rightArrow">
            <a:avLst/>
          </a:prstGeom>
          <a:solidFill>
            <a:srgbClr val="111111"/>
          </a:solidFill>
          <a:ln w="12700">
            <a:solidFill>
              <a:srgbClr val="333333"/>
            </a:solidFill>
            <a:prstDash val="solid"/>
          </a:ln>
        </p:spPr>
        <p:txBody>
          <a:bodyPr/>
          <a:p/>
        </p:txBody>
      </p:sp>
      <p:sp>
        <p:nvSpPr>
          <p:cNvPr id="19" name="Shape 17"/>
          <p:cNvSpPr/>
          <p:nvPr/>
        </p:nvSpPr>
        <p:spPr>
          <a:xfrm>
            <a:off x="6446520" y="3291840"/>
            <a:ext cx="2148840" cy="685800"/>
          </a:xfrm>
          <a:prstGeom prst="roundRect">
            <a:avLst>
              <a:gd name="adj" fmla="val 10667"/>
            </a:avLst>
          </a:prstGeom>
          <a:solidFill>
            <a:srgbClr val="E3EDF8"/>
          </a:solidFill>
          <a:ln w="12700">
            <a:solidFill>
              <a:srgbClr val="333333"/>
            </a:solidFill>
            <a:prstDash val="solid"/>
          </a:ln>
        </p:spPr>
        <p:txBody>
          <a:bodyPr/>
          <a:p/>
        </p:txBody>
      </p:sp>
      <p:sp>
        <p:nvSpPr>
          <p:cNvPr id="20" name="Text 18"/>
          <p:cNvSpPr/>
          <p:nvPr/>
        </p:nvSpPr>
        <p:spPr>
          <a:xfrm>
            <a:off x="6519672" y="3291840"/>
            <a:ext cx="2002536" cy="685800"/>
          </a:xfrm>
          <a:prstGeom prst="rect">
            <a:avLst/>
          </a:prstGeom>
          <a:noFill/>
          <a:ln/>
        </p:spPr>
        <p:txBody>
          <a:bodyPr wrap="square" lIns="0" tIns="0" rIns="0" bIns="0" rtlCol="0" anchor="ctr"/>
          <a:lstStyle/>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Tokens</a:t>
            </a:r>
            <a:endParaRPr lang="en-US" sz="1250" dirty="0"/>
          </a:p>
        </p:txBody>
      </p:sp>
      <p:sp>
        <p:nvSpPr>
          <p:cNvPr id="21" name="Shape 19"/>
          <p:cNvSpPr/>
          <p:nvPr/>
        </p:nvSpPr>
        <p:spPr>
          <a:xfrm>
            <a:off x="8677656" y="3520440"/>
            <a:ext cx="292608" cy="237744"/>
          </a:xfrm>
          <a:prstGeom prst="rightArrow">
            <a:avLst/>
          </a:prstGeom>
          <a:solidFill>
            <a:srgbClr val="111111"/>
          </a:solidFill>
          <a:ln w="12700">
            <a:solidFill>
              <a:srgbClr val="333333"/>
            </a:solidFill>
            <a:prstDash val="solid"/>
          </a:ln>
        </p:spPr>
        <p:txBody>
          <a:bodyPr/>
          <a:p/>
        </p:txBody>
      </p:sp>
      <p:sp>
        <p:nvSpPr>
          <p:cNvPr id="22" name="Shape 20"/>
          <p:cNvSpPr/>
          <p:nvPr/>
        </p:nvSpPr>
        <p:spPr>
          <a:xfrm>
            <a:off x="9052560" y="3291840"/>
            <a:ext cx="2148840" cy="685800"/>
          </a:xfrm>
          <a:prstGeom prst="roundRect">
            <a:avLst>
              <a:gd name="adj" fmla="val 10667"/>
            </a:avLst>
          </a:prstGeom>
          <a:solidFill>
            <a:srgbClr val="E3EDF8"/>
          </a:solidFill>
          <a:ln w="12700">
            <a:solidFill>
              <a:srgbClr val="333333"/>
            </a:solidFill>
            <a:prstDash val="solid"/>
          </a:ln>
        </p:spPr>
        <p:txBody>
          <a:bodyPr/>
          <a:p/>
        </p:txBody>
      </p:sp>
      <p:sp>
        <p:nvSpPr>
          <p:cNvPr id="23" name="Text 21"/>
          <p:cNvSpPr/>
          <p:nvPr/>
        </p:nvSpPr>
        <p:spPr>
          <a:xfrm>
            <a:off x="9125712" y="3291840"/>
            <a:ext cx="2002536" cy="685800"/>
          </a:xfrm>
          <a:prstGeom prst="rect">
            <a:avLst/>
          </a:prstGeom>
          <a:noFill/>
          <a:ln/>
        </p:spPr>
        <p:txBody>
          <a:bodyPr wrap="square" lIns="0" tIns="0" rIns="0" bIns="0" rtlCol="0" anchor="ctr"/>
          <a:lstStyle/>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Numerical</a:t>
            </a:r>
            <a:endParaRPr lang="en-US" sz="1250" dirty="0"/>
          </a:p>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representation</a:t>
            </a:r>
            <a:endParaRPr lang="en-US" sz="1250" dirty="0"/>
          </a:p>
        </p:txBody>
      </p:sp>
      <p:sp>
        <p:nvSpPr>
          <p:cNvPr id="24" name="Shape 22"/>
          <p:cNvSpPr/>
          <p:nvPr/>
        </p:nvSpPr>
        <p:spPr>
          <a:xfrm>
            <a:off x="960120" y="4251960"/>
            <a:ext cx="10241280" cy="1600200"/>
          </a:xfrm>
          <a:prstGeom prst="roundRect">
            <a:avLst>
              <a:gd name="adj" fmla="val 4571"/>
            </a:avLst>
          </a:prstGeom>
          <a:solidFill>
            <a:srgbClr val="FBEEDA"/>
          </a:solidFill>
          <a:ln w="12700">
            <a:solidFill>
              <a:srgbClr val="333333"/>
            </a:solidFill>
            <a:prstDash val="solid"/>
          </a:ln>
        </p:spPr>
        <p:txBody>
          <a:bodyPr/>
          <a:p/>
        </p:txBody>
      </p:sp>
      <p:sp>
        <p:nvSpPr>
          <p:cNvPr id="25" name="Text 23"/>
          <p:cNvSpPr/>
          <p:nvPr/>
        </p:nvSpPr>
        <p:spPr>
          <a:xfrm>
            <a:off x="1234440" y="4389120"/>
            <a:ext cx="5486400" cy="274320"/>
          </a:xfrm>
          <a:prstGeom prst="rect">
            <a:avLst/>
          </a:prstGeom>
          <a:noFill/>
          <a:ln/>
        </p:spPr>
        <p:txBody>
          <a:bodyPr wrap="square" lIns="0" tIns="0" rIns="0" bIns="0" rtlCol="0" anchor="ctr"/>
          <a:lstStyle/>
          <a:p>
            <a:pPr marL="0" indent="0">
              <a:buNone/>
            </a:pPr>
            <a:r>
              <a:rPr lang="en-US" sz="1100" b="1" dirty="0">
                <a:solidFill>
                  <a:srgbClr val="9C5A0B"/>
                </a:solidFill>
                <a:latin typeface="Arial" pitchFamily="34" charset="0"/>
                <a:ea typeface="Arial" pitchFamily="34" charset="-122"/>
                <a:cs typeface="Arial" pitchFamily="34" charset="-120"/>
              </a:rPr>
              <a:t>PROJECT-SPECIFIC PROBLEM</a:t>
            </a:r>
            <a:endParaRPr lang="en-US" sz="1100" dirty="0"/>
          </a:p>
        </p:txBody>
      </p:sp>
      <p:sp>
        <p:nvSpPr>
          <p:cNvPr id="26" name="Text 24"/>
          <p:cNvSpPr/>
          <p:nvPr/>
        </p:nvSpPr>
        <p:spPr>
          <a:xfrm>
            <a:off x="1234440" y="4663440"/>
            <a:ext cx="4937760" cy="320040"/>
          </a:xfrm>
          <a:prstGeom prst="rect">
            <a:avLst/>
          </a:prstGeom>
          <a:noFill/>
          <a:ln/>
        </p:spPr>
        <p:txBody>
          <a:bodyPr wrap="square" lIns="0" tIns="0" rIns="0" bIns="0" rtlCol="0" anchor="ctr"/>
          <a:lstStyle/>
          <a:p>
            <a:pPr marL="0" indent="0">
              <a:buNone/>
            </a:pPr>
            <a:r>
              <a:rPr lang="en-US" sz="1350" b="1" dirty="0">
                <a:solidFill>
                  <a:srgbClr val="111111"/>
                </a:solidFill>
                <a:latin typeface="Arial" pitchFamily="34" charset="0"/>
                <a:ea typeface="Arial" pitchFamily="34" charset="-122"/>
                <a:cs typeface="Arial" pitchFamily="34" charset="-120"/>
              </a:rPr>
              <a:t>SELFIES cannot directly encode the polymer “*” wildcard.</a:t>
            </a:r>
            <a:endParaRPr lang="en-US" sz="1350" dirty="0"/>
          </a:p>
        </p:txBody>
      </p:sp>
      <p:sp>
        <p:nvSpPr>
          <p:cNvPr id="27" name="Text 25"/>
          <p:cNvSpPr/>
          <p:nvPr/>
        </p:nvSpPr>
        <p:spPr>
          <a:xfrm>
            <a:off x="1234440" y="5029200"/>
            <a:ext cx="1097280" cy="274320"/>
          </a:xfrm>
          <a:prstGeom prst="rect">
            <a:avLst/>
          </a:prstGeom>
          <a:noFill/>
          <a:ln/>
        </p:spPr>
        <p:txBody>
          <a:bodyPr wrap="square" lIns="0" tIns="0" rIns="0" bIns="0" rtlCol="0" anchor="ctr"/>
          <a:lstStyle/>
          <a:p>
            <a:pPr marL="0" indent="0">
              <a:buNone/>
            </a:pPr>
            <a:r>
              <a:rPr lang="en-US" sz="1200" b="1" dirty="0">
                <a:solidFill>
                  <a:srgbClr val="9C5A0B"/>
                </a:solidFill>
                <a:latin typeface="Arial" pitchFamily="34" charset="0"/>
                <a:ea typeface="Arial" pitchFamily="34" charset="-122"/>
                <a:cs typeface="Arial" pitchFamily="34" charset="-120"/>
              </a:rPr>
              <a:t>Solution:</a:t>
            </a:r>
            <a:endParaRPr lang="en-US" sz="1200" dirty="0"/>
          </a:p>
        </p:txBody>
      </p:sp>
      <p:sp>
        <p:nvSpPr>
          <p:cNvPr id="28" name="Text 26"/>
          <p:cNvSpPr/>
          <p:nvPr/>
        </p:nvSpPr>
        <p:spPr>
          <a:xfrm>
            <a:off x="2240280" y="5010912"/>
            <a:ext cx="4023360" cy="310896"/>
          </a:xfrm>
          <a:prstGeom prst="rect">
            <a:avLst/>
          </a:prstGeom>
          <a:noFill/>
          <a:ln/>
        </p:spPr>
        <p:txBody>
          <a:bodyPr wrap="square" lIns="0" tIns="0" rIns="0" bIns="0" rtlCol="0" anchor="ctr"/>
          <a:lstStyle/>
          <a:p>
            <a:pPr marL="0" indent="0">
              <a:buNone/>
            </a:pPr>
            <a:r>
              <a:rPr lang="en-US" sz="1300" b="1" dirty="0">
                <a:solidFill>
                  <a:srgbClr val="111111"/>
                </a:solidFill>
                <a:latin typeface="Courier New" pitchFamily="34" charset="0"/>
                <a:ea typeface="Courier New" pitchFamily="34" charset="-122"/>
                <a:cs typeface="Courier New" pitchFamily="34" charset="-120"/>
              </a:rPr>
              <a:t>*  →  [At]  →  SELFIES  →  [At]  →  *</a:t>
            </a:r>
            <a:endParaRPr lang="en-US" sz="1300" dirty="0"/>
          </a:p>
        </p:txBody>
      </p:sp>
      <p:sp>
        <p:nvSpPr>
          <p:cNvPr id="29" name="Text 27"/>
          <p:cNvSpPr/>
          <p:nvPr/>
        </p:nvSpPr>
        <p:spPr>
          <a:xfrm>
            <a:off x="6446520" y="4526280"/>
            <a:ext cx="4617720" cy="1097280"/>
          </a:xfrm>
          <a:prstGeom prst="rect">
            <a:avLst/>
          </a:prstGeom>
          <a:noFill/>
          <a:ln/>
        </p:spPr>
        <p:txBody>
          <a:bodyPr wrap="square" lIns="0" tIns="0" rIns="0" bIns="0" rtlCol="0" anchor="ctr"/>
          <a:lstStyle/>
          <a:p>
            <a:pPr marL="0" indent="0">
              <a:lnSpc>
                <a:spcPts val="1600"/>
              </a:lnSpc>
              <a:buNone/>
            </a:pPr>
            <a:r>
              <a:rPr lang="en-US" sz="1200" dirty="0">
                <a:solidFill>
                  <a:srgbClr val="2E2E2E"/>
                </a:solidFill>
                <a:latin typeface="Arial" pitchFamily="34" charset="0"/>
                <a:ea typeface="Arial" pitchFamily="34" charset="-122"/>
                <a:cs typeface="Arial" pitchFamily="34" charset="-120"/>
              </a:rPr>
              <a:t>[At] is astatine, an element that never appears in synthetic polymers, so it acts as an unambiguous sentinel. Exactly two sentinel endpoints are checked on the way back.</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6  ·  METHODOLOGY</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Tokenisation</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11</a:t>
            </a:r>
            <a:endParaRPr lang="en-US" sz="1000" dirty="0"/>
          </a:p>
        </p:txBody>
      </p:sp>
      <p:sp>
        <p:nvSpPr>
          <p:cNvPr id="6" name="Shape 4"/>
          <p:cNvSpPr/>
          <p:nvPr/>
        </p:nvSpPr>
        <p:spPr>
          <a:xfrm>
            <a:off x="960120" y="1691640"/>
            <a:ext cx="6035040" cy="658368"/>
          </a:xfrm>
          <a:prstGeom prst="roundRect">
            <a:avLst>
              <a:gd name="adj" fmla="val 11111"/>
            </a:avLst>
          </a:prstGeom>
          <a:solidFill>
            <a:srgbClr val="ECECEC"/>
          </a:solidFill>
          <a:ln w="12700">
            <a:solidFill>
              <a:srgbClr val="333333"/>
            </a:solidFill>
            <a:prstDash val="solid"/>
          </a:ln>
        </p:spPr>
        <p:txBody>
          <a:bodyPr/>
          <a:p/>
        </p:txBody>
      </p:sp>
      <p:sp>
        <p:nvSpPr>
          <p:cNvPr id="7" name="Text 5"/>
          <p:cNvSpPr/>
          <p:nvPr/>
        </p:nvSpPr>
        <p:spPr>
          <a:xfrm>
            <a:off x="1188720" y="1691640"/>
            <a:ext cx="2011680" cy="658368"/>
          </a:xfrm>
          <a:prstGeom prst="rect">
            <a:avLst/>
          </a:prstGeom>
          <a:noFill/>
          <a:ln/>
        </p:spPr>
        <p:txBody>
          <a:bodyPr wrap="square" lIns="0" tIns="0" rIns="0" bIns="0" rtlCol="0" anchor="ctr"/>
          <a:lstStyle/>
          <a:p>
            <a:pPr marL="0" indent="0">
              <a:buNone/>
            </a:pPr>
            <a:r>
              <a:rPr lang="en-US" sz="1150" b="1" dirty="0">
                <a:solidFill>
                  <a:srgbClr val="5C5C5C"/>
                </a:solidFill>
                <a:latin typeface="Arial" pitchFamily="34" charset="0"/>
                <a:ea typeface="Arial" pitchFamily="34" charset="-122"/>
                <a:cs typeface="Arial" pitchFamily="34" charset="-120"/>
              </a:rPr>
              <a:t>SELFIES string</a:t>
            </a:r>
            <a:endParaRPr lang="en-US" sz="1150" dirty="0"/>
          </a:p>
        </p:txBody>
      </p:sp>
      <p:sp>
        <p:nvSpPr>
          <p:cNvPr id="8" name="Text 6"/>
          <p:cNvSpPr/>
          <p:nvPr/>
        </p:nvSpPr>
        <p:spPr>
          <a:xfrm>
            <a:off x="3200400" y="1691640"/>
            <a:ext cx="3657600" cy="658368"/>
          </a:xfrm>
          <a:prstGeom prst="rect">
            <a:avLst/>
          </a:prstGeom>
          <a:noFill/>
          <a:ln/>
        </p:spPr>
        <p:txBody>
          <a:bodyPr wrap="square" lIns="0" tIns="0" rIns="0" bIns="0" rtlCol="0" anchor="ctr"/>
          <a:lstStyle/>
          <a:p>
            <a:pPr marL="0" indent="0">
              <a:buNone/>
            </a:pPr>
            <a:r>
              <a:rPr lang="en-US" sz="1500" b="1" dirty="0">
                <a:solidFill>
                  <a:srgbClr val="111111"/>
                </a:solidFill>
                <a:latin typeface="Courier New" pitchFamily="34" charset="0"/>
                <a:ea typeface="Courier New" pitchFamily="34" charset="-122"/>
                <a:cs typeface="Courier New" pitchFamily="34" charset="-120"/>
              </a:rPr>
              <a:t>[At][C][C][O][At]</a:t>
            </a:r>
            <a:endParaRPr lang="en-US" sz="1500" dirty="0"/>
          </a:p>
        </p:txBody>
      </p:sp>
      <p:sp>
        <p:nvSpPr>
          <p:cNvPr id="9" name="Shape 7"/>
          <p:cNvSpPr/>
          <p:nvPr/>
        </p:nvSpPr>
        <p:spPr>
          <a:xfrm>
            <a:off x="3886200" y="2386584"/>
            <a:ext cx="237744" cy="237744"/>
          </a:xfrm>
          <a:prstGeom prst="downArrow">
            <a:avLst/>
          </a:prstGeom>
          <a:solidFill>
            <a:srgbClr val="111111"/>
          </a:solidFill>
          <a:ln w="12700">
            <a:solidFill>
              <a:srgbClr val="333333"/>
            </a:solidFill>
            <a:prstDash val="solid"/>
          </a:ln>
        </p:spPr>
        <p:txBody>
          <a:bodyPr/>
          <a:p/>
        </p:txBody>
      </p:sp>
      <p:sp>
        <p:nvSpPr>
          <p:cNvPr id="10" name="Shape 8"/>
          <p:cNvSpPr/>
          <p:nvPr/>
        </p:nvSpPr>
        <p:spPr>
          <a:xfrm>
            <a:off x="960120" y="2651760"/>
            <a:ext cx="6035040" cy="658368"/>
          </a:xfrm>
          <a:prstGeom prst="roundRect">
            <a:avLst>
              <a:gd name="adj" fmla="val 11111"/>
            </a:avLst>
          </a:prstGeom>
          <a:solidFill>
            <a:srgbClr val="E3EDF8"/>
          </a:solidFill>
          <a:ln w="12700">
            <a:solidFill>
              <a:srgbClr val="333333"/>
            </a:solidFill>
            <a:prstDash val="solid"/>
          </a:ln>
        </p:spPr>
        <p:txBody>
          <a:bodyPr/>
          <a:p/>
        </p:txBody>
      </p:sp>
      <p:sp>
        <p:nvSpPr>
          <p:cNvPr id="11" name="Text 9"/>
          <p:cNvSpPr/>
          <p:nvPr/>
        </p:nvSpPr>
        <p:spPr>
          <a:xfrm>
            <a:off x="1188720" y="2651760"/>
            <a:ext cx="2011680" cy="658368"/>
          </a:xfrm>
          <a:prstGeom prst="rect">
            <a:avLst/>
          </a:prstGeom>
          <a:noFill/>
          <a:ln/>
        </p:spPr>
        <p:txBody>
          <a:bodyPr wrap="square" lIns="0" tIns="0" rIns="0" bIns="0" rtlCol="0" anchor="ctr"/>
          <a:lstStyle/>
          <a:p>
            <a:pPr marL="0" indent="0">
              <a:buNone/>
            </a:pPr>
            <a:r>
              <a:rPr lang="en-US" sz="1150" b="1" dirty="0">
                <a:solidFill>
                  <a:srgbClr val="5C5C5C"/>
                </a:solidFill>
                <a:latin typeface="Arial" pitchFamily="34" charset="0"/>
                <a:ea typeface="Arial" pitchFamily="34" charset="-122"/>
                <a:cs typeface="Arial" pitchFamily="34" charset="-120"/>
              </a:rPr>
              <a:t>Tokenisation</a:t>
            </a:r>
            <a:endParaRPr lang="en-US" sz="1150" dirty="0"/>
          </a:p>
        </p:txBody>
      </p:sp>
      <p:sp>
        <p:nvSpPr>
          <p:cNvPr id="12" name="Text 10"/>
          <p:cNvSpPr/>
          <p:nvPr/>
        </p:nvSpPr>
        <p:spPr>
          <a:xfrm>
            <a:off x="3200400" y="2651760"/>
            <a:ext cx="3657600" cy="658368"/>
          </a:xfrm>
          <a:prstGeom prst="rect">
            <a:avLst/>
          </a:prstGeom>
          <a:noFill/>
          <a:ln/>
        </p:spPr>
        <p:txBody>
          <a:bodyPr wrap="square" lIns="0" tIns="0" rIns="0" bIns="0" rtlCol="0" anchor="ctr"/>
          <a:lstStyle/>
          <a:p>
            <a:pPr marL="0" indent="0">
              <a:buNone/>
            </a:pPr>
            <a:r>
              <a:rPr lang="en-US" sz="1400" b="1" dirty="0">
                <a:solidFill>
                  <a:srgbClr val="111111"/>
                </a:solidFill>
                <a:latin typeface="Courier New" pitchFamily="34" charset="0"/>
                <a:ea typeface="Courier New" pitchFamily="34" charset="-122"/>
                <a:cs typeface="Courier New" pitchFamily="34" charset="-120"/>
              </a:rPr>
              <a:t>[At]   [C]   [C]   [O]   [At]</a:t>
            </a:r>
            <a:endParaRPr lang="en-US" sz="1400" dirty="0"/>
          </a:p>
        </p:txBody>
      </p:sp>
      <p:sp>
        <p:nvSpPr>
          <p:cNvPr id="13" name="Shape 11"/>
          <p:cNvSpPr/>
          <p:nvPr/>
        </p:nvSpPr>
        <p:spPr>
          <a:xfrm>
            <a:off x="3886200" y="3346704"/>
            <a:ext cx="237744" cy="237744"/>
          </a:xfrm>
          <a:prstGeom prst="downArrow">
            <a:avLst/>
          </a:prstGeom>
          <a:solidFill>
            <a:srgbClr val="111111"/>
          </a:solidFill>
          <a:ln w="12700">
            <a:solidFill>
              <a:srgbClr val="333333"/>
            </a:solidFill>
            <a:prstDash val="solid"/>
          </a:ln>
        </p:spPr>
        <p:txBody>
          <a:bodyPr/>
          <a:p/>
        </p:txBody>
      </p:sp>
      <p:sp>
        <p:nvSpPr>
          <p:cNvPr id="14" name="Shape 12"/>
          <p:cNvSpPr/>
          <p:nvPr/>
        </p:nvSpPr>
        <p:spPr>
          <a:xfrm>
            <a:off x="960120" y="3611880"/>
            <a:ext cx="6035040" cy="658368"/>
          </a:xfrm>
          <a:prstGeom prst="roundRect">
            <a:avLst>
              <a:gd name="adj" fmla="val 11111"/>
            </a:avLst>
          </a:prstGeom>
          <a:solidFill>
            <a:srgbClr val="ECECEC"/>
          </a:solidFill>
          <a:ln w="12700">
            <a:solidFill>
              <a:srgbClr val="333333"/>
            </a:solidFill>
            <a:prstDash val="solid"/>
          </a:ln>
        </p:spPr>
        <p:txBody>
          <a:bodyPr/>
          <a:p/>
        </p:txBody>
      </p:sp>
      <p:sp>
        <p:nvSpPr>
          <p:cNvPr id="15" name="Text 13"/>
          <p:cNvSpPr/>
          <p:nvPr/>
        </p:nvSpPr>
        <p:spPr>
          <a:xfrm>
            <a:off x="1188720" y="3611880"/>
            <a:ext cx="2011680" cy="658368"/>
          </a:xfrm>
          <a:prstGeom prst="rect">
            <a:avLst/>
          </a:prstGeom>
          <a:noFill/>
          <a:ln/>
        </p:spPr>
        <p:txBody>
          <a:bodyPr wrap="square" lIns="0" tIns="0" rIns="0" bIns="0" rtlCol="0" anchor="ctr"/>
          <a:lstStyle/>
          <a:p>
            <a:pPr marL="0" indent="0">
              <a:buNone/>
            </a:pPr>
            <a:r>
              <a:rPr lang="en-US" sz="1150" b="1" dirty="0">
                <a:solidFill>
                  <a:srgbClr val="5C5C5C"/>
                </a:solidFill>
                <a:latin typeface="Arial" pitchFamily="34" charset="0"/>
                <a:ea typeface="Arial" pitchFamily="34" charset="-122"/>
                <a:cs typeface="Arial" pitchFamily="34" charset="-120"/>
              </a:rPr>
              <a:t>Vocabulary IDs</a:t>
            </a:r>
            <a:endParaRPr lang="en-US" sz="1150" dirty="0"/>
          </a:p>
        </p:txBody>
      </p:sp>
      <p:sp>
        <p:nvSpPr>
          <p:cNvPr id="16" name="Text 14"/>
          <p:cNvSpPr/>
          <p:nvPr/>
        </p:nvSpPr>
        <p:spPr>
          <a:xfrm>
            <a:off x="3200400" y="3611880"/>
            <a:ext cx="3657600" cy="658368"/>
          </a:xfrm>
          <a:prstGeom prst="rect">
            <a:avLst/>
          </a:prstGeom>
          <a:noFill/>
          <a:ln/>
        </p:spPr>
        <p:txBody>
          <a:bodyPr wrap="square" lIns="0" tIns="0" rIns="0" bIns="0" rtlCol="0" anchor="ctr"/>
          <a:lstStyle/>
          <a:p>
            <a:pPr marL="0" indent="0">
              <a:buNone/>
            </a:pPr>
            <a:r>
              <a:rPr lang="en-US" sz="1500" b="1" dirty="0">
                <a:solidFill>
                  <a:srgbClr val="111111"/>
                </a:solidFill>
                <a:latin typeface="Courier New" pitchFamily="34" charset="0"/>
                <a:ea typeface="Courier New" pitchFamily="34" charset="-122"/>
                <a:cs typeface="Courier New" pitchFamily="34" charset="-120"/>
              </a:rPr>
              <a:t>3   17   17   42   3</a:t>
            </a:r>
            <a:endParaRPr lang="en-US" sz="1500" dirty="0"/>
          </a:p>
        </p:txBody>
      </p:sp>
      <p:sp>
        <p:nvSpPr>
          <p:cNvPr id="17" name="Shape 15"/>
          <p:cNvSpPr/>
          <p:nvPr/>
        </p:nvSpPr>
        <p:spPr>
          <a:xfrm>
            <a:off x="3886200" y="4306824"/>
            <a:ext cx="237744" cy="237744"/>
          </a:xfrm>
          <a:prstGeom prst="downArrow">
            <a:avLst/>
          </a:prstGeom>
          <a:solidFill>
            <a:srgbClr val="111111"/>
          </a:solidFill>
          <a:ln w="12700">
            <a:solidFill>
              <a:srgbClr val="333333"/>
            </a:solidFill>
            <a:prstDash val="solid"/>
          </a:ln>
        </p:spPr>
        <p:txBody>
          <a:bodyPr/>
          <a:p/>
        </p:txBody>
      </p:sp>
      <p:sp>
        <p:nvSpPr>
          <p:cNvPr id="18" name="Shape 16"/>
          <p:cNvSpPr/>
          <p:nvPr/>
        </p:nvSpPr>
        <p:spPr>
          <a:xfrm>
            <a:off x="960120" y="4572000"/>
            <a:ext cx="6035040" cy="658368"/>
          </a:xfrm>
          <a:prstGeom prst="roundRect">
            <a:avLst>
              <a:gd name="adj" fmla="val 11111"/>
            </a:avLst>
          </a:prstGeom>
          <a:solidFill>
            <a:srgbClr val="E3EDF8"/>
          </a:solidFill>
          <a:ln w="12700">
            <a:solidFill>
              <a:srgbClr val="333333"/>
            </a:solidFill>
            <a:prstDash val="solid"/>
          </a:ln>
        </p:spPr>
        <p:txBody>
          <a:bodyPr/>
          <a:p/>
        </p:txBody>
      </p:sp>
      <p:sp>
        <p:nvSpPr>
          <p:cNvPr id="19" name="Text 17"/>
          <p:cNvSpPr/>
          <p:nvPr/>
        </p:nvSpPr>
        <p:spPr>
          <a:xfrm>
            <a:off x="1188720" y="4572000"/>
            <a:ext cx="2011680" cy="658368"/>
          </a:xfrm>
          <a:prstGeom prst="rect">
            <a:avLst/>
          </a:prstGeom>
          <a:noFill/>
          <a:ln/>
        </p:spPr>
        <p:txBody>
          <a:bodyPr wrap="square" lIns="0" tIns="0" rIns="0" bIns="0" rtlCol="0" anchor="ctr"/>
          <a:lstStyle/>
          <a:p>
            <a:pPr marL="0" indent="0">
              <a:buNone/>
            </a:pPr>
            <a:r>
              <a:rPr lang="en-US" sz="1150" b="1" dirty="0">
                <a:solidFill>
                  <a:srgbClr val="5C5C5C"/>
                </a:solidFill>
                <a:latin typeface="Arial" pitchFamily="34" charset="0"/>
                <a:ea typeface="Arial" pitchFamily="34" charset="-122"/>
                <a:cs typeface="Arial" pitchFamily="34" charset="-120"/>
              </a:rPr>
              <a:t>Embedding</a:t>
            </a:r>
            <a:endParaRPr lang="en-US" sz="1150" dirty="0"/>
          </a:p>
        </p:txBody>
      </p:sp>
      <p:sp>
        <p:nvSpPr>
          <p:cNvPr id="20" name="Text 18"/>
          <p:cNvSpPr/>
          <p:nvPr/>
        </p:nvSpPr>
        <p:spPr>
          <a:xfrm>
            <a:off x="3200400" y="4572000"/>
            <a:ext cx="3657600" cy="658368"/>
          </a:xfrm>
          <a:prstGeom prst="rect">
            <a:avLst/>
          </a:prstGeom>
          <a:noFill/>
          <a:ln/>
        </p:spPr>
        <p:txBody>
          <a:bodyPr wrap="square" lIns="0" tIns="0" rIns="0" bIns="0" rtlCol="0" anchor="ctr"/>
          <a:lstStyle/>
          <a:p>
            <a:pPr marL="0" indent="0">
              <a:buNone/>
            </a:pPr>
            <a:r>
              <a:rPr lang="en-US" sz="1400" b="1" dirty="0">
                <a:solidFill>
                  <a:srgbClr val="111111"/>
                </a:solidFill>
                <a:latin typeface="Arial" pitchFamily="34" charset="0"/>
                <a:ea typeface="Arial" pitchFamily="34" charset="-122"/>
                <a:cs typeface="Arial" pitchFamily="34" charset="-120"/>
              </a:rPr>
              <a:t>128-dimensional vectors</a:t>
            </a:r>
            <a:endParaRPr lang="en-US" sz="1400" dirty="0"/>
          </a:p>
        </p:txBody>
      </p:sp>
      <p:sp>
        <p:nvSpPr>
          <p:cNvPr id="21" name="Shape 19"/>
          <p:cNvSpPr/>
          <p:nvPr/>
        </p:nvSpPr>
        <p:spPr>
          <a:xfrm>
            <a:off x="7315200" y="1691640"/>
            <a:ext cx="3886200" cy="1417320"/>
          </a:xfrm>
          <a:prstGeom prst="roundRect">
            <a:avLst>
              <a:gd name="adj" fmla="val 5161"/>
            </a:avLst>
          </a:prstGeom>
          <a:solidFill>
            <a:srgbClr val="FBEEDA"/>
          </a:solidFill>
          <a:ln w="12700">
            <a:solidFill>
              <a:srgbClr val="333333"/>
            </a:solidFill>
            <a:prstDash val="solid"/>
          </a:ln>
        </p:spPr>
        <p:txBody>
          <a:bodyPr/>
          <a:p/>
        </p:txBody>
      </p:sp>
      <p:sp>
        <p:nvSpPr>
          <p:cNvPr id="22" name="Text 20"/>
          <p:cNvSpPr/>
          <p:nvPr/>
        </p:nvSpPr>
        <p:spPr>
          <a:xfrm>
            <a:off x="7571232" y="1810512"/>
            <a:ext cx="3383280" cy="274320"/>
          </a:xfrm>
          <a:prstGeom prst="rect">
            <a:avLst/>
          </a:prstGeom>
          <a:noFill/>
          <a:ln/>
        </p:spPr>
        <p:txBody>
          <a:bodyPr wrap="square" lIns="0" tIns="0" rIns="0" bIns="0" rtlCol="0" anchor="ctr"/>
          <a:lstStyle/>
          <a:p>
            <a:pPr marL="0" indent="0">
              <a:buNone/>
            </a:pPr>
            <a:r>
              <a:rPr lang="en-US" sz="1300" b="1" dirty="0">
                <a:solidFill>
                  <a:srgbClr val="9C5A0B"/>
                </a:solidFill>
                <a:latin typeface="Arial" pitchFamily="34" charset="0"/>
                <a:ea typeface="Arial" pitchFamily="34" charset="-122"/>
                <a:cs typeface="Arial" pitchFamily="34" charset="-120"/>
              </a:rPr>
              <a:t>Important</a:t>
            </a:r>
            <a:endParaRPr lang="en-US" sz="1300" dirty="0"/>
          </a:p>
        </p:txBody>
      </p:sp>
      <p:sp>
        <p:nvSpPr>
          <p:cNvPr id="23" name="Text 21"/>
          <p:cNvSpPr/>
          <p:nvPr/>
        </p:nvSpPr>
        <p:spPr>
          <a:xfrm>
            <a:off x="7571232" y="2121408"/>
            <a:ext cx="3383280" cy="868680"/>
          </a:xfrm>
          <a:prstGeom prst="rect">
            <a:avLst/>
          </a:prstGeom>
          <a:noFill/>
          <a:ln/>
        </p:spPr>
        <p:txBody>
          <a:bodyPr wrap="square" lIns="0" tIns="0" rIns="0" bIns="0" rtlCol="0" anchor="ctr"/>
          <a:lstStyle/>
          <a:p>
            <a:pPr marL="0" indent="0">
              <a:lnSpc>
                <a:spcPts val="1600"/>
              </a:lnSpc>
              <a:buNone/>
            </a:pPr>
            <a:r>
              <a:rPr lang="en-US" sz="1200" dirty="0">
                <a:solidFill>
                  <a:srgbClr val="2E2E2E"/>
                </a:solidFill>
                <a:latin typeface="Arial" pitchFamily="34" charset="0"/>
                <a:ea typeface="Arial" pitchFamily="34" charset="-122"/>
                <a:cs typeface="Arial" pitchFamily="34" charset="-120"/>
              </a:rPr>
              <a:t>A token is not necessarily one atom. The model processes a sequence of tokens, not chemical drawings.</a:t>
            </a:r>
            <a:endParaRPr lang="en-US" sz="1200" dirty="0"/>
          </a:p>
        </p:txBody>
      </p:sp>
      <p:sp>
        <p:nvSpPr>
          <p:cNvPr id="24" name="Shape 22"/>
          <p:cNvSpPr/>
          <p:nvPr/>
        </p:nvSpPr>
        <p:spPr>
          <a:xfrm>
            <a:off x="7315200" y="3246120"/>
            <a:ext cx="3886200" cy="1783080"/>
          </a:xfrm>
          <a:prstGeom prst="roundRect">
            <a:avLst>
              <a:gd name="adj" fmla="val 4103"/>
            </a:avLst>
          </a:prstGeom>
          <a:solidFill>
            <a:srgbClr val="DCF2E4"/>
          </a:solidFill>
          <a:ln w="12700">
            <a:solidFill>
              <a:srgbClr val="333333"/>
            </a:solidFill>
            <a:prstDash val="solid"/>
          </a:ln>
        </p:spPr>
        <p:txBody>
          <a:bodyPr/>
          <a:p/>
        </p:txBody>
      </p:sp>
      <p:sp>
        <p:nvSpPr>
          <p:cNvPr id="25" name="Text 23"/>
          <p:cNvSpPr/>
          <p:nvPr/>
        </p:nvSpPr>
        <p:spPr>
          <a:xfrm>
            <a:off x="7571232" y="3364992"/>
            <a:ext cx="3383280" cy="292608"/>
          </a:xfrm>
          <a:prstGeom prst="rect">
            <a:avLst/>
          </a:prstGeom>
          <a:noFill/>
          <a:ln/>
        </p:spPr>
        <p:txBody>
          <a:bodyPr wrap="square" lIns="0" tIns="0" rIns="0" bIns="0" rtlCol="0" anchor="ctr"/>
          <a:lstStyle/>
          <a:p>
            <a:pPr marL="0" indent="0">
              <a:buNone/>
            </a:pPr>
            <a:r>
              <a:rPr lang="en-US" sz="1300" b="1" dirty="0">
                <a:solidFill>
                  <a:srgbClr val="156B33"/>
                </a:solidFill>
                <a:latin typeface="Arial" pitchFamily="34" charset="0"/>
                <a:ea typeface="Arial" pitchFamily="34" charset="-122"/>
                <a:cs typeface="Arial" pitchFamily="34" charset="-120"/>
              </a:rPr>
              <a:t>Project results</a:t>
            </a:r>
            <a:endParaRPr lang="en-US" sz="1300" dirty="0"/>
          </a:p>
        </p:txBody>
      </p:sp>
      <p:sp>
        <p:nvSpPr>
          <p:cNvPr id="26" name="Text 24"/>
          <p:cNvSpPr/>
          <p:nvPr/>
        </p:nvSpPr>
        <p:spPr>
          <a:xfrm>
            <a:off x="7571232" y="3675888"/>
            <a:ext cx="3383280" cy="1234440"/>
          </a:xfrm>
          <a:prstGeom prst="rect">
            <a:avLst/>
          </a:prstGeom>
          <a:noFill/>
          <a:ln/>
        </p:spPr>
        <p:txBody>
          <a:bodyPr wrap="square" lIns="0" tIns="0" rIns="0" bIns="0" rtlCol="0" anchor="ctr"/>
          <a:lstStyle/>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174-token vocabulary</a:t>
            </a:r>
            <a:endParaRPr lang="en-US" sz="1150" dirty="0"/>
          </a:p>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Maximum sequence length 122</a:t>
            </a:r>
            <a:endParaRPr lang="en-US" sz="1150" dirty="0"/>
          </a:p>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99.1% SMILES→SELFIES survival</a:t>
            </a:r>
            <a:endParaRPr lang="en-US" sz="1150" dirty="0"/>
          </a:p>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986,529 unique polymers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6  ·  METHODOLOGY</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Tier 3: What Is the Oracle?</a:t>
            </a:r>
            <a:endParaRPr lang="en-US" sz="2900" dirty="0"/>
          </a:p>
        </p:txBody>
      </p:sp>
      <p:sp>
        <p:nvSpPr>
          <p:cNvPr id="5" name="Text 3"/>
          <p:cNvSpPr/>
          <p:nvPr/>
        </p:nvSpPr>
        <p:spPr>
          <a:xfrm>
            <a:off x="914400" y="1389888"/>
            <a:ext cx="10360152" cy="292608"/>
          </a:xfrm>
          <a:prstGeom prst="rect">
            <a:avLst/>
          </a:prstGeom>
          <a:noFill/>
          <a:ln/>
        </p:spPr>
        <p:txBody>
          <a:bodyPr wrap="square" lIns="0" tIns="0" rIns="0" bIns="0" rtlCol="0" anchor="ctr"/>
          <a:lstStyle/>
          <a:p>
            <a:pPr marL="0" indent="0" algn="ctr">
              <a:buNone/>
            </a:pPr>
            <a:r>
              <a:rPr lang="en-US" sz="1300" dirty="0">
                <a:solidFill>
                  <a:srgbClr val="5C5C5C"/>
                </a:solidFill>
                <a:latin typeface="Arial" pitchFamily="34" charset="0"/>
                <a:ea typeface="Arial" pitchFamily="34" charset="-122"/>
                <a:cs typeface="Arial" pitchFamily="34" charset="-120"/>
              </a:rPr>
              <a:t>A property predictor trained by this project on the Open Polymer Challenge labelled data</a:t>
            </a:r>
            <a:endParaRPr lang="en-US" sz="1300" dirty="0"/>
          </a:p>
        </p:txBody>
      </p:sp>
      <p:sp>
        <p:nvSpPr>
          <p:cNvPr id="6" name="Text 4"/>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12</a:t>
            </a:r>
            <a:endParaRPr lang="en-US" sz="1000" dirty="0"/>
          </a:p>
        </p:txBody>
      </p:sp>
      <p:sp>
        <p:nvSpPr>
          <p:cNvPr id="7" name="Shape 5"/>
          <p:cNvSpPr/>
          <p:nvPr/>
        </p:nvSpPr>
        <p:spPr>
          <a:xfrm>
            <a:off x="1188720" y="2011680"/>
            <a:ext cx="2377440" cy="868680"/>
          </a:xfrm>
          <a:prstGeom prst="roundRect">
            <a:avLst>
              <a:gd name="adj" fmla="val 8421"/>
            </a:avLst>
          </a:prstGeom>
          <a:solidFill>
            <a:srgbClr val="ECECEC"/>
          </a:solidFill>
          <a:ln w="12700">
            <a:solidFill>
              <a:srgbClr val="333333"/>
            </a:solidFill>
            <a:prstDash val="solid"/>
          </a:ln>
        </p:spPr>
        <p:txBody>
          <a:bodyPr/>
          <a:p/>
        </p:txBody>
      </p:sp>
      <p:sp>
        <p:nvSpPr>
          <p:cNvPr id="8" name="Text 6"/>
          <p:cNvSpPr/>
          <p:nvPr/>
        </p:nvSpPr>
        <p:spPr>
          <a:xfrm>
            <a:off x="1261872" y="2011680"/>
            <a:ext cx="2231136" cy="868680"/>
          </a:xfrm>
          <a:prstGeom prst="rect">
            <a:avLst/>
          </a:prstGeom>
          <a:noFill/>
          <a:ln/>
        </p:spPr>
        <p:txBody>
          <a:bodyPr wrap="square" lIns="0" tIns="0" rIns="0" bIns="0" rtlCol="0" anchor="ctr"/>
          <a:lstStyle/>
          <a:p>
            <a:pPr marL="0" indent="0" algn="ctr">
              <a:lnSpc>
                <a:spcPts val="1625"/>
              </a:lnSpc>
              <a:buNone/>
            </a:pPr>
            <a:r>
              <a:rPr lang="en-US" sz="1300" b="1" dirty="0">
                <a:solidFill>
                  <a:srgbClr val="111111"/>
                </a:solidFill>
                <a:latin typeface="Arial" pitchFamily="34" charset="0"/>
                <a:ea typeface="Arial" pitchFamily="34" charset="-122"/>
                <a:cs typeface="Arial" pitchFamily="34" charset="-120"/>
              </a:rPr>
              <a:t>Polymer</a:t>
            </a:r>
            <a:endParaRPr lang="en-US" sz="1300" dirty="0"/>
          </a:p>
          <a:p>
            <a:pPr marL="0" indent="0" algn="ctr">
              <a:lnSpc>
                <a:spcPts val="1625"/>
              </a:lnSpc>
              <a:buNone/>
            </a:pPr>
            <a:r>
              <a:rPr lang="en-US" sz="1300" b="1" dirty="0">
                <a:solidFill>
                  <a:srgbClr val="111111"/>
                </a:solidFill>
                <a:latin typeface="Arial" pitchFamily="34" charset="0"/>
                <a:ea typeface="Arial" pitchFamily="34" charset="-122"/>
                <a:cs typeface="Arial" pitchFamily="34" charset="-120"/>
              </a:rPr>
              <a:t>structure</a:t>
            </a:r>
            <a:endParaRPr lang="en-US" sz="1300" dirty="0"/>
          </a:p>
        </p:txBody>
      </p:sp>
      <p:sp>
        <p:nvSpPr>
          <p:cNvPr id="9" name="Shape 7"/>
          <p:cNvSpPr/>
          <p:nvPr/>
        </p:nvSpPr>
        <p:spPr>
          <a:xfrm>
            <a:off x="3703320" y="2331720"/>
            <a:ext cx="365760" cy="237744"/>
          </a:xfrm>
          <a:prstGeom prst="rightArrow">
            <a:avLst/>
          </a:prstGeom>
          <a:solidFill>
            <a:srgbClr val="111111"/>
          </a:solidFill>
          <a:ln w="12700">
            <a:solidFill>
              <a:srgbClr val="333333"/>
            </a:solidFill>
            <a:prstDash val="solid"/>
          </a:ln>
        </p:spPr>
        <p:txBody>
          <a:bodyPr/>
          <a:p/>
        </p:txBody>
      </p:sp>
      <p:sp>
        <p:nvSpPr>
          <p:cNvPr id="10" name="Shape 8"/>
          <p:cNvSpPr/>
          <p:nvPr/>
        </p:nvSpPr>
        <p:spPr>
          <a:xfrm>
            <a:off x="4251960" y="2011680"/>
            <a:ext cx="2377440" cy="868680"/>
          </a:xfrm>
          <a:prstGeom prst="roundRect">
            <a:avLst>
              <a:gd name="adj" fmla="val 8421"/>
            </a:avLst>
          </a:prstGeom>
          <a:solidFill>
            <a:srgbClr val="DCF2E4"/>
          </a:solidFill>
          <a:ln w="12700">
            <a:solidFill>
              <a:srgbClr val="333333"/>
            </a:solidFill>
            <a:prstDash val="solid"/>
          </a:ln>
        </p:spPr>
        <p:txBody>
          <a:bodyPr/>
          <a:p/>
        </p:txBody>
      </p:sp>
      <p:sp>
        <p:nvSpPr>
          <p:cNvPr id="11" name="Text 9"/>
          <p:cNvSpPr/>
          <p:nvPr/>
        </p:nvSpPr>
        <p:spPr>
          <a:xfrm>
            <a:off x="4325112" y="2011680"/>
            <a:ext cx="2231136" cy="868680"/>
          </a:xfrm>
          <a:prstGeom prst="rect">
            <a:avLst/>
          </a:prstGeom>
          <a:noFill/>
          <a:ln/>
        </p:spPr>
        <p:txBody>
          <a:bodyPr wrap="square" lIns="0" tIns="0" rIns="0" bIns="0" rtlCol="0" anchor="ctr"/>
          <a:lstStyle/>
          <a:p>
            <a:pPr marL="0" indent="0" algn="ctr">
              <a:lnSpc>
                <a:spcPts val="2000"/>
              </a:lnSpc>
              <a:buNone/>
            </a:pPr>
            <a:r>
              <a:rPr lang="en-US" sz="1600" b="1" dirty="0">
                <a:solidFill>
                  <a:srgbClr val="156B33"/>
                </a:solidFill>
                <a:latin typeface="Arial" pitchFamily="34" charset="0"/>
                <a:ea typeface="Arial" pitchFamily="34" charset="-122"/>
                <a:cs typeface="Arial" pitchFamily="34" charset="-120"/>
              </a:rPr>
              <a:t>Oracle</a:t>
            </a:r>
            <a:endParaRPr lang="en-US" sz="1600" dirty="0"/>
          </a:p>
        </p:txBody>
      </p:sp>
      <p:sp>
        <p:nvSpPr>
          <p:cNvPr id="12" name="Shape 10"/>
          <p:cNvSpPr/>
          <p:nvPr/>
        </p:nvSpPr>
        <p:spPr>
          <a:xfrm>
            <a:off x="6766560" y="2331720"/>
            <a:ext cx="365760" cy="237744"/>
          </a:xfrm>
          <a:prstGeom prst="rightArrow">
            <a:avLst/>
          </a:prstGeom>
          <a:solidFill>
            <a:srgbClr val="111111"/>
          </a:solidFill>
          <a:ln w="12700">
            <a:solidFill>
              <a:srgbClr val="333333"/>
            </a:solidFill>
            <a:prstDash val="solid"/>
          </a:ln>
        </p:spPr>
        <p:txBody>
          <a:bodyPr/>
          <a:p/>
        </p:txBody>
      </p:sp>
      <p:sp>
        <p:nvSpPr>
          <p:cNvPr id="13" name="Shape 11"/>
          <p:cNvSpPr/>
          <p:nvPr/>
        </p:nvSpPr>
        <p:spPr>
          <a:xfrm>
            <a:off x="7315200" y="2011680"/>
            <a:ext cx="3566160" cy="868680"/>
          </a:xfrm>
          <a:prstGeom prst="roundRect">
            <a:avLst>
              <a:gd name="adj" fmla="val 8421"/>
            </a:avLst>
          </a:prstGeom>
          <a:solidFill>
            <a:srgbClr val="E3EDF8"/>
          </a:solidFill>
          <a:ln w="12700">
            <a:solidFill>
              <a:srgbClr val="333333"/>
            </a:solidFill>
            <a:prstDash val="solid"/>
          </a:ln>
        </p:spPr>
        <p:txBody>
          <a:bodyPr/>
          <a:p/>
        </p:txBody>
      </p:sp>
      <p:sp>
        <p:nvSpPr>
          <p:cNvPr id="14" name="Text 12"/>
          <p:cNvSpPr/>
          <p:nvPr/>
        </p:nvSpPr>
        <p:spPr>
          <a:xfrm>
            <a:off x="7388352" y="2011680"/>
            <a:ext cx="3419856" cy="868680"/>
          </a:xfrm>
          <a:prstGeom prst="rect">
            <a:avLst/>
          </a:prstGeom>
          <a:noFill/>
          <a:ln/>
        </p:spPr>
        <p:txBody>
          <a:bodyPr wrap="square" lIns="0" tIns="0" rIns="0" bIns="0" rtlCol="0" anchor="ctr"/>
          <a:lstStyle/>
          <a:p>
            <a:pPr marL="0" indent="0" algn="ctr">
              <a:lnSpc>
                <a:spcPts val="1625"/>
              </a:lnSpc>
              <a:buNone/>
            </a:pPr>
            <a:r>
              <a:rPr lang="en-US" sz="1300" b="1" dirty="0">
                <a:solidFill>
                  <a:srgbClr val="111111"/>
                </a:solidFill>
                <a:latin typeface="Arial" pitchFamily="34" charset="0"/>
                <a:ea typeface="Arial" pitchFamily="34" charset="-122"/>
                <a:cs typeface="Arial" pitchFamily="34" charset="-120"/>
              </a:rPr>
              <a:t>Predicted</a:t>
            </a:r>
            <a:endParaRPr lang="en-US" sz="1300" dirty="0"/>
          </a:p>
          <a:p>
            <a:pPr marL="0" indent="0" algn="ctr">
              <a:lnSpc>
                <a:spcPts val="1625"/>
              </a:lnSpc>
              <a:buNone/>
            </a:pPr>
            <a:r>
              <a:rPr lang="en-US" sz="1300" b="1" dirty="0">
                <a:solidFill>
                  <a:srgbClr val="111111"/>
                </a:solidFill>
                <a:latin typeface="Arial" pitchFamily="34" charset="0"/>
                <a:ea typeface="Arial" pitchFamily="34" charset="-122"/>
                <a:cs typeface="Arial" pitchFamily="34" charset="-120"/>
              </a:rPr>
              <a:t>properties</a:t>
            </a:r>
            <a:endParaRPr lang="en-US" sz="1300" dirty="0"/>
          </a:p>
        </p:txBody>
      </p:sp>
      <p:sp>
        <p:nvSpPr>
          <p:cNvPr id="15" name="Text 13"/>
          <p:cNvSpPr/>
          <p:nvPr/>
        </p:nvSpPr>
        <p:spPr>
          <a:xfrm>
            <a:off x="960120" y="3154680"/>
            <a:ext cx="10241280" cy="320040"/>
          </a:xfrm>
          <a:prstGeom prst="rect">
            <a:avLst/>
          </a:prstGeom>
          <a:noFill/>
          <a:ln/>
        </p:spPr>
        <p:txBody>
          <a:bodyPr wrap="square" lIns="0" tIns="0" rIns="0" bIns="0" rtlCol="0" anchor="ctr"/>
          <a:lstStyle/>
          <a:p>
            <a:pPr marL="0" indent="0" algn="ctr">
              <a:buNone/>
            </a:pPr>
            <a:r>
              <a:rPr lang="en-US" sz="1400" b="1" dirty="0">
                <a:solidFill>
                  <a:srgbClr val="111111"/>
                </a:solidFill>
                <a:latin typeface="Arial" pitchFamily="34" charset="0"/>
                <a:ea typeface="Arial" pitchFamily="34" charset="-122"/>
                <a:cs typeface="Arial" pitchFamily="34" charset="-120"/>
              </a:rPr>
              <a:t>Five separate gradient boosting models</a:t>
            </a:r>
            <a:endParaRPr lang="en-US" sz="1400" dirty="0"/>
          </a:p>
        </p:txBody>
      </p:sp>
      <p:sp>
        <p:nvSpPr>
          <p:cNvPr id="16" name="Shape 14"/>
          <p:cNvSpPr/>
          <p:nvPr/>
        </p:nvSpPr>
        <p:spPr>
          <a:xfrm>
            <a:off x="1463040" y="3566160"/>
            <a:ext cx="1691640" cy="548640"/>
          </a:xfrm>
          <a:prstGeom prst="roundRect">
            <a:avLst>
              <a:gd name="adj" fmla="val 13333"/>
            </a:avLst>
          </a:prstGeom>
          <a:solidFill>
            <a:srgbClr val="DCF2E4"/>
          </a:solidFill>
          <a:ln w="12700">
            <a:solidFill>
              <a:srgbClr val="333333"/>
            </a:solidFill>
            <a:prstDash val="solid"/>
          </a:ln>
        </p:spPr>
        <p:txBody>
          <a:bodyPr/>
          <a:p/>
        </p:txBody>
      </p:sp>
      <p:sp>
        <p:nvSpPr>
          <p:cNvPr id="17" name="Text 15"/>
          <p:cNvSpPr/>
          <p:nvPr/>
        </p:nvSpPr>
        <p:spPr>
          <a:xfrm>
            <a:off x="1536192" y="3566160"/>
            <a:ext cx="1545336" cy="548640"/>
          </a:xfrm>
          <a:prstGeom prst="rect">
            <a:avLst/>
          </a:prstGeom>
          <a:noFill/>
          <a:ln/>
        </p:spPr>
        <p:txBody>
          <a:bodyPr wrap="square" lIns="0" tIns="0" rIns="0" bIns="0" rtlCol="0" anchor="ctr"/>
          <a:lstStyle/>
          <a:p>
            <a:pPr marL="0" indent="0" algn="ctr">
              <a:lnSpc>
                <a:spcPts val="1750"/>
              </a:lnSpc>
              <a:buNone/>
            </a:pPr>
            <a:r>
              <a:rPr lang="en-US" sz="1400" b="1" dirty="0">
                <a:solidFill>
                  <a:srgbClr val="156B33"/>
                </a:solidFill>
                <a:latin typeface="Arial" pitchFamily="34" charset="0"/>
                <a:ea typeface="Arial" pitchFamily="34" charset="-122"/>
                <a:cs typeface="Arial" pitchFamily="34" charset="-120"/>
              </a:rPr>
              <a:t>Tg</a:t>
            </a:r>
            <a:endParaRPr lang="en-US" sz="1400" dirty="0"/>
          </a:p>
        </p:txBody>
      </p:sp>
      <p:sp>
        <p:nvSpPr>
          <p:cNvPr id="18" name="Shape 16"/>
          <p:cNvSpPr/>
          <p:nvPr/>
        </p:nvSpPr>
        <p:spPr>
          <a:xfrm>
            <a:off x="3383280" y="3566160"/>
            <a:ext cx="1691640" cy="548640"/>
          </a:xfrm>
          <a:prstGeom prst="roundRect">
            <a:avLst>
              <a:gd name="adj" fmla="val 13333"/>
            </a:avLst>
          </a:prstGeom>
          <a:solidFill>
            <a:srgbClr val="DCF2E4"/>
          </a:solidFill>
          <a:ln w="12700">
            <a:solidFill>
              <a:srgbClr val="333333"/>
            </a:solidFill>
            <a:prstDash val="solid"/>
          </a:ln>
        </p:spPr>
        <p:txBody>
          <a:bodyPr/>
          <a:p/>
        </p:txBody>
      </p:sp>
      <p:sp>
        <p:nvSpPr>
          <p:cNvPr id="19" name="Text 17"/>
          <p:cNvSpPr/>
          <p:nvPr/>
        </p:nvSpPr>
        <p:spPr>
          <a:xfrm>
            <a:off x="3456432" y="3566160"/>
            <a:ext cx="1545336" cy="548640"/>
          </a:xfrm>
          <a:prstGeom prst="rect">
            <a:avLst/>
          </a:prstGeom>
          <a:noFill/>
          <a:ln/>
        </p:spPr>
        <p:txBody>
          <a:bodyPr wrap="square" lIns="0" tIns="0" rIns="0" bIns="0" rtlCol="0" anchor="ctr"/>
          <a:lstStyle/>
          <a:p>
            <a:pPr marL="0" indent="0" algn="ctr">
              <a:lnSpc>
                <a:spcPts val="1750"/>
              </a:lnSpc>
              <a:buNone/>
            </a:pPr>
            <a:r>
              <a:rPr lang="en-US" sz="1400" b="1" dirty="0">
                <a:solidFill>
                  <a:srgbClr val="156B33"/>
                </a:solidFill>
                <a:latin typeface="Arial" pitchFamily="34" charset="0"/>
                <a:ea typeface="Arial" pitchFamily="34" charset="-122"/>
                <a:cs typeface="Arial" pitchFamily="34" charset="-120"/>
              </a:rPr>
              <a:t>FFV</a:t>
            </a:r>
            <a:endParaRPr lang="en-US" sz="1400" dirty="0"/>
          </a:p>
        </p:txBody>
      </p:sp>
      <p:sp>
        <p:nvSpPr>
          <p:cNvPr id="20" name="Shape 18"/>
          <p:cNvSpPr/>
          <p:nvPr/>
        </p:nvSpPr>
        <p:spPr>
          <a:xfrm>
            <a:off x="5303520" y="3566160"/>
            <a:ext cx="1691640" cy="548640"/>
          </a:xfrm>
          <a:prstGeom prst="roundRect">
            <a:avLst>
              <a:gd name="adj" fmla="val 13333"/>
            </a:avLst>
          </a:prstGeom>
          <a:solidFill>
            <a:srgbClr val="DCF2E4"/>
          </a:solidFill>
          <a:ln w="12700">
            <a:solidFill>
              <a:srgbClr val="333333"/>
            </a:solidFill>
            <a:prstDash val="solid"/>
          </a:ln>
        </p:spPr>
        <p:txBody>
          <a:bodyPr/>
          <a:p/>
        </p:txBody>
      </p:sp>
      <p:sp>
        <p:nvSpPr>
          <p:cNvPr id="21" name="Text 19"/>
          <p:cNvSpPr/>
          <p:nvPr/>
        </p:nvSpPr>
        <p:spPr>
          <a:xfrm>
            <a:off x="5376672" y="3566160"/>
            <a:ext cx="1545336" cy="548640"/>
          </a:xfrm>
          <a:prstGeom prst="rect">
            <a:avLst/>
          </a:prstGeom>
          <a:noFill/>
          <a:ln/>
        </p:spPr>
        <p:txBody>
          <a:bodyPr wrap="square" lIns="0" tIns="0" rIns="0" bIns="0" rtlCol="0" anchor="ctr"/>
          <a:lstStyle/>
          <a:p>
            <a:pPr marL="0" indent="0" algn="ctr">
              <a:lnSpc>
                <a:spcPts val="1750"/>
              </a:lnSpc>
              <a:buNone/>
            </a:pPr>
            <a:r>
              <a:rPr lang="en-US" sz="1400" b="1" dirty="0">
                <a:solidFill>
                  <a:srgbClr val="156B33"/>
                </a:solidFill>
                <a:latin typeface="Arial" pitchFamily="34" charset="0"/>
                <a:ea typeface="Arial" pitchFamily="34" charset="-122"/>
                <a:cs typeface="Arial" pitchFamily="34" charset="-120"/>
              </a:rPr>
              <a:t>Tc</a:t>
            </a:r>
            <a:endParaRPr lang="en-US" sz="1400" dirty="0"/>
          </a:p>
        </p:txBody>
      </p:sp>
      <p:sp>
        <p:nvSpPr>
          <p:cNvPr id="22" name="Shape 20"/>
          <p:cNvSpPr/>
          <p:nvPr/>
        </p:nvSpPr>
        <p:spPr>
          <a:xfrm>
            <a:off x="7223760" y="3566160"/>
            <a:ext cx="1691640" cy="548640"/>
          </a:xfrm>
          <a:prstGeom prst="roundRect">
            <a:avLst>
              <a:gd name="adj" fmla="val 13333"/>
            </a:avLst>
          </a:prstGeom>
          <a:solidFill>
            <a:srgbClr val="DCF2E4"/>
          </a:solidFill>
          <a:ln w="12700">
            <a:solidFill>
              <a:srgbClr val="333333"/>
            </a:solidFill>
            <a:prstDash val="solid"/>
          </a:ln>
        </p:spPr>
        <p:txBody>
          <a:bodyPr/>
          <a:p/>
        </p:txBody>
      </p:sp>
      <p:sp>
        <p:nvSpPr>
          <p:cNvPr id="23" name="Text 21"/>
          <p:cNvSpPr/>
          <p:nvPr/>
        </p:nvSpPr>
        <p:spPr>
          <a:xfrm>
            <a:off x="7296912" y="3566160"/>
            <a:ext cx="1545336" cy="548640"/>
          </a:xfrm>
          <a:prstGeom prst="rect">
            <a:avLst/>
          </a:prstGeom>
          <a:noFill/>
          <a:ln/>
        </p:spPr>
        <p:txBody>
          <a:bodyPr wrap="square" lIns="0" tIns="0" rIns="0" bIns="0" rtlCol="0" anchor="ctr"/>
          <a:lstStyle/>
          <a:p>
            <a:pPr marL="0" indent="0" algn="ctr">
              <a:lnSpc>
                <a:spcPts val="1750"/>
              </a:lnSpc>
              <a:buNone/>
            </a:pPr>
            <a:r>
              <a:rPr lang="en-US" sz="1400" b="1" dirty="0">
                <a:solidFill>
                  <a:srgbClr val="156B33"/>
                </a:solidFill>
                <a:latin typeface="Arial" pitchFamily="34" charset="0"/>
                <a:ea typeface="Arial" pitchFamily="34" charset="-122"/>
                <a:cs typeface="Arial" pitchFamily="34" charset="-120"/>
              </a:rPr>
              <a:t>Density</a:t>
            </a:r>
            <a:endParaRPr lang="en-US" sz="1400" dirty="0"/>
          </a:p>
        </p:txBody>
      </p:sp>
      <p:sp>
        <p:nvSpPr>
          <p:cNvPr id="24" name="Shape 22"/>
          <p:cNvSpPr/>
          <p:nvPr/>
        </p:nvSpPr>
        <p:spPr>
          <a:xfrm>
            <a:off x="9144000" y="3566160"/>
            <a:ext cx="1691640" cy="548640"/>
          </a:xfrm>
          <a:prstGeom prst="roundRect">
            <a:avLst>
              <a:gd name="adj" fmla="val 13333"/>
            </a:avLst>
          </a:prstGeom>
          <a:solidFill>
            <a:srgbClr val="DCF2E4"/>
          </a:solidFill>
          <a:ln w="12700">
            <a:solidFill>
              <a:srgbClr val="333333"/>
            </a:solidFill>
            <a:prstDash val="solid"/>
          </a:ln>
        </p:spPr>
        <p:txBody>
          <a:bodyPr/>
          <a:p/>
        </p:txBody>
      </p:sp>
      <p:sp>
        <p:nvSpPr>
          <p:cNvPr id="25" name="Text 23"/>
          <p:cNvSpPr/>
          <p:nvPr/>
        </p:nvSpPr>
        <p:spPr>
          <a:xfrm>
            <a:off x="9217152" y="3566160"/>
            <a:ext cx="1545336" cy="548640"/>
          </a:xfrm>
          <a:prstGeom prst="rect">
            <a:avLst/>
          </a:prstGeom>
          <a:noFill/>
          <a:ln/>
        </p:spPr>
        <p:txBody>
          <a:bodyPr wrap="square" lIns="0" tIns="0" rIns="0" bIns="0" rtlCol="0" anchor="ctr"/>
          <a:lstStyle/>
          <a:p>
            <a:pPr marL="0" indent="0" algn="ctr">
              <a:lnSpc>
                <a:spcPts val="1750"/>
              </a:lnSpc>
              <a:buNone/>
            </a:pPr>
            <a:r>
              <a:rPr lang="en-US" sz="1400" b="1" dirty="0">
                <a:solidFill>
                  <a:srgbClr val="156B33"/>
                </a:solidFill>
                <a:latin typeface="Arial" pitchFamily="34" charset="0"/>
                <a:ea typeface="Arial" pitchFamily="34" charset="-122"/>
                <a:cs typeface="Arial" pitchFamily="34" charset="-120"/>
              </a:rPr>
              <a:t>Rg</a:t>
            </a:r>
            <a:endParaRPr lang="en-US" sz="1400" dirty="0"/>
          </a:p>
        </p:txBody>
      </p:sp>
      <p:sp>
        <p:nvSpPr>
          <p:cNvPr id="26" name="Shape 24"/>
          <p:cNvSpPr/>
          <p:nvPr/>
        </p:nvSpPr>
        <p:spPr>
          <a:xfrm>
            <a:off x="960120" y="4709160"/>
            <a:ext cx="10241280" cy="1097280"/>
          </a:xfrm>
          <a:prstGeom prst="roundRect">
            <a:avLst>
              <a:gd name="adj" fmla="val 5000"/>
            </a:avLst>
          </a:prstGeom>
          <a:solidFill>
            <a:srgbClr val="FBEEDA"/>
          </a:solidFill>
          <a:ln w="12700">
            <a:solidFill>
              <a:srgbClr val="333333"/>
            </a:solidFill>
            <a:prstDash val="solid"/>
          </a:ln>
        </p:spPr>
        <p:txBody>
          <a:bodyPr/>
          <a:lstStyle/>
          <a:p>
            <a:endParaRPr lang="en-IN" dirty="0"/>
          </a:p>
        </p:txBody>
      </p:sp>
      <p:sp>
        <p:nvSpPr>
          <p:cNvPr id="27" name="Text 25"/>
          <p:cNvSpPr/>
          <p:nvPr/>
        </p:nvSpPr>
        <p:spPr>
          <a:xfrm>
            <a:off x="1234440" y="4498848"/>
            <a:ext cx="9692640" cy="320040"/>
          </a:xfrm>
          <a:prstGeom prst="rect">
            <a:avLst/>
          </a:prstGeom>
          <a:noFill/>
          <a:ln/>
        </p:spPr>
        <p:txBody>
          <a:bodyPr wrap="square" lIns="0" tIns="0" rIns="0" bIns="0" rtlCol="0" anchor="ctr"/>
          <a:lstStyle/>
          <a:p>
            <a:pPr marL="0" indent="0">
              <a:buNone/>
            </a:pPr>
            <a:endParaRPr lang="en-US" sz="1400" dirty="0"/>
          </a:p>
        </p:txBody>
      </p:sp>
      <p:sp>
        <p:nvSpPr>
          <p:cNvPr id="28" name="Text 26"/>
          <p:cNvSpPr/>
          <p:nvPr/>
        </p:nvSpPr>
        <p:spPr>
          <a:xfrm>
            <a:off x="1234440" y="4846320"/>
            <a:ext cx="9692640" cy="777240"/>
          </a:xfrm>
          <a:prstGeom prst="rect">
            <a:avLst/>
          </a:prstGeom>
          <a:noFill/>
          <a:ln/>
        </p:spPr>
        <p:txBody>
          <a:bodyPr wrap="square" lIns="0" tIns="0" rIns="0" bIns="0" rtlCol="0" anchor="ctr"/>
          <a:lstStyle/>
          <a:p>
            <a:pPr marL="0" indent="0">
              <a:lnSpc>
                <a:spcPts val="1700"/>
              </a:lnSpc>
              <a:buNone/>
            </a:pPr>
            <a:r>
              <a:rPr lang="en-US" sz="1250" dirty="0">
                <a:solidFill>
                  <a:srgbClr val="2E2E2E"/>
                </a:solidFill>
                <a:latin typeface="Arial" pitchFamily="34" charset="0"/>
                <a:ea typeface="Arial" pitchFamily="34" charset="-122"/>
                <a:cs typeface="Arial" pitchFamily="34" charset="-120"/>
              </a:rPr>
              <a:t>They are not downloaded pretrained property predictors. Training data is the labelled subset of the Open Polymer Challenge dataset, evaluated on scaffold splits.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6  ·  METHODOLOGY</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Oracle Input Features</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13</a:t>
            </a:r>
            <a:endParaRPr lang="en-US" sz="1000" dirty="0"/>
          </a:p>
        </p:txBody>
      </p:sp>
      <p:sp>
        <p:nvSpPr>
          <p:cNvPr id="6" name="Shape 4"/>
          <p:cNvSpPr/>
          <p:nvPr/>
        </p:nvSpPr>
        <p:spPr>
          <a:xfrm>
            <a:off x="1051560" y="1965960"/>
            <a:ext cx="2286000" cy="1188720"/>
          </a:xfrm>
          <a:prstGeom prst="roundRect">
            <a:avLst>
              <a:gd name="adj" fmla="val 6154"/>
            </a:avLst>
          </a:prstGeom>
          <a:solidFill>
            <a:srgbClr val="ECECEC"/>
          </a:solidFill>
          <a:ln w="12700">
            <a:solidFill>
              <a:srgbClr val="333333"/>
            </a:solidFill>
            <a:prstDash val="solid"/>
          </a:ln>
        </p:spPr>
        <p:txBody>
          <a:bodyPr/>
          <a:p/>
        </p:txBody>
      </p:sp>
      <p:sp>
        <p:nvSpPr>
          <p:cNvPr id="7" name="Text 5"/>
          <p:cNvSpPr/>
          <p:nvPr/>
        </p:nvSpPr>
        <p:spPr>
          <a:xfrm>
            <a:off x="1124712" y="1965960"/>
            <a:ext cx="2139696" cy="1188720"/>
          </a:xfrm>
          <a:prstGeom prst="rect">
            <a:avLst/>
          </a:prstGeom>
          <a:noFill/>
          <a:ln/>
        </p:spPr>
        <p:txBody>
          <a:bodyPr wrap="square" lIns="0" tIns="0" rIns="0" bIns="0" rtlCol="0" anchor="ctr"/>
          <a:lstStyle/>
          <a:p>
            <a:pPr marL="0" indent="0" algn="ctr">
              <a:lnSpc>
                <a:spcPts val="1625"/>
              </a:lnSpc>
              <a:buNone/>
            </a:pPr>
            <a:r>
              <a:rPr lang="en-US" sz="1300" b="1" dirty="0">
                <a:solidFill>
                  <a:srgbClr val="111111"/>
                </a:solidFill>
                <a:latin typeface="Arial" pitchFamily="34" charset="0"/>
                <a:ea typeface="Arial" pitchFamily="34" charset="-122"/>
                <a:cs typeface="Arial" pitchFamily="34" charset="-120"/>
              </a:rPr>
              <a:t>Molecular</a:t>
            </a:r>
            <a:endParaRPr lang="en-US" sz="1300" dirty="0"/>
          </a:p>
          <a:p>
            <a:pPr marL="0" indent="0" algn="ctr">
              <a:lnSpc>
                <a:spcPts val="1625"/>
              </a:lnSpc>
              <a:buNone/>
            </a:pPr>
            <a:r>
              <a:rPr lang="en-US" sz="1300" b="1" dirty="0">
                <a:solidFill>
                  <a:srgbClr val="111111"/>
                </a:solidFill>
                <a:latin typeface="Arial" pitchFamily="34" charset="0"/>
                <a:ea typeface="Arial" pitchFamily="34" charset="-122"/>
                <a:cs typeface="Arial" pitchFamily="34" charset="-120"/>
              </a:rPr>
              <a:t>structure</a:t>
            </a:r>
            <a:endParaRPr lang="en-US" sz="1300" dirty="0"/>
          </a:p>
        </p:txBody>
      </p:sp>
      <p:sp>
        <p:nvSpPr>
          <p:cNvPr id="8" name="Shape 6"/>
          <p:cNvSpPr/>
          <p:nvPr/>
        </p:nvSpPr>
        <p:spPr>
          <a:xfrm>
            <a:off x="3474720" y="2423160"/>
            <a:ext cx="320040" cy="237744"/>
          </a:xfrm>
          <a:prstGeom prst="rightArrow">
            <a:avLst/>
          </a:prstGeom>
          <a:solidFill>
            <a:srgbClr val="111111"/>
          </a:solidFill>
          <a:ln w="12700">
            <a:solidFill>
              <a:srgbClr val="333333"/>
            </a:solidFill>
            <a:prstDash val="solid"/>
          </a:ln>
        </p:spPr>
        <p:txBody>
          <a:bodyPr/>
          <a:p/>
        </p:txBody>
      </p:sp>
      <p:sp>
        <p:nvSpPr>
          <p:cNvPr id="9" name="Shape 7"/>
          <p:cNvSpPr/>
          <p:nvPr/>
        </p:nvSpPr>
        <p:spPr>
          <a:xfrm>
            <a:off x="3931920" y="1965960"/>
            <a:ext cx="3017520" cy="1188720"/>
          </a:xfrm>
          <a:prstGeom prst="roundRect">
            <a:avLst>
              <a:gd name="adj" fmla="val 6154"/>
            </a:avLst>
          </a:prstGeom>
          <a:solidFill>
            <a:srgbClr val="E3EDF8"/>
          </a:solidFill>
          <a:ln w="12700">
            <a:solidFill>
              <a:srgbClr val="333333"/>
            </a:solidFill>
            <a:prstDash val="solid"/>
          </a:ln>
        </p:spPr>
        <p:txBody>
          <a:bodyPr/>
          <a:p/>
        </p:txBody>
      </p:sp>
      <p:sp>
        <p:nvSpPr>
          <p:cNvPr id="10" name="Text 8"/>
          <p:cNvSpPr/>
          <p:nvPr/>
        </p:nvSpPr>
        <p:spPr>
          <a:xfrm>
            <a:off x="3931920" y="2011680"/>
            <a:ext cx="3017520" cy="566928"/>
          </a:xfrm>
          <a:prstGeom prst="rect">
            <a:avLst/>
          </a:prstGeom>
          <a:noFill/>
          <a:ln/>
        </p:spPr>
        <p:txBody>
          <a:bodyPr wrap="square" lIns="0" tIns="0" rIns="0" bIns="0" rtlCol="0" anchor="ctr"/>
          <a:lstStyle/>
          <a:p>
            <a:pPr marL="0" indent="0" algn="ctr">
              <a:lnSpc>
                <a:spcPts val="1500"/>
              </a:lnSpc>
              <a:buNone/>
            </a:pPr>
            <a:r>
              <a:rPr lang="en-US" sz="1250" b="1" dirty="0">
                <a:solidFill>
                  <a:srgbClr val="1B4F8A"/>
                </a:solidFill>
                <a:latin typeface="Arial" pitchFamily="34" charset="0"/>
                <a:ea typeface="Arial" pitchFamily="34" charset="-122"/>
                <a:cs typeface="Arial" pitchFamily="34" charset="-120"/>
              </a:rPr>
              <a:t>2048-bit</a:t>
            </a:r>
            <a:endParaRPr lang="en-US" sz="1250" dirty="0"/>
          </a:p>
          <a:p>
            <a:pPr marL="0" indent="0" algn="ctr">
              <a:lnSpc>
                <a:spcPts val="1500"/>
              </a:lnSpc>
              <a:buNone/>
            </a:pPr>
            <a:r>
              <a:rPr lang="en-US" sz="1250" b="1" dirty="0">
                <a:solidFill>
                  <a:srgbClr val="1B4F8A"/>
                </a:solidFill>
                <a:latin typeface="Arial" pitchFamily="34" charset="0"/>
                <a:ea typeface="Arial" pitchFamily="34" charset="-122"/>
                <a:cs typeface="Arial" pitchFamily="34" charset="-120"/>
              </a:rPr>
              <a:t>Morgan fingerprint</a:t>
            </a:r>
            <a:endParaRPr lang="en-US" sz="1250" dirty="0"/>
          </a:p>
        </p:txBody>
      </p:sp>
      <p:sp>
        <p:nvSpPr>
          <p:cNvPr id="11" name="Text 9"/>
          <p:cNvSpPr/>
          <p:nvPr/>
        </p:nvSpPr>
        <p:spPr>
          <a:xfrm>
            <a:off x="3931920" y="2523744"/>
            <a:ext cx="3017520" cy="182880"/>
          </a:xfrm>
          <a:prstGeom prst="rect">
            <a:avLst/>
          </a:prstGeom>
          <a:noFill/>
          <a:ln/>
        </p:spPr>
        <p:txBody>
          <a:bodyPr wrap="square" lIns="0" tIns="0" rIns="0" bIns="0" rtlCol="0" anchor="ctr"/>
          <a:lstStyle/>
          <a:p>
            <a:pPr marL="0" indent="0" algn="ctr">
              <a:buNone/>
            </a:pPr>
            <a:r>
              <a:rPr lang="en-US" sz="1300" b="1" dirty="0">
                <a:solidFill>
                  <a:srgbClr val="5C5C5C"/>
                </a:solidFill>
                <a:latin typeface="Arial" pitchFamily="34" charset="0"/>
                <a:ea typeface="Arial" pitchFamily="34" charset="-122"/>
                <a:cs typeface="Arial" pitchFamily="34" charset="-120"/>
              </a:rPr>
              <a:t>+</a:t>
            </a:r>
            <a:endParaRPr lang="en-US" sz="1300" dirty="0"/>
          </a:p>
        </p:txBody>
      </p:sp>
      <p:sp>
        <p:nvSpPr>
          <p:cNvPr id="12" name="Text 10"/>
          <p:cNvSpPr/>
          <p:nvPr/>
        </p:nvSpPr>
        <p:spPr>
          <a:xfrm>
            <a:off x="3931920" y="2651760"/>
            <a:ext cx="3017520" cy="457200"/>
          </a:xfrm>
          <a:prstGeom prst="rect">
            <a:avLst/>
          </a:prstGeom>
          <a:noFill/>
          <a:ln/>
        </p:spPr>
        <p:txBody>
          <a:bodyPr wrap="square" lIns="0" tIns="0" rIns="0" bIns="0" rtlCol="0" anchor="ctr"/>
          <a:lstStyle/>
          <a:p>
            <a:pPr marL="0" indent="0" algn="ctr">
              <a:lnSpc>
                <a:spcPts val="1400"/>
              </a:lnSpc>
              <a:buNone/>
            </a:pPr>
            <a:r>
              <a:rPr lang="en-US" sz="1150" b="1" dirty="0">
                <a:solidFill>
                  <a:srgbClr val="1B4F8A"/>
                </a:solidFill>
                <a:latin typeface="Arial" pitchFamily="34" charset="0"/>
                <a:ea typeface="Arial" pitchFamily="34" charset="-122"/>
                <a:cs typeface="Arial" pitchFamily="34" charset="-120"/>
              </a:rPr>
              <a:t>14 RDKit</a:t>
            </a:r>
            <a:endParaRPr lang="en-US" sz="1150" dirty="0"/>
          </a:p>
          <a:p>
            <a:pPr marL="0" indent="0" algn="ctr">
              <a:lnSpc>
                <a:spcPts val="1400"/>
              </a:lnSpc>
              <a:buNone/>
            </a:pPr>
            <a:r>
              <a:rPr lang="en-US" sz="1150" b="1" dirty="0">
                <a:solidFill>
                  <a:srgbClr val="1B4F8A"/>
                </a:solidFill>
                <a:latin typeface="Arial" pitchFamily="34" charset="0"/>
                <a:ea typeface="Arial" pitchFamily="34" charset="-122"/>
                <a:cs typeface="Arial" pitchFamily="34" charset="-120"/>
              </a:rPr>
              <a:t>physicochemical descriptors</a:t>
            </a:r>
            <a:endParaRPr lang="en-US" sz="1150" dirty="0"/>
          </a:p>
        </p:txBody>
      </p:sp>
      <p:sp>
        <p:nvSpPr>
          <p:cNvPr id="13" name="Shape 11"/>
          <p:cNvSpPr/>
          <p:nvPr/>
        </p:nvSpPr>
        <p:spPr>
          <a:xfrm>
            <a:off x="7086600" y="2423160"/>
            <a:ext cx="320040" cy="237744"/>
          </a:xfrm>
          <a:prstGeom prst="rightArrow">
            <a:avLst/>
          </a:prstGeom>
          <a:solidFill>
            <a:srgbClr val="111111"/>
          </a:solidFill>
          <a:ln w="12700">
            <a:solidFill>
              <a:srgbClr val="333333"/>
            </a:solidFill>
            <a:prstDash val="solid"/>
          </a:ln>
        </p:spPr>
        <p:txBody>
          <a:bodyPr/>
          <a:p/>
        </p:txBody>
      </p:sp>
      <p:sp>
        <p:nvSpPr>
          <p:cNvPr id="14" name="Shape 12"/>
          <p:cNvSpPr/>
          <p:nvPr/>
        </p:nvSpPr>
        <p:spPr>
          <a:xfrm>
            <a:off x="7543800" y="1965960"/>
            <a:ext cx="1737360" cy="1188720"/>
          </a:xfrm>
          <a:prstGeom prst="roundRect">
            <a:avLst>
              <a:gd name="adj" fmla="val 6154"/>
            </a:avLst>
          </a:prstGeom>
          <a:solidFill>
            <a:srgbClr val="DCF2E4"/>
          </a:solidFill>
          <a:ln w="12700">
            <a:solidFill>
              <a:srgbClr val="333333"/>
            </a:solidFill>
            <a:prstDash val="solid"/>
          </a:ln>
        </p:spPr>
        <p:txBody>
          <a:bodyPr/>
          <a:p/>
        </p:txBody>
      </p:sp>
      <p:sp>
        <p:nvSpPr>
          <p:cNvPr id="15" name="Text 13"/>
          <p:cNvSpPr/>
          <p:nvPr/>
        </p:nvSpPr>
        <p:spPr>
          <a:xfrm>
            <a:off x="7616952" y="1965960"/>
            <a:ext cx="1591056" cy="1188720"/>
          </a:xfrm>
          <a:prstGeom prst="rect">
            <a:avLst/>
          </a:prstGeom>
          <a:noFill/>
          <a:ln/>
        </p:spPr>
        <p:txBody>
          <a:bodyPr wrap="square" lIns="0" tIns="0" rIns="0" bIns="0" rtlCol="0" anchor="ctr"/>
          <a:lstStyle/>
          <a:p>
            <a:pPr marL="0" indent="0" algn="ctr">
              <a:lnSpc>
                <a:spcPts val="1875"/>
              </a:lnSpc>
              <a:buNone/>
            </a:pPr>
            <a:r>
              <a:rPr lang="en-US" sz="1500" b="1" dirty="0">
                <a:solidFill>
                  <a:srgbClr val="156B33"/>
                </a:solidFill>
                <a:latin typeface="Arial" pitchFamily="34" charset="0"/>
                <a:ea typeface="Arial" pitchFamily="34" charset="-122"/>
                <a:cs typeface="Arial" pitchFamily="34" charset="-120"/>
              </a:rPr>
              <a:t>2062</a:t>
            </a:r>
            <a:endParaRPr lang="en-US" sz="1500" dirty="0"/>
          </a:p>
          <a:p>
            <a:pPr marL="0" indent="0" algn="ctr">
              <a:lnSpc>
                <a:spcPts val="1875"/>
              </a:lnSpc>
              <a:buNone/>
            </a:pPr>
            <a:r>
              <a:rPr lang="en-US" sz="1500" b="1" dirty="0">
                <a:solidFill>
                  <a:srgbClr val="156B33"/>
                </a:solidFill>
                <a:latin typeface="Arial" pitchFamily="34" charset="0"/>
                <a:ea typeface="Arial" pitchFamily="34" charset="-122"/>
                <a:cs typeface="Arial" pitchFamily="34" charset="-120"/>
              </a:rPr>
              <a:t>features</a:t>
            </a:r>
            <a:endParaRPr lang="en-US" sz="1500" dirty="0"/>
          </a:p>
        </p:txBody>
      </p:sp>
      <p:sp>
        <p:nvSpPr>
          <p:cNvPr id="16" name="Shape 14"/>
          <p:cNvSpPr/>
          <p:nvPr/>
        </p:nvSpPr>
        <p:spPr>
          <a:xfrm>
            <a:off x="9418320" y="2423160"/>
            <a:ext cx="320040" cy="237744"/>
          </a:xfrm>
          <a:prstGeom prst="rightArrow">
            <a:avLst/>
          </a:prstGeom>
          <a:solidFill>
            <a:srgbClr val="111111"/>
          </a:solidFill>
          <a:ln w="12700">
            <a:solidFill>
              <a:srgbClr val="333333"/>
            </a:solidFill>
            <a:prstDash val="solid"/>
          </a:ln>
        </p:spPr>
        <p:txBody>
          <a:bodyPr/>
          <a:p/>
        </p:txBody>
      </p:sp>
      <p:sp>
        <p:nvSpPr>
          <p:cNvPr id="17" name="Shape 15"/>
          <p:cNvSpPr/>
          <p:nvPr/>
        </p:nvSpPr>
        <p:spPr>
          <a:xfrm>
            <a:off x="9875520" y="1965960"/>
            <a:ext cx="1280160" cy="1188720"/>
          </a:xfrm>
          <a:prstGeom prst="roundRect">
            <a:avLst>
              <a:gd name="adj" fmla="val 6154"/>
            </a:avLst>
          </a:prstGeom>
          <a:solidFill>
            <a:srgbClr val="DCF2E4"/>
          </a:solidFill>
          <a:ln w="12700">
            <a:solidFill>
              <a:srgbClr val="333333"/>
            </a:solidFill>
            <a:prstDash val="solid"/>
          </a:ln>
        </p:spPr>
        <p:txBody>
          <a:bodyPr/>
          <a:p/>
        </p:txBody>
      </p:sp>
      <p:sp>
        <p:nvSpPr>
          <p:cNvPr id="18" name="Text 16"/>
          <p:cNvSpPr/>
          <p:nvPr/>
        </p:nvSpPr>
        <p:spPr>
          <a:xfrm>
            <a:off x="9948672" y="1965960"/>
            <a:ext cx="1133856" cy="1188720"/>
          </a:xfrm>
          <a:prstGeom prst="rect">
            <a:avLst/>
          </a:prstGeom>
          <a:noFill/>
          <a:ln/>
        </p:spPr>
        <p:txBody>
          <a:bodyPr wrap="square" lIns="0" tIns="0" rIns="0" bIns="0" rtlCol="0" anchor="ctr"/>
          <a:lstStyle/>
          <a:p>
            <a:pPr marL="0" indent="0" algn="ctr">
              <a:lnSpc>
                <a:spcPts val="1500"/>
              </a:lnSpc>
              <a:buNone/>
            </a:pPr>
            <a:r>
              <a:rPr lang="en-US" sz="1200" b="1" dirty="0">
                <a:solidFill>
                  <a:srgbClr val="156B33"/>
                </a:solidFill>
                <a:latin typeface="Arial" pitchFamily="34" charset="0"/>
                <a:ea typeface="Arial" pitchFamily="34" charset="-122"/>
                <a:cs typeface="Arial" pitchFamily="34" charset="-120"/>
              </a:rPr>
              <a:t>Gradient</a:t>
            </a:r>
            <a:endParaRPr lang="en-US" sz="1200" dirty="0"/>
          </a:p>
          <a:p>
            <a:pPr marL="0" indent="0" algn="ctr">
              <a:lnSpc>
                <a:spcPts val="1500"/>
              </a:lnSpc>
              <a:buNone/>
            </a:pPr>
            <a:r>
              <a:rPr lang="en-US" sz="1200" b="1" dirty="0">
                <a:solidFill>
                  <a:srgbClr val="156B33"/>
                </a:solidFill>
                <a:latin typeface="Arial" pitchFamily="34" charset="0"/>
                <a:ea typeface="Arial" pitchFamily="34" charset="-122"/>
                <a:cs typeface="Arial" pitchFamily="34" charset="-120"/>
              </a:rPr>
              <a:t>boosting</a:t>
            </a:r>
            <a:endParaRPr lang="en-US" sz="1200" dirty="0"/>
          </a:p>
        </p:txBody>
      </p:sp>
      <p:sp>
        <p:nvSpPr>
          <p:cNvPr id="19" name="Shape 17"/>
          <p:cNvSpPr/>
          <p:nvPr/>
        </p:nvSpPr>
        <p:spPr>
          <a:xfrm>
            <a:off x="960120" y="3520440"/>
            <a:ext cx="10241280" cy="868680"/>
          </a:xfrm>
          <a:prstGeom prst="roundRect">
            <a:avLst>
              <a:gd name="adj" fmla="val 8421"/>
            </a:avLst>
          </a:prstGeom>
          <a:solidFill>
            <a:srgbClr val="ECECEC"/>
          </a:solidFill>
          <a:ln w="12700">
            <a:solidFill>
              <a:srgbClr val="333333"/>
            </a:solidFill>
            <a:prstDash val="solid"/>
          </a:ln>
        </p:spPr>
        <p:txBody>
          <a:bodyPr/>
          <a:p/>
        </p:txBody>
      </p:sp>
      <p:sp>
        <p:nvSpPr>
          <p:cNvPr id="20" name="Text 18"/>
          <p:cNvSpPr/>
          <p:nvPr/>
        </p:nvSpPr>
        <p:spPr>
          <a:xfrm>
            <a:off x="960120" y="3520440"/>
            <a:ext cx="10241280" cy="868680"/>
          </a:xfrm>
          <a:prstGeom prst="rect">
            <a:avLst/>
          </a:prstGeom>
          <a:noFill/>
          <a:ln/>
        </p:spPr>
        <p:txBody>
          <a:bodyPr wrap="square" lIns="0" tIns="0" rIns="0" bIns="0" rtlCol="0" anchor="ctr"/>
          <a:lstStyle/>
          <a:p>
            <a:pPr marL="0" indent="0" algn="ctr">
              <a:buNone/>
            </a:pPr>
            <a:r>
              <a:rPr lang="en-US" sz="1400" dirty="0">
                <a:solidFill>
                  <a:srgbClr val="111111"/>
                </a:solidFill>
                <a:latin typeface="Arial" pitchFamily="34" charset="0"/>
                <a:ea typeface="Arial" pitchFamily="34" charset="-122"/>
                <a:cs typeface="Arial" pitchFamily="34" charset="-120"/>
              </a:rPr>
              <a:t>The molecular structure is converted into numerical features so the gradient boosting model can learn structure → property relationships.</a:t>
            </a:r>
            <a:endParaRPr lang="en-US" sz="1400" dirty="0"/>
          </a:p>
        </p:txBody>
      </p:sp>
      <p:sp>
        <p:nvSpPr>
          <p:cNvPr id="21" name="Shape 19"/>
          <p:cNvSpPr/>
          <p:nvPr/>
        </p:nvSpPr>
        <p:spPr>
          <a:xfrm>
            <a:off x="960120" y="4617720"/>
            <a:ext cx="4983480" cy="1188720"/>
          </a:xfrm>
          <a:prstGeom prst="roundRect">
            <a:avLst>
              <a:gd name="adj" fmla="val 6154"/>
            </a:avLst>
          </a:prstGeom>
          <a:solidFill>
            <a:srgbClr val="FFFFFF"/>
          </a:solidFill>
          <a:ln w="12700">
            <a:solidFill>
              <a:srgbClr val="333333"/>
            </a:solidFill>
            <a:prstDash val="solid"/>
          </a:ln>
        </p:spPr>
        <p:txBody>
          <a:bodyPr/>
          <a:p/>
        </p:txBody>
      </p:sp>
      <p:sp>
        <p:nvSpPr>
          <p:cNvPr id="22" name="Shape 20"/>
          <p:cNvSpPr/>
          <p:nvPr/>
        </p:nvSpPr>
        <p:spPr>
          <a:xfrm>
            <a:off x="960120" y="4617720"/>
            <a:ext cx="4983480" cy="1188720"/>
          </a:xfrm>
          <a:prstGeom prst="rect">
            <a:avLst/>
          </a:prstGeom>
          <a:solidFill>
            <a:srgbClr val="FFFFFF"/>
          </a:solidFill>
          <a:ln w="12700">
            <a:solidFill>
              <a:srgbClr val="D5D5D5"/>
            </a:solidFill>
            <a:prstDash val="solid"/>
          </a:ln>
        </p:spPr>
        <p:txBody>
          <a:bodyPr/>
          <a:p/>
        </p:txBody>
      </p:sp>
      <p:sp>
        <p:nvSpPr>
          <p:cNvPr id="23" name="Text 21"/>
          <p:cNvSpPr/>
          <p:nvPr/>
        </p:nvSpPr>
        <p:spPr>
          <a:xfrm>
            <a:off x="1234440" y="4736592"/>
            <a:ext cx="4389120" cy="274320"/>
          </a:xfrm>
          <a:prstGeom prst="rect">
            <a:avLst/>
          </a:prstGeom>
          <a:noFill/>
          <a:ln/>
        </p:spPr>
        <p:txBody>
          <a:bodyPr wrap="square" lIns="0" tIns="0" rIns="0" bIns="0" rtlCol="0" anchor="ctr"/>
          <a:lstStyle/>
          <a:p>
            <a:pPr marL="0" indent="0">
              <a:buNone/>
            </a:pPr>
            <a:r>
              <a:rPr lang="en-US" sz="1250" b="1" dirty="0">
                <a:solidFill>
                  <a:srgbClr val="111111"/>
                </a:solidFill>
                <a:latin typeface="Arial" pitchFamily="34" charset="0"/>
                <a:ea typeface="Arial" pitchFamily="34" charset="-122"/>
                <a:cs typeface="Arial" pitchFamily="34" charset="-120"/>
              </a:rPr>
              <a:t>Morgan fingerprint</a:t>
            </a:r>
            <a:endParaRPr lang="en-US" sz="1250" dirty="0"/>
          </a:p>
        </p:txBody>
      </p:sp>
      <p:sp>
        <p:nvSpPr>
          <p:cNvPr id="24" name="Text 22"/>
          <p:cNvSpPr/>
          <p:nvPr/>
        </p:nvSpPr>
        <p:spPr>
          <a:xfrm>
            <a:off x="1234440" y="5029200"/>
            <a:ext cx="4434840" cy="640080"/>
          </a:xfrm>
          <a:prstGeom prst="rect">
            <a:avLst/>
          </a:prstGeom>
          <a:noFill/>
          <a:ln/>
        </p:spPr>
        <p:txBody>
          <a:bodyPr wrap="square" lIns="0" tIns="0" rIns="0" bIns="0" rtlCol="0" anchor="ctr"/>
          <a:lstStyle/>
          <a:p>
            <a:pPr marL="0" indent="0">
              <a:lnSpc>
                <a:spcPts val="1500"/>
              </a:lnSpc>
              <a:buNone/>
            </a:pPr>
            <a:r>
              <a:rPr lang="en-US" sz="1150" dirty="0">
                <a:solidFill>
                  <a:srgbClr val="2E2E2E"/>
                </a:solidFill>
                <a:latin typeface="Arial" pitchFamily="34" charset="0"/>
                <a:ea typeface="Arial" pitchFamily="34" charset="-122"/>
                <a:cs typeface="Arial" pitchFamily="34" charset="-120"/>
              </a:rPr>
              <a:t>A binary vector recording which circular substructures are present around each atom.</a:t>
            </a:r>
            <a:endParaRPr lang="en-US" sz="1150" dirty="0"/>
          </a:p>
        </p:txBody>
      </p:sp>
      <p:sp>
        <p:nvSpPr>
          <p:cNvPr id="25" name="Shape 23"/>
          <p:cNvSpPr/>
          <p:nvPr/>
        </p:nvSpPr>
        <p:spPr>
          <a:xfrm>
            <a:off x="6217920" y="4617720"/>
            <a:ext cx="4983480" cy="1188720"/>
          </a:xfrm>
          <a:prstGeom prst="rect">
            <a:avLst/>
          </a:prstGeom>
          <a:solidFill>
            <a:srgbClr val="FFFFFF"/>
          </a:solidFill>
          <a:ln w="12700">
            <a:solidFill>
              <a:srgbClr val="D5D5D5"/>
            </a:solidFill>
            <a:prstDash val="solid"/>
          </a:ln>
        </p:spPr>
        <p:txBody>
          <a:bodyPr/>
          <a:p/>
        </p:txBody>
      </p:sp>
      <p:sp>
        <p:nvSpPr>
          <p:cNvPr id="26" name="Text 24"/>
          <p:cNvSpPr/>
          <p:nvPr/>
        </p:nvSpPr>
        <p:spPr>
          <a:xfrm>
            <a:off x="6492240" y="4736592"/>
            <a:ext cx="4389120" cy="274320"/>
          </a:xfrm>
          <a:prstGeom prst="rect">
            <a:avLst/>
          </a:prstGeom>
          <a:noFill/>
          <a:ln/>
        </p:spPr>
        <p:txBody>
          <a:bodyPr wrap="square" lIns="0" tIns="0" rIns="0" bIns="0" rtlCol="0" anchor="ctr"/>
          <a:lstStyle/>
          <a:p>
            <a:pPr marL="0" indent="0">
              <a:buNone/>
            </a:pPr>
            <a:r>
              <a:rPr lang="en-US" sz="1250" b="1" dirty="0">
                <a:solidFill>
                  <a:srgbClr val="111111"/>
                </a:solidFill>
                <a:latin typeface="Arial" pitchFamily="34" charset="0"/>
                <a:ea typeface="Arial" pitchFamily="34" charset="-122"/>
                <a:cs typeface="Arial" pitchFamily="34" charset="-120"/>
              </a:rPr>
              <a:t>RDKit descriptors</a:t>
            </a:r>
            <a:endParaRPr lang="en-US" sz="1250" dirty="0"/>
          </a:p>
        </p:txBody>
      </p:sp>
      <p:sp>
        <p:nvSpPr>
          <p:cNvPr id="27" name="Text 25"/>
          <p:cNvSpPr/>
          <p:nvPr/>
        </p:nvSpPr>
        <p:spPr>
          <a:xfrm>
            <a:off x="6492240" y="5029200"/>
            <a:ext cx="4434840" cy="640080"/>
          </a:xfrm>
          <a:prstGeom prst="rect">
            <a:avLst/>
          </a:prstGeom>
          <a:noFill/>
          <a:ln/>
        </p:spPr>
        <p:txBody>
          <a:bodyPr wrap="square" lIns="0" tIns="0" rIns="0" bIns="0" rtlCol="0" anchor="ctr"/>
          <a:lstStyle/>
          <a:p>
            <a:pPr marL="0" indent="0">
              <a:lnSpc>
                <a:spcPts val="1500"/>
              </a:lnSpc>
              <a:buNone/>
            </a:pPr>
            <a:r>
              <a:rPr lang="en-US" sz="1150" dirty="0">
                <a:solidFill>
                  <a:srgbClr val="2E2E2E"/>
                </a:solidFill>
                <a:latin typeface="Arial" pitchFamily="34" charset="0"/>
                <a:ea typeface="Arial" pitchFamily="34" charset="-122"/>
                <a:cs typeface="Arial" pitchFamily="34" charset="-120"/>
              </a:rPr>
              <a:t>Whole-molecule quantities such as molecular weight, rotatable bonds, aromatic ring fraction.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6  ·  METHODOLOGY</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Pseudo-labelling</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14</a:t>
            </a:r>
            <a:endParaRPr lang="en-US" sz="1000" dirty="0"/>
          </a:p>
        </p:txBody>
      </p:sp>
      <p:sp>
        <p:nvSpPr>
          <p:cNvPr id="6" name="Shape 4"/>
          <p:cNvSpPr/>
          <p:nvPr/>
        </p:nvSpPr>
        <p:spPr>
          <a:xfrm>
            <a:off x="960120" y="1691640"/>
            <a:ext cx="3017520" cy="1371600"/>
          </a:xfrm>
          <a:prstGeom prst="roundRect">
            <a:avLst>
              <a:gd name="adj" fmla="val 5333"/>
            </a:avLst>
          </a:prstGeom>
          <a:solidFill>
            <a:srgbClr val="FBEEDA"/>
          </a:solidFill>
          <a:ln w="12700">
            <a:solidFill>
              <a:srgbClr val="333333"/>
            </a:solidFill>
            <a:prstDash val="solid"/>
          </a:ln>
        </p:spPr>
        <p:txBody>
          <a:bodyPr/>
          <a:p/>
        </p:txBody>
      </p:sp>
      <p:sp>
        <p:nvSpPr>
          <p:cNvPr id="7" name="Text 5"/>
          <p:cNvSpPr/>
          <p:nvPr/>
        </p:nvSpPr>
        <p:spPr>
          <a:xfrm>
            <a:off x="1188720" y="1810512"/>
            <a:ext cx="2560320" cy="320040"/>
          </a:xfrm>
          <a:prstGeom prst="rect">
            <a:avLst/>
          </a:prstGeom>
          <a:noFill/>
          <a:ln/>
        </p:spPr>
        <p:txBody>
          <a:bodyPr wrap="square" lIns="0" tIns="0" rIns="0" bIns="0" rtlCol="0" anchor="ctr"/>
          <a:lstStyle/>
          <a:p>
            <a:pPr marL="0" indent="0">
              <a:buNone/>
            </a:pPr>
            <a:r>
              <a:rPr lang="en-US" sz="1500" b="1" dirty="0">
                <a:solidFill>
                  <a:srgbClr val="9C5A0B"/>
                </a:solidFill>
                <a:latin typeface="Arial" pitchFamily="34" charset="0"/>
                <a:ea typeface="Arial" pitchFamily="34" charset="-122"/>
                <a:cs typeface="Arial" pitchFamily="34" charset="-120"/>
              </a:rPr>
              <a:t>PI1M</a:t>
            </a:r>
            <a:endParaRPr lang="en-US" sz="1500" dirty="0"/>
          </a:p>
        </p:txBody>
      </p:sp>
      <p:sp>
        <p:nvSpPr>
          <p:cNvPr id="8" name="Text 6"/>
          <p:cNvSpPr/>
          <p:nvPr/>
        </p:nvSpPr>
        <p:spPr>
          <a:xfrm>
            <a:off x="1188720" y="2148840"/>
            <a:ext cx="2560320" cy="777240"/>
          </a:xfrm>
          <a:prstGeom prst="rect">
            <a:avLst/>
          </a:prstGeom>
          <a:noFill/>
          <a:ln/>
        </p:spPr>
        <p:txBody>
          <a:bodyPr wrap="square" lIns="0" tIns="0" rIns="0" bIns="0" rtlCol="0" anchor="ctr"/>
          <a:lstStyle/>
          <a:p>
            <a:pPr marL="0" indent="0">
              <a:lnSpc>
                <a:spcPts val="1800"/>
              </a:lnSpc>
              <a:buNone/>
            </a:pPr>
            <a:r>
              <a:rPr lang="en-US" sz="1300" b="1" dirty="0">
                <a:solidFill>
                  <a:srgbClr val="111111"/>
                </a:solidFill>
                <a:latin typeface="Arial" pitchFamily="34" charset="0"/>
                <a:ea typeface="Arial" pitchFamily="34" charset="-122"/>
                <a:cs typeface="Arial" pitchFamily="34" charset="-120"/>
              </a:rPr>
              <a:t>986,529 structures</a:t>
            </a:r>
            <a:endParaRPr lang="en-US" sz="1300" dirty="0"/>
          </a:p>
          <a:p>
            <a:pPr marL="0" indent="0">
              <a:lnSpc>
                <a:spcPts val="1800"/>
              </a:lnSpc>
              <a:buNone/>
            </a:pPr>
            <a:r>
              <a:rPr lang="en-US" sz="1300" b="1" dirty="0">
                <a:solidFill>
                  <a:srgbClr val="111111"/>
                </a:solidFill>
                <a:latin typeface="Arial" pitchFamily="34" charset="0"/>
                <a:ea typeface="Arial" pitchFamily="34" charset="-122"/>
                <a:cs typeface="Arial" pitchFamily="34" charset="-120"/>
              </a:rPr>
              <a:t>0 property labels</a:t>
            </a:r>
            <a:endParaRPr lang="en-US" sz="1300" dirty="0"/>
          </a:p>
        </p:txBody>
      </p:sp>
      <p:sp>
        <p:nvSpPr>
          <p:cNvPr id="9" name="Shape 7"/>
          <p:cNvSpPr/>
          <p:nvPr/>
        </p:nvSpPr>
        <p:spPr>
          <a:xfrm>
            <a:off x="4114800" y="2267712"/>
            <a:ext cx="365760" cy="237744"/>
          </a:xfrm>
          <a:prstGeom prst="rightArrow">
            <a:avLst/>
          </a:prstGeom>
          <a:solidFill>
            <a:srgbClr val="111111"/>
          </a:solidFill>
          <a:ln w="12700">
            <a:solidFill>
              <a:srgbClr val="333333"/>
            </a:solidFill>
            <a:prstDash val="solid"/>
          </a:ln>
        </p:spPr>
        <p:txBody>
          <a:bodyPr/>
          <a:p/>
        </p:txBody>
      </p:sp>
      <p:sp>
        <p:nvSpPr>
          <p:cNvPr id="10" name="Shape 8"/>
          <p:cNvSpPr/>
          <p:nvPr/>
        </p:nvSpPr>
        <p:spPr>
          <a:xfrm>
            <a:off x="4663440" y="1691640"/>
            <a:ext cx="2286000" cy="1371600"/>
          </a:xfrm>
          <a:prstGeom prst="roundRect">
            <a:avLst>
              <a:gd name="adj" fmla="val 5333"/>
            </a:avLst>
          </a:prstGeom>
          <a:solidFill>
            <a:srgbClr val="DCF2E4"/>
          </a:solidFill>
          <a:ln w="12700">
            <a:solidFill>
              <a:srgbClr val="333333"/>
            </a:solidFill>
            <a:prstDash val="solid"/>
          </a:ln>
        </p:spPr>
        <p:txBody>
          <a:bodyPr/>
          <a:p/>
        </p:txBody>
      </p:sp>
      <p:sp>
        <p:nvSpPr>
          <p:cNvPr id="11" name="Text 9"/>
          <p:cNvSpPr/>
          <p:nvPr/>
        </p:nvSpPr>
        <p:spPr>
          <a:xfrm>
            <a:off x="4736592" y="1691640"/>
            <a:ext cx="2139696" cy="1371600"/>
          </a:xfrm>
          <a:prstGeom prst="rect">
            <a:avLst/>
          </a:prstGeom>
          <a:noFill/>
          <a:ln/>
        </p:spPr>
        <p:txBody>
          <a:bodyPr wrap="square" lIns="0" tIns="0" rIns="0" bIns="0" rtlCol="0" anchor="ctr"/>
          <a:lstStyle/>
          <a:p>
            <a:pPr marL="0" indent="0" algn="ctr">
              <a:lnSpc>
                <a:spcPts val="1750"/>
              </a:lnSpc>
              <a:buNone/>
            </a:pPr>
            <a:r>
              <a:rPr lang="en-US" sz="1400" b="1" dirty="0">
                <a:solidFill>
                  <a:srgbClr val="156B33"/>
                </a:solidFill>
                <a:latin typeface="Arial" pitchFamily="34" charset="0"/>
                <a:ea typeface="Arial" pitchFamily="34" charset="-122"/>
                <a:cs typeface="Arial" pitchFamily="34" charset="-120"/>
              </a:rPr>
              <a:t>Trained</a:t>
            </a:r>
            <a:endParaRPr lang="en-US" sz="1400" dirty="0"/>
          </a:p>
          <a:p>
            <a:pPr marL="0" indent="0" algn="ctr">
              <a:lnSpc>
                <a:spcPts val="1750"/>
              </a:lnSpc>
              <a:buNone/>
            </a:pPr>
            <a:r>
              <a:rPr lang="en-US" sz="1400" b="1" dirty="0">
                <a:solidFill>
                  <a:srgbClr val="156B33"/>
                </a:solidFill>
                <a:latin typeface="Arial" pitchFamily="34" charset="0"/>
                <a:ea typeface="Arial" pitchFamily="34" charset="-122"/>
                <a:cs typeface="Arial" pitchFamily="34" charset="-120"/>
              </a:rPr>
              <a:t>Oracle</a:t>
            </a:r>
            <a:endParaRPr lang="en-US" sz="1400" dirty="0"/>
          </a:p>
        </p:txBody>
      </p:sp>
      <p:sp>
        <p:nvSpPr>
          <p:cNvPr id="12" name="Shape 10"/>
          <p:cNvSpPr/>
          <p:nvPr/>
        </p:nvSpPr>
        <p:spPr>
          <a:xfrm>
            <a:off x="7086600" y="2267712"/>
            <a:ext cx="365760" cy="237744"/>
          </a:xfrm>
          <a:prstGeom prst="rightArrow">
            <a:avLst/>
          </a:prstGeom>
          <a:solidFill>
            <a:srgbClr val="111111"/>
          </a:solidFill>
          <a:ln w="12700">
            <a:solidFill>
              <a:srgbClr val="333333"/>
            </a:solidFill>
            <a:prstDash val="solid"/>
          </a:ln>
        </p:spPr>
        <p:txBody>
          <a:bodyPr/>
          <a:p/>
        </p:txBody>
      </p:sp>
      <p:sp>
        <p:nvSpPr>
          <p:cNvPr id="13" name="Shape 11"/>
          <p:cNvSpPr/>
          <p:nvPr/>
        </p:nvSpPr>
        <p:spPr>
          <a:xfrm>
            <a:off x="7635240" y="1691640"/>
            <a:ext cx="3566160" cy="1371600"/>
          </a:xfrm>
          <a:prstGeom prst="roundRect">
            <a:avLst>
              <a:gd name="adj" fmla="val 5333"/>
            </a:avLst>
          </a:prstGeom>
          <a:solidFill>
            <a:srgbClr val="E3EDF8"/>
          </a:solidFill>
          <a:ln w="12700">
            <a:solidFill>
              <a:srgbClr val="333333"/>
            </a:solidFill>
            <a:prstDash val="solid"/>
          </a:ln>
        </p:spPr>
        <p:txBody>
          <a:bodyPr/>
          <a:p/>
        </p:txBody>
      </p:sp>
      <p:sp>
        <p:nvSpPr>
          <p:cNvPr id="14" name="Text 12"/>
          <p:cNvSpPr/>
          <p:nvPr/>
        </p:nvSpPr>
        <p:spPr>
          <a:xfrm>
            <a:off x="7863840" y="1810512"/>
            <a:ext cx="3108960" cy="320040"/>
          </a:xfrm>
          <a:prstGeom prst="rect">
            <a:avLst/>
          </a:prstGeom>
          <a:noFill/>
          <a:ln/>
        </p:spPr>
        <p:txBody>
          <a:bodyPr wrap="square" lIns="0" tIns="0" rIns="0" bIns="0" rtlCol="0" anchor="ctr"/>
          <a:lstStyle/>
          <a:p>
            <a:pPr marL="0" indent="0">
              <a:buNone/>
            </a:pPr>
            <a:r>
              <a:rPr lang="en-US" sz="1500" b="1" dirty="0">
                <a:solidFill>
                  <a:srgbClr val="1B4F8A"/>
                </a:solidFill>
                <a:latin typeface="Arial" pitchFamily="34" charset="0"/>
                <a:ea typeface="Arial" pitchFamily="34" charset="-122"/>
                <a:cs typeface="Arial" pitchFamily="34" charset="-120"/>
              </a:rPr>
              <a:t>Pseudo-labels</a:t>
            </a:r>
            <a:endParaRPr lang="en-US" sz="1500" dirty="0"/>
          </a:p>
        </p:txBody>
      </p:sp>
      <p:sp>
        <p:nvSpPr>
          <p:cNvPr id="15" name="Text 13"/>
          <p:cNvSpPr/>
          <p:nvPr/>
        </p:nvSpPr>
        <p:spPr>
          <a:xfrm>
            <a:off x="7863840" y="2148840"/>
            <a:ext cx="3200400" cy="777240"/>
          </a:xfrm>
          <a:prstGeom prst="rect">
            <a:avLst/>
          </a:prstGeom>
          <a:noFill/>
          <a:ln/>
        </p:spPr>
        <p:txBody>
          <a:bodyPr wrap="square" lIns="0" tIns="0" rIns="0" bIns="0" rtlCol="0" anchor="ctr"/>
          <a:lstStyle/>
          <a:p>
            <a:pPr marL="0" indent="0">
              <a:lnSpc>
                <a:spcPts val="1600"/>
              </a:lnSpc>
              <a:buNone/>
            </a:pPr>
            <a:r>
              <a:rPr lang="en-US" sz="1200" dirty="0">
                <a:solidFill>
                  <a:srgbClr val="111111"/>
                </a:solidFill>
                <a:latin typeface="Arial" pitchFamily="34" charset="0"/>
                <a:ea typeface="Arial" pitchFamily="34" charset="-122"/>
                <a:cs typeface="Arial" pitchFamily="34" charset="-120"/>
              </a:rPr>
              <a:t>Predicted Tg, FFV, Tc,</a:t>
            </a:r>
            <a:endParaRPr lang="en-US" sz="1200" dirty="0"/>
          </a:p>
          <a:p>
            <a:pPr marL="0" indent="0">
              <a:lnSpc>
                <a:spcPts val="1600"/>
              </a:lnSpc>
              <a:buNone/>
            </a:pPr>
            <a:r>
              <a:rPr lang="en-US" sz="1200" dirty="0">
                <a:solidFill>
                  <a:srgbClr val="111111"/>
                </a:solidFill>
                <a:latin typeface="Arial" pitchFamily="34" charset="0"/>
                <a:ea typeface="Arial" pitchFamily="34" charset="-122"/>
                <a:cs typeface="Arial" pitchFamily="34" charset="-120"/>
              </a:rPr>
              <a:t>Density, Rg for every structure</a:t>
            </a:r>
            <a:endParaRPr lang="en-US" sz="1200" dirty="0"/>
          </a:p>
        </p:txBody>
      </p:sp>
      <p:sp>
        <p:nvSpPr>
          <p:cNvPr id="16" name="Text 14"/>
          <p:cNvSpPr/>
          <p:nvPr/>
        </p:nvSpPr>
        <p:spPr>
          <a:xfrm>
            <a:off x="960120" y="3337560"/>
            <a:ext cx="10241280" cy="347472"/>
          </a:xfrm>
          <a:prstGeom prst="rect">
            <a:avLst/>
          </a:prstGeom>
          <a:noFill/>
          <a:ln/>
        </p:spPr>
        <p:txBody>
          <a:bodyPr wrap="square" lIns="0" tIns="0" rIns="0" bIns="0" rtlCol="0" anchor="ctr"/>
          <a:lstStyle/>
          <a:p>
            <a:pPr marL="0" indent="0" algn="ctr">
              <a:buNone/>
            </a:pPr>
            <a:r>
              <a:rPr lang="en-US" sz="1500" b="1" dirty="0">
                <a:solidFill>
                  <a:srgbClr val="111111"/>
                </a:solidFill>
                <a:latin typeface="Arial" pitchFamily="34" charset="0"/>
                <a:ea typeface="Arial" pitchFamily="34" charset="-122"/>
                <a:cs typeface="Arial" pitchFamily="34" charset="-120"/>
              </a:rPr>
              <a:t>Applicability-domain filtering</a:t>
            </a:r>
            <a:endParaRPr lang="en-US" sz="1500" dirty="0"/>
          </a:p>
        </p:txBody>
      </p:sp>
      <p:sp>
        <p:nvSpPr>
          <p:cNvPr id="17" name="Shape 15"/>
          <p:cNvSpPr/>
          <p:nvPr/>
        </p:nvSpPr>
        <p:spPr>
          <a:xfrm>
            <a:off x="2011680" y="3794760"/>
            <a:ext cx="3840480" cy="1234440"/>
          </a:xfrm>
          <a:prstGeom prst="roundRect">
            <a:avLst>
              <a:gd name="adj" fmla="val 5926"/>
            </a:avLst>
          </a:prstGeom>
          <a:solidFill>
            <a:srgbClr val="DCF2E4"/>
          </a:solidFill>
          <a:ln w="12700">
            <a:solidFill>
              <a:srgbClr val="333333"/>
            </a:solidFill>
            <a:prstDash val="solid"/>
          </a:ln>
        </p:spPr>
        <p:txBody>
          <a:bodyPr/>
          <a:p/>
        </p:txBody>
      </p:sp>
      <p:sp>
        <p:nvSpPr>
          <p:cNvPr id="18" name="Text 16"/>
          <p:cNvSpPr/>
          <p:nvPr/>
        </p:nvSpPr>
        <p:spPr>
          <a:xfrm>
            <a:off x="2011680" y="3913632"/>
            <a:ext cx="3840480" cy="548640"/>
          </a:xfrm>
          <a:prstGeom prst="rect">
            <a:avLst/>
          </a:prstGeom>
          <a:noFill/>
          <a:ln/>
        </p:spPr>
        <p:txBody>
          <a:bodyPr wrap="square" lIns="0" tIns="0" rIns="0" bIns="0" rtlCol="0" anchor="ctr"/>
          <a:lstStyle/>
          <a:p>
            <a:pPr marL="0" indent="0" algn="ctr">
              <a:buNone/>
            </a:pPr>
            <a:r>
              <a:rPr lang="en-US" sz="3000" b="1" dirty="0">
                <a:solidFill>
                  <a:srgbClr val="156B33"/>
                </a:solidFill>
                <a:latin typeface="Arial" pitchFamily="34" charset="0"/>
                <a:ea typeface="Arial" pitchFamily="34" charset="-122"/>
                <a:cs typeface="Arial" pitchFamily="34" charset="-120"/>
              </a:rPr>
              <a:t>669,642</a:t>
            </a:r>
            <a:endParaRPr lang="en-US" sz="3000" dirty="0"/>
          </a:p>
        </p:txBody>
      </p:sp>
      <p:sp>
        <p:nvSpPr>
          <p:cNvPr id="19" name="Text 17"/>
          <p:cNvSpPr/>
          <p:nvPr/>
        </p:nvSpPr>
        <p:spPr>
          <a:xfrm>
            <a:off x="2011680" y="4462272"/>
            <a:ext cx="3840480" cy="365760"/>
          </a:xfrm>
          <a:prstGeom prst="rect">
            <a:avLst/>
          </a:prstGeom>
          <a:noFill/>
          <a:ln/>
        </p:spPr>
        <p:txBody>
          <a:bodyPr wrap="square" lIns="0" tIns="0" rIns="0" bIns="0" rtlCol="0" anchor="ctr"/>
          <a:lstStyle/>
          <a:p>
            <a:pPr marL="0" indent="0" algn="ctr">
              <a:buNone/>
            </a:pPr>
            <a:r>
              <a:rPr lang="en-US" sz="1200" dirty="0">
                <a:solidFill>
                  <a:srgbClr val="2E2E2E"/>
                </a:solidFill>
                <a:latin typeface="Arial" pitchFamily="34" charset="0"/>
                <a:ea typeface="Arial" pitchFamily="34" charset="-122"/>
                <a:cs typeface="Arial" pitchFamily="34" charset="-120"/>
              </a:rPr>
              <a:t>inside the domain  (67.9%)</a:t>
            </a:r>
            <a:endParaRPr lang="en-US" sz="1200" dirty="0"/>
          </a:p>
        </p:txBody>
      </p:sp>
      <p:sp>
        <p:nvSpPr>
          <p:cNvPr id="20" name="Shape 18"/>
          <p:cNvSpPr/>
          <p:nvPr/>
        </p:nvSpPr>
        <p:spPr>
          <a:xfrm>
            <a:off x="6309360" y="3794760"/>
            <a:ext cx="3840480" cy="1234440"/>
          </a:xfrm>
          <a:prstGeom prst="roundRect">
            <a:avLst>
              <a:gd name="adj" fmla="val 5926"/>
            </a:avLst>
          </a:prstGeom>
          <a:solidFill>
            <a:srgbClr val="FBEEDA"/>
          </a:solidFill>
          <a:ln w="12700">
            <a:solidFill>
              <a:srgbClr val="333333"/>
            </a:solidFill>
            <a:prstDash val="solid"/>
          </a:ln>
        </p:spPr>
        <p:txBody>
          <a:bodyPr/>
          <a:p/>
        </p:txBody>
      </p:sp>
      <p:sp>
        <p:nvSpPr>
          <p:cNvPr id="21" name="Text 19"/>
          <p:cNvSpPr/>
          <p:nvPr/>
        </p:nvSpPr>
        <p:spPr>
          <a:xfrm>
            <a:off x="6309360" y="3913632"/>
            <a:ext cx="3840480" cy="548640"/>
          </a:xfrm>
          <a:prstGeom prst="rect">
            <a:avLst/>
          </a:prstGeom>
          <a:noFill/>
          <a:ln/>
        </p:spPr>
        <p:txBody>
          <a:bodyPr wrap="square" lIns="0" tIns="0" rIns="0" bIns="0" rtlCol="0" anchor="ctr"/>
          <a:lstStyle/>
          <a:p>
            <a:pPr marL="0" indent="0" algn="ctr">
              <a:buNone/>
            </a:pPr>
            <a:r>
              <a:rPr lang="en-US" sz="3000" b="1" dirty="0">
                <a:solidFill>
                  <a:srgbClr val="9C5A0B"/>
                </a:solidFill>
                <a:latin typeface="Arial" pitchFamily="34" charset="0"/>
                <a:ea typeface="Arial" pitchFamily="34" charset="-122"/>
                <a:cs typeface="Arial" pitchFamily="34" charset="-120"/>
              </a:rPr>
              <a:t>316,887</a:t>
            </a:r>
            <a:endParaRPr lang="en-US" sz="3000" dirty="0"/>
          </a:p>
        </p:txBody>
      </p:sp>
      <p:sp>
        <p:nvSpPr>
          <p:cNvPr id="22" name="Text 20"/>
          <p:cNvSpPr/>
          <p:nvPr/>
        </p:nvSpPr>
        <p:spPr>
          <a:xfrm>
            <a:off x="6309360" y="4462272"/>
            <a:ext cx="3840480" cy="365760"/>
          </a:xfrm>
          <a:prstGeom prst="rect">
            <a:avLst/>
          </a:prstGeom>
          <a:noFill/>
          <a:ln/>
        </p:spPr>
        <p:txBody>
          <a:bodyPr wrap="square" lIns="0" tIns="0" rIns="0" bIns="0" rtlCol="0" anchor="ctr"/>
          <a:lstStyle/>
          <a:p>
            <a:pPr marL="0" indent="0" algn="ctr">
              <a:buNone/>
            </a:pPr>
            <a:r>
              <a:rPr lang="en-US" sz="1200" dirty="0">
                <a:solidFill>
                  <a:srgbClr val="2E2E2E"/>
                </a:solidFill>
                <a:latin typeface="Arial" pitchFamily="34" charset="0"/>
                <a:ea typeface="Arial" pitchFamily="34" charset="-122"/>
                <a:cs typeface="Arial" pitchFamily="34" charset="-120"/>
              </a:rPr>
              <a:t>outside, flagged untrusted  (32.1%)</a:t>
            </a:r>
            <a:endParaRPr lang="en-US" sz="1200" dirty="0"/>
          </a:p>
        </p:txBody>
      </p:sp>
      <p:sp>
        <p:nvSpPr>
          <p:cNvPr id="23" name="Shape 21"/>
          <p:cNvSpPr/>
          <p:nvPr/>
        </p:nvSpPr>
        <p:spPr>
          <a:xfrm>
            <a:off x="960120" y="5257800"/>
            <a:ext cx="10241280" cy="640080"/>
          </a:xfrm>
          <a:prstGeom prst="roundRect">
            <a:avLst>
              <a:gd name="adj" fmla="val 11429"/>
            </a:avLst>
          </a:prstGeom>
          <a:solidFill>
            <a:srgbClr val="ECECEC"/>
          </a:solidFill>
          <a:ln w="12700">
            <a:solidFill>
              <a:srgbClr val="333333"/>
            </a:solidFill>
            <a:prstDash val="solid"/>
          </a:ln>
        </p:spPr>
        <p:txBody>
          <a:bodyPr/>
          <a:p/>
        </p:txBody>
      </p:sp>
      <p:sp>
        <p:nvSpPr>
          <p:cNvPr id="24" name="Text 22"/>
          <p:cNvSpPr/>
          <p:nvPr/>
        </p:nvSpPr>
        <p:spPr>
          <a:xfrm>
            <a:off x="960120" y="5257800"/>
            <a:ext cx="10241280" cy="640080"/>
          </a:xfrm>
          <a:prstGeom prst="rect">
            <a:avLst/>
          </a:prstGeom>
          <a:noFill/>
          <a:ln/>
        </p:spPr>
        <p:txBody>
          <a:bodyPr wrap="square" lIns="0" tIns="0" rIns="0" bIns="0" rtlCol="0" anchor="ctr"/>
          <a:lstStyle/>
          <a:p>
            <a:pPr marL="0" indent="0" algn="ctr">
              <a:buNone/>
            </a:pPr>
            <a:r>
              <a:rPr lang="en-US" sz="1500" b="1" dirty="0">
                <a:solidFill>
                  <a:srgbClr val="111111"/>
                </a:solidFill>
                <a:latin typeface="Arial" pitchFamily="34" charset="0"/>
                <a:ea typeface="Arial" pitchFamily="34" charset="-122"/>
                <a:cs typeface="Arial" pitchFamily="34" charset="-120"/>
              </a:rPr>
              <a:t>These are PREDICTIONS, not experimental measurements.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6  ·  METHODOLOGY</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Tier 2: Conditional VAE</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15</a:t>
            </a:r>
            <a:endParaRPr lang="en-US" sz="1000" dirty="0"/>
          </a:p>
        </p:txBody>
      </p:sp>
      <p:sp>
        <p:nvSpPr>
          <p:cNvPr id="6" name="Shape 4"/>
          <p:cNvSpPr/>
          <p:nvPr/>
        </p:nvSpPr>
        <p:spPr>
          <a:xfrm>
            <a:off x="1051560" y="1737360"/>
            <a:ext cx="1783080" cy="822960"/>
          </a:xfrm>
          <a:prstGeom prst="roundRect">
            <a:avLst>
              <a:gd name="adj" fmla="val 8889"/>
            </a:avLst>
          </a:prstGeom>
          <a:solidFill>
            <a:srgbClr val="ECECEC"/>
          </a:solidFill>
          <a:ln w="12700">
            <a:solidFill>
              <a:srgbClr val="333333"/>
            </a:solidFill>
            <a:prstDash val="solid"/>
          </a:ln>
        </p:spPr>
        <p:txBody>
          <a:bodyPr/>
          <a:p/>
        </p:txBody>
      </p:sp>
      <p:sp>
        <p:nvSpPr>
          <p:cNvPr id="7" name="Text 5"/>
          <p:cNvSpPr/>
          <p:nvPr/>
        </p:nvSpPr>
        <p:spPr>
          <a:xfrm>
            <a:off x="1124712" y="1737360"/>
            <a:ext cx="1636776" cy="822960"/>
          </a:xfrm>
          <a:prstGeom prst="rect">
            <a:avLst/>
          </a:prstGeom>
          <a:noFill/>
          <a:ln/>
        </p:spPr>
        <p:txBody>
          <a:bodyPr wrap="square" lIns="0" tIns="0" rIns="0" bIns="0" rtlCol="0" anchor="ctr"/>
          <a:lstStyle/>
          <a:p>
            <a:pPr marL="0" indent="0" algn="ctr">
              <a:lnSpc>
                <a:spcPts val="1438"/>
              </a:lnSpc>
              <a:buNone/>
            </a:pPr>
            <a:r>
              <a:rPr lang="en-US" sz="1150" b="1" dirty="0">
                <a:solidFill>
                  <a:srgbClr val="111111"/>
                </a:solidFill>
                <a:latin typeface="Arial" pitchFamily="34" charset="0"/>
                <a:ea typeface="Arial" pitchFamily="34" charset="-122"/>
                <a:cs typeface="Arial" pitchFamily="34" charset="-120"/>
              </a:rPr>
              <a:t>Polymer</a:t>
            </a:r>
            <a:endParaRPr lang="en-US" sz="1150" dirty="0"/>
          </a:p>
          <a:p>
            <a:pPr marL="0" indent="0" algn="ctr">
              <a:lnSpc>
                <a:spcPts val="1438"/>
              </a:lnSpc>
              <a:buNone/>
            </a:pPr>
            <a:r>
              <a:rPr lang="en-US" sz="1150" b="1" dirty="0">
                <a:solidFill>
                  <a:srgbClr val="111111"/>
                </a:solidFill>
                <a:latin typeface="Arial" pitchFamily="34" charset="0"/>
                <a:ea typeface="Arial" pitchFamily="34" charset="-122"/>
                <a:cs typeface="Arial" pitchFamily="34" charset="-120"/>
              </a:rPr>
              <a:t>sequence</a:t>
            </a:r>
            <a:endParaRPr lang="en-US" sz="1150" dirty="0"/>
          </a:p>
        </p:txBody>
      </p:sp>
      <p:sp>
        <p:nvSpPr>
          <p:cNvPr id="8" name="Shape 6"/>
          <p:cNvSpPr/>
          <p:nvPr/>
        </p:nvSpPr>
        <p:spPr>
          <a:xfrm>
            <a:off x="2880360" y="2057400"/>
            <a:ext cx="201168" cy="237744"/>
          </a:xfrm>
          <a:prstGeom prst="rightArrow">
            <a:avLst/>
          </a:prstGeom>
          <a:solidFill>
            <a:srgbClr val="111111"/>
          </a:solidFill>
          <a:ln w="12700">
            <a:solidFill>
              <a:srgbClr val="333333"/>
            </a:solidFill>
            <a:prstDash val="solid"/>
          </a:ln>
        </p:spPr>
        <p:txBody>
          <a:bodyPr/>
          <a:p/>
        </p:txBody>
      </p:sp>
      <p:sp>
        <p:nvSpPr>
          <p:cNvPr id="9" name="Shape 7"/>
          <p:cNvSpPr/>
          <p:nvPr/>
        </p:nvSpPr>
        <p:spPr>
          <a:xfrm>
            <a:off x="3136392" y="1737360"/>
            <a:ext cx="1783080" cy="822960"/>
          </a:xfrm>
          <a:prstGeom prst="roundRect">
            <a:avLst>
              <a:gd name="adj" fmla="val 8889"/>
            </a:avLst>
          </a:prstGeom>
          <a:solidFill>
            <a:srgbClr val="ECECEC"/>
          </a:solidFill>
          <a:ln w="12700">
            <a:solidFill>
              <a:srgbClr val="333333"/>
            </a:solidFill>
            <a:prstDash val="solid"/>
          </a:ln>
        </p:spPr>
        <p:txBody>
          <a:bodyPr/>
          <a:p/>
        </p:txBody>
      </p:sp>
      <p:sp>
        <p:nvSpPr>
          <p:cNvPr id="10" name="Text 8"/>
          <p:cNvSpPr/>
          <p:nvPr/>
        </p:nvSpPr>
        <p:spPr>
          <a:xfrm>
            <a:off x="3209544" y="1737360"/>
            <a:ext cx="1636776" cy="822960"/>
          </a:xfrm>
          <a:prstGeom prst="rect">
            <a:avLst/>
          </a:prstGeom>
          <a:noFill/>
          <a:ln/>
        </p:spPr>
        <p:txBody>
          <a:bodyPr wrap="square" lIns="0" tIns="0" rIns="0" bIns="0" rtlCol="0" anchor="ctr"/>
          <a:lstStyle/>
          <a:p>
            <a:pPr marL="0" indent="0" algn="ctr">
              <a:lnSpc>
                <a:spcPts val="1438"/>
              </a:lnSpc>
              <a:buNone/>
            </a:pPr>
            <a:r>
              <a:rPr lang="en-US" sz="1150" b="1" dirty="0">
                <a:solidFill>
                  <a:srgbClr val="111111"/>
                </a:solidFill>
                <a:latin typeface="Arial" pitchFamily="34" charset="0"/>
                <a:ea typeface="Arial" pitchFamily="34" charset="-122"/>
                <a:cs typeface="Arial" pitchFamily="34" charset="-120"/>
              </a:rPr>
              <a:t>Encoder</a:t>
            </a:r>
            <a:endParaRPr lang="en-US" sz="1150" dirty="0"/>
          </a:p>
        </p:txBody>
      </p:sp>
      <p:sp>
        <p:nvSpPr>
          <p:cNvPr id="11" name="Shape 9"/>
          <p:cNvSpPr/>
          <p:nvPr/>
        </p:nvSpPr>
        <p:spPr>
          <a:xfrm>
            <a:off x="4965192" y="2057400"/>
            <a:ext cx="201168" cy="237744"/>
          </a:xfrm>
          <a:prstGeom prst="rightArrow">
            <a:avLst/>
          </a:prstGeom>
          <a:solidFill>
            <a:srgbClr val="111111"/>
          </a:solidFill>
          <a:ln w="12700">
            <a:solidFill>
              <a:srgbClr val="333333"/>
            </a:solidFill>
            <a:prstDash val="solid"/>
          </a:ln>
        </p:spPr>
        <p:txBody>
          <a:bodyPr/>
          <a:p/>
        </p:txBody>
      </p:sp>
      <p:sp>
        <p:nvSpPr>
          <p:cNvPr id="12" name="Shape 10"/>
          <p:cNvSpPr/>
          <p:nvPr/>
        </p:nvSpPr>
        <p:spPr>
          <a:xfrm>
            <a:off x="5221224" y="1737360"/>
            <a:ext cx="1783080" cy="822960"/>
          </a:xfrm>
          <a:prstGeom prst="roundRect">
            <a:avLst>
              <a:gd name="adj" fmla="val 8889"/>
            </a:avLst>
          </a:prstGeom>
          <a:solidFill>
            <a:srgbClr val="E3EDF8"/>
          </a:solidFill>
          <a:ln w="12700">
            <a:solidFill>
              <a:srgbClr val="333333"/>
            </a:solidFill>
            <a:prstDash val="solid"/>
          </a:ln>
        </p:spPr>
        <p:txBody>
          <a:bodyPr/>
          <a:p/>
        </p:txBody>
      </p:sp>
      <p:sp>
        <p:nvSpPr>
          <p:cNvPr id="13" name="Text 11"/>
          <p:cNvSpPr/>
          <p:nvPr/>
        </p:nvSpPr>
        <p:spPr>
          <a:xfrm>
            <a:off x="5294376" y="1737360"/>
            <a:ext cx="1636776" cy="822960"/>
          </a:xfrm>
          <a:prstGeom prst="rect">
            <a:avLst/>
          </a:prstGeom>
          <a:noFill/>
          <a:ln/>
        </p:spPr>
        <p:txBody>
          <a:bodyPr wrap="square" lIns="0" tIns="0" rIns="0" bIns="0" rtlCol="0" anchor="ctr"/>
          <a:lstStyle/>
          <a:p>
            <a:pPr marL="0" indent="0" algn="ctr">
              <a:lnSpc>
                <a:spcPts val="1438"/>
              </a:lnSpc>
              <a:buNone/>
            </a:pPr>
            <a:r>
              <a:rPr lang="en-US" sz="1150" b="1" dirty="0">
                <a:solidFill>
                  <a:srgbClr val="111111"/>
                </a:solidFill>
                <a:latin typeface="Arial" pitchFamily="34" charset="0"/>
                <a:ea typeface="Arial" pitchFamily="34" charset="-122"/>
                <a:cs typeface="Arial" pitchFamily="34" charset="-120"/>
              </a:rPr>
              <a:t>Latent</a:t>
            </a:r>
            <a:endParaRPr lang="en-US" sz="1150" dirty="0"/>
          </a:p>
          <a:p>
            <a:pPr marL="0" indent="0" algn="ctr">
              <a:lnSpc>
                <a:spcPts val="1438"/>
              </a:lnSpc>
              <a:buNone/>
            </a:pPr>
            <a:r>
              <a:rPr lang="en-US" sz="1150" b="1" dirty="0">
                <a:solidFill>
                  <a:srgbClr val="111111"/>
                </a:solidFill>
                <a:latin typeface="Arial" pitchFamily="34" charset="0"/>
                <a:ea typeface="Arial" pitchFamily="34" charset="-122"/>
                <a:cs typeface="Arial" pitchFamily="34" charset="-120"/>
              </a:rPr>
              <a:t>representation</a:t>
            </a:r>
            <a:endParaRPr lang="en-US" sz="1150" dirty="0"/>
          </a:p>
        </p:txBody>
      </p:sp>
      <p:sp>
        <p:nvSpPr>
          <p:cNvPr id="14" name="Shape 12"/>
          <p:cNvSpPr/>
          <p:nvPr/>
        </p:nvSpPr>
        <p:spPr>
          <a:xfrm>
            <a:off x="7050024" y="2057400"/>
            <a:ext cx="201168" cy="237744"/>
          </a:xfrm>
          <a:prstGeom prst="rightArrow">
            <a:avLst/>
          </a:prstGeom>
          <a:solidFill>
            <a:srgbClr val="111111"/>
          </a:solidFill>
          <a:ln w="12700">
            <a:solidFill>
              <a:srgbClr val="333333"/>
            </a:solidFill>
            <a:prstDash val="solid"/>
          </a:ln>
        </p:spPr>
        <p:txBody>
          <a:bodyPr/>
          <a:p/>
        </p:txBody>
      </p:sp>
      <p:sp>
        <p:nvSpPr>
          <p:cNvPr id="15" name="Shape 13"/>
          <p:cNvSpPr/>
          <p:nvPr/>
        </p:nvSpPr>
        <p:spPr>
          <a:xfrm>
            <a:off x="7306056" y="1737360"/>
            <a:ext cx="1783080" cy="822960"/>
          </a:xfrm>
          <a:prstGeom prst="roundRect">
            <a:avLst>
              <a:gd name="adj" fmla="val 8889"/>
            </a:avLst>
          </a:prstGeom>
          <a:solidFill>
            <a:srgbClr val="ECECEC"/>
          </a:solidFill>
          <a:ln w="12700">
            <a:solidFill>
              <a:srgbClr val="333333"/>
            </a:solidFill>
            <a:prstDash val="solid"/>
          </a:ln>
        </p:spPr>
        <p:txBody>
          <a:bodyPr/>
          <a:p/>
        </p:txBody>
      </p:sp>
      <p:sp>
        <p:nvSpPr>
          <p:cNvPr id="16" name="Text 14"/>
          <p:cNvSpPr/>
          <p:nvPr/>
        </p:nvSpPr>
        <p:spPr>
          <a:xfrm>
            <a:off x="7379208" y="1737360"/>
            <a:ext cx="1636776" cy="822960"/>
          </a:xfrm>
          <a:prstGeom prst="rect">
            <a:avLst/>
          </a:prstGeom>
          <a:noFill/>
          <a:ln/>
        </p:spPr>
        <p:txBody>
          <a:bodyPr wrap="square" lIns="0" tIns="0" rIns="0" bIns="0" rtlCol="0" anchor="ctr"/>
          <a:lstStyle/>
          <a:p>
            <a:pPr marL="0" indent="0" algn="ctr">
              <a:lnSpc>
                <a:spcPts val="1438"/>
              </a:lnSpc>
              <a:buNone/>
            </a:pPr>
            <a:r>
              <a:rPr lang="en-US" sz="1150" b="1" dirty="0">
                <a:solidFill>
                  <a:srgbClr val="111111"/>
                </a:solidFill>
                <a:latin typeface="Arial" pitchFamily="34" charset="0"/>
                <a:ea typeface="Arial" pitchFamily="34" charset="-122"/>
                <a:cs typeface="Arial" pitchFamily="34" charset="-120"/>
              </a:rPr>
              <a:t>Decoder</a:t>
            </a:r>
            <a:endParaRPr lang="en-US" sz="1150" dirty="0"/>
          </a:p>
        </p:txBody>
      </p:sp>
      <p:sp>
        <p:nvSpPr>
          <p:cNvPr id="17" name="Shape 15"/>
          <p:cNvSpPr/>
          <p:nvPr/>
        </p:nvSpPr>
        <p:spPr>
          <a:xfrm>
            <a:off x="9134856" y="2057400"/>
            <a:ext cx="201168" cy="237744"/>
          </a:xfrm>
          <a:prstGeom prst="rightArrow">
            <a:avLst/>
          </a:prstGeom>
          <a:solidFill>
            <a:srgbClr val="111111"/>
          </a:solidFill>
          <a:ln w="12700">
            <a:solidFill>
              <a:srgbClr val="333333"/>
            </a:solidFill>
            <a:prstDash val="solid"/>
          </a:ln>
        </p:spPr>
        <p:txBody>
          <a:bodyPr/>
          <a:p/>
        </p:txBody>
      </p:sp>
      <p:sp>
        <p:nvSpPr>
          <p:cNvPr id="18" name="Shape 16"/>
          <p:cNvSpPr/>
          <p:nvPr/>
        </p:nvSpPr>
        <p:spPr>
          <a:xfrm>
            <a:off x="9390888" y="1737360"/>
            <a:ext cx="1783080" cy="822960"/>
          </a:xfrm>
          <a:prstGeom prst="roundRect">
            <a:avLst>
              <a:gd name="adj" fmla="val 8889"/>
            </a:avLst>
          </a:prstGeom>
          <a:solidFill>
            <a:srgbClr val="ECECEC"/>
          </a:solidFill>
          <a:ln w="12700">
            <a:solidFill>
              <a:srgbClr val="333333"/>
            </a:solidFill>
            <a:prstDash val="solid"/>
          </a:ln>
        </p:spPr>
        <p:txBody>
          <a:bodyPr/>
          <a:p/>
        </p:txBody>
      </p:sp>
      <p:sp>
        <p:nvSpPr>
          <p:cNvPr id="19" name="Text 17"/>
          <p:cNvSpPr/>
          <p:nvPr/>
        </p:nvSpPr>
        <p:spPr>
          <a:xfrm>
            <a:off x="9464040" y="1737360"/>
            <a:ext cx="1636776" cy="822960"/>
          </a:xfrm>
          <a:prstGeom prst="rect">
            <a:avLst/>
          </a:prstGeom>
          <a:noFill/>
          <a:ln/>
        </p:spPr>
        <p:txBody>
          <a:bodyPr wrap="square" lIns="0" tIns="0" rIns="0" bIns="0" rtlCol="0" anchor="ctr"/>
          <a:lstStyle/>
          <a:p>
            <a:pPr marL="0" indent="0" algn="ctr">
              <a:lnSpc>
                <a:spcPts val="1438"/>
              </a:lnSpc>
              <a:buNone/>
            </a:pPr>
            <a:r>
              <a:rPr lang="en-US" sz="1150" b="1" dirty="0">
                <a:solidFill>
                  <a:srgbClr val="111111"/>
                </a:solidFill>
                <a:latin typeface="Arial" pitchFamily="34" charset="0"/>
                <a:ea typeface="Arial" pitchFamily="34" charset="-122"/>
                <a:cs typeface="Arial" pitchFamily="34" charset="-120"/>
              </a:rPr>
              <a:t>Polymer</a:t>
            </a:r>
            <a:endParaRPr lang="en-US" sz="1150" dirty="0"/>
          </a:p>
          <a:p>
            <a:pPr marL="0" indent="0" algn="ctr">
              <a:lnSpc>
                <a:spcPts val="1438"/>
              </a:lnSpc>
              <a:buNone/>
            </a:pPr>
            <a:r>
              <a:rPr lang="en-US" sz="1150" b="1" dirty="0">
                <a:solidFill>
                  <a:srgbClr val="111111"/>
                </a:solidFill>
                <a:latin typeface="Arial" pitchFamily="34" charset="0"/>
                <a:ea typeface="Arial" pitchFamily="34" charset="-122"/>
                <a:cs typeface="Arial" pitchFamily="34" charset="-120"/>
              </a:rPr>
              <a:t>sequence</a:t>
            </a:r>
            <a:endParaRPr lang="en-US" sz="1150" dirty="0"/>
          </a:p>
        </p:txBody>
      </p:sp>
      <p:sp>
        <p:nvSpPr>
          <p:cNvPr id="20" name="Text 18"/>
          <p:cNvSpPr/>
          <p:nvPr/>
        </p:nvSpPr>
        <p:spPr>
          <a:xfrm>
            <a:off x="960120" y="2743200"/>
            <a:ext cx="10241280" cy="320040"/>
          </a:xfrm>
          <a:prstGeom prst="rect">
            <a:avLst/>
          </a:prstGeom>
          <a:noFill/>
          <a:ln/>
        </p:spPr>
        <p:txBody>
          <a:bodyPr wrap="square" lIns="0" tIns="0" rIns="0" bIns="0" rtlCol="0" anchor="ctr"/>
          <a:lstStyle/>
          <a:p>
            <a:pPr marL="0" indent="0" algn="ctr">
              <a:buNone/>
            </a:pPr>
            <a:r>
              <a:rPr lang="en-US" sz="1400" b="1" dirty="0">
                <a:solidFill>
                  <a:srgbClr val="111111"/>
                </a:solidFill>
                <a:latin typeface="Arial" pitchFamily="34" charset="0"/>
                <a:ea typeface="Arial" pitchFamily="34" charset="-122"/>
                <a:cs typeface="Arial" pitchFamily="34" charset="-120"/>
              </a:rPr>
              <a:t>The decoder is conditioned on the desired properties</a:t>
            </a:r>
            <a:endParaRPr lang="en-US" sz="1400" dirty="0"/>
          </a:p>
        </p:txBody>
      </p:sp>
      <p:sp>
        <p:nvSpPr>
          <p:cNvPr id="21" name="Shape 19"/>
          <p:cNvSpPr/>
          <p:nvPr/>
        </p:nvSpPr>
        <p:spPr>
          <a:xfrm>
            <a:off x="1737360" y="3200400"/>
            <a:ext cx="2286000" cy="640080"/>
          </a:xfrm>
          <a:prstGeom prst="roundRect">
            <a:avLst>
              <a:gd name="adj" fmla="val 11429"/>
            </a:avLst>
          </a:prstGeom>
          <a:solidFill>
            <a:srgbClr val="E3EDF8"/>
          </a:solidFill>
          <a:ln w="12700">
            <a:solidFill>
              <a:srgbClr val="333333"/>
            </a:solidFill>
            <a:prstDash val="solid"/>
          </a:ln>
        </p:spPr>
        <p:txBody>
          <a:bodyPr/>
          <a:p/>
        </p:txBody>
      </p:sp>
      <p:sp>
        <p:nvSpPr>
          <p:cNvPr id="22" name="Text 20"/>
          <p:cNvSpPr/>
          <p:nvPr/>
        </p:nvSpPr>
        <p:spPr>
          <a:xfrm>
            <a:off x="1810512" y="3200400"/>
            <a:ext cx="2139696" cy="640080"/>
          </a:xfrm>
          <a:prstGeom prst="rect">
            <a:avLst/>
          </a:prstGeom>
          <a:noFill/>
          <a:ln/>
        </p:spPr>
        <p:txBody>
          <a:bodyPr wrap="square" lIns="0" tIns="0" rIns="0" bIns="0" rtlCol="0" anchor="ctr"/>
          <a:lstStyle/>
          <a:p>
            <a:pPr marL="0" indent="0" algn="ctr">
              <a:lnSpc>
                <a:spcPts val="1500"/>
              </a:lnSpc>
              <a:buNone/>
            </a:pPr>
            <a:r>
              <a:rPr lang="en-US" sz="1200" b="1" dirty="0">
                <a:solidFill>
                  <a:srgbClr val="1B4F8A"/>
                </a:solidFill>
                <a:latin typeface="Arial" pitchFamily="34" charset="0"/>
                <a:ea typeface="Arial" pitchFamily="34" charset="-122"/>
                <a:cs typeface="Arial" pitchFamily="34" charset="-120"/>
              </a:rPr>
              <a:t>Latent z</a:t>
            </a:r>
            <a:endParaRPr lang="en-US" sz="1200" dirty="0"/>
          </a:p>
          <a:p>
            <a:pPr marL="0" indent="0" algn="ctr">
              <a:lnSpc>
                <a:spcPts val="1500"/>
              </a:lnSpc>
              <a:buNone/>
            </a:pPr>
            <a:r>
              <a:rPr lang="en-US" sz="1200" b="1" dirty="0">
                <a:solidFill>
                  <a:srgbClr val="1B4F8A"/>
                </a:solidFill>
                <a:latin typeface="Arial" pitchFamily="34" charset="0"/>
                <a:ea typeface="Arial" pitchFamily="34" charset="-122"/>
                <a:cs typeface="Arial" pitchFamily="34" charset="-120"/>
              </a:rPr>
              <a:t>(64 dims)</a:t>
            </a:r>
            <a:endParaRPr lang="en-US" sz="1200" dirty="0"/>
          </a:p>
        </p:txBody>
      </p:sp>
      <p:sp>
        <p:nvSpPr>
          <p:cNvPr id="23" name="Text 21"/>
          <p:cNvSpPr/>
          <p:nvPr/>
        </p:nvSpPr>
        <p:spPr>
          <a:xfrm>
            <a:off x="4069080" y="3246120"/>
            <a:ext cx="365760" cy="548640"/>
          </a:xfrm>
          <a:prstGeom prst="rect">
            <a:avLst/>
          </a:prstGeom>
          <a:noFill/>
          <a:ln/>
        </p:spPr>
        <p:txBody>
          <a:bodyPr wrap="square" lIns="0" tIns="0" rIns="0" bIns="0" rtlCol="0" anchor="ctr"/>
          <a:lstStyle/>
          <a:p>
            <a:pPr marL="0" indent="0" algn="ctr">
              <a:buNone/>
            </a:pPr>
            <a:r>
              <a:rPr lang="en-US" sz="1800" b="1" dirty="0">
                <a:solidFill>
                  <a:srgbClr val="5C5C5C"/>
                </a:solidFill>
                <a:latin typeface="Arial" pitchFamily="34" charset="0"/>
                <a:ea typeface="Arial" pitchFamily="34" charset="-122"/>
                <a:cs typeface="Arial" pitchFamily="34" charset="-120"/>
              </a:rPr>
              <a:t>+</a:t>
            </a:r>
            <a:endParaRPr lang="en-US" sz="1800" dirty="0"/>
          </a:p>
        </p:txBody>
      </p:sp>
      <p:sp>
        <p:nvSpPr>
          <p:cNvPr id="24" name="Shape 22"/>
          <p:cNvSpPr/>
          <p:nvPr/>
        </p:nvSpPr>
        <p:spPr>
          <a:xfrm>
            <a:off x="4480560" y="3200400"/>
            <a:ext cx="2286000" cy="640080"/>
          </a:xfrm>
          <a:prstGeom prst="roundRect">
            <a:avLst>
              <a:gd name="adj" fmla="val 11429"/>
            </a:avLst>
          </a:prstGeom>
          <a:solidFill>
            <a:srgbClr val="DCF2E4"/>
          </a:solidFill>
          <a:ln w="12700">
            <a:solidFill>
              <a:srgbClr val="333333"/>
            </a:solidFill>
            <a:prstDash val="solid"/>
          </a:ln>
        </p:spPr>
        <p:txBody>
          <a:bodyPr/>
          <a:p/>
        </p:txBody>
      </p:sp>
      <p:sp>
        <p:nvSpPr>
          <p:cNvPr id="25" name="Text 23"/>
          <p:cNvSpPr/>
          <p:nvPr/>
        </p:nvSpPr>
        <p:spPr>
          <a:xfrm>
            <a:off x="4553712" y="3200400"/>
            <a:ext cx="2139696" cy="640080"/>
          </a:xfrm>
          <a:prstGeom prst="rect">
            <a:avLst/>
          </a:prstGeom>
          <a:noFill/>
          <a:ln/>
        </p:spPr>
        <p:txBody>
          <a:bodyPr wrap="square" lIns="0" tIns="0" rIns="0" bIns="0" rtlCol="0" anchor="ctr"/>
          <a:lstStyle/>
          <a:p>
            <a:pPr marL="0" indent="0" algn="ctr">
              <a:lnSpc>
                <a:spcPts val="1500"/>
              </a:lnSpc>
              <a:buNone/>
            </a:pPr>
            <a:r>
              <a:rPr lang="en-US" sz="1200" b="1" dirty="0">
                <a:solidFill>
                  <a:srgbClr val="156B33"/>
                </a:solidFill>
                <a:latin typeface="Arial" pitchFamily="34" charset="0"/>
                <a:ea typeface="Arial" pitchFamily="34" charset="-122"/>
                <a:cs typeface="Arial" pitchFamily="34" charset="-120"/>
              </a:rPr>
              <a:t>Property values</a:t>
            </a:r>
            <a:endParaRPr lang="en-US" sz="1200" dirty="0"/>
          </a:p>
          <a:p>
            <a:pPr marL="0" indent="0" algn="ctr">
              <a:lnSpc>
                <a:spcPts val="1500"/>
              </a:lnSpc>
              <a:buNone/>
            </a:pPr>
            <a:r>
              <a:rPr lang="en-US" sz="1200" b="1" dirty="0">
                <a:solidFill>
                  <a:srgbClr val="156B33"/>
                </a:solidFill>
                <a:latin typeface="Arial" pitchFamily="34" charset="0"/>
                <a:ea typeface="Arial" pitchFamily="34" charset="-122"/>
                <a:cs typeface="Arial" pitchFamily="34" charset="-120"/>
              </a:rPr>
              <a:t>(5)</a:t>
            </a:r>
            <a:endParaRPr lang="en-US" sz="1200" dirty="0"/>
          </a:p>
        </p:txBody>
      </p:sp>
      <p:sp>
        <p:nvSpPr>
          <p:cNvPr id="26" name="Text 24"/>
          <p:cNvSpPr/>
          <p:nvPr/>
        </p:nvSpPr>
        <p:spPr>
          <a:xfrm>
            <a:off x="6812280" y="3246120"/>
            <a:ext cx="365760" cy="548640"/>
          </a:xfrm>
          <a:prstGeom prst="rect">
            <a:avLst/>
          </a:prstGeom>
          <a:noFill/>
          <a:ln/>
        </p:spPr>
        <p:txBody>
          <a:bodyPr wrap="square" lIns="0" tIns="0" rIns="0" bIns="0" rtlCol="0" anchor="ctr"/>
          <a:lstStyle/>
          <a:p>
            <a:pPr marL="0" indent="0" algn="ctr">
              <a:buNone/>
            </a:pPr>
            <a:r>
              <a:rPr lang="en-US" sz="1800" b="1" dirty="0">
                <a:solidFill>
                  <a:srgbClr val="5C5C5C"/>
                </a:solidFill>
                <a:latin typeface="Arial" pitchFamily="34" charset="0"/>
                <a:ea typeface="Arial" pitchFamily="34" charset="-122"/>
                <a:cs typeface="Arial" pitchFamily="34" charset="-120"/>
              </a:rPr>
              <a:t>+</a:t>
            </a:r>
            <a:endParaRPr lang="en-US" sz="1800" dirty="0"/>
          </a:p>
        </p:txBody>
      </p:sp>
      <p:sp>
        <p:nvSpPr>
          <p:cNvPr id="27" name="Shape 25"/>
          <p:cNvSpPr/>
          <p:nvPr/>
        </p:nvSpPr>
        <p:spPr>
          <a:xfrm>
            <a:off x="7223760" y="3200400"/>
            <a:ext cx="2286000" cy="640080"/>
          </a:xfrm>
          <a:prstGeom prst="roundRect">
            <a:avLst>
              <a:gd name="adj" fmla="val 11429"/>
            </a:avLst>
          </a:prstGeom>
          <a:solidFill>
            <a:srgbClr val="DCF2E4"/>
          </a:solidFill>
          <a:ln w="12700">
            <a:solidFill>
              <a:srgbClr val="333333"/>
            </a:solidFill>
            <a:prstDash val="solid"/>
          </a:ln>
        </p:spPr>
        <p:txBody>
          <a:bodyPr/>
          <a:p/>
        </p:txBody>
      </p:sp>
      <p:sp>
        <p:nvSpPr>
          <p:cNvPr id="28" name="Text 26"/>
          <p:cNvSpPr/>
          <p:nvPr/>
        </p:nvSpPr>
        <p:spPr>
          <a:xfrm>
            <a:off x="7296912" y="3200400"/>
            <a:ext cx="2139696" cy="640080"/>
          </a:xfrm>
          <a:prstGeom prst="rect">
            <a:avLst/>
          </a:prstGeom>
          <a:noFill/>
          <a:ln/>
        </p:spPr>
        <p:txBody>
          <a:bodyPr wrap="square" lIns="0" tIns="0" rIns="0" bIns="0" rtlCol="0" anchor="ctr"/>
          <a:lstStyle/>
          <a:p>
            <a:pPr marL="0" indent="0" algn="ctr">
              <a:lnSpc>
                <a:spcPts val="1500"/>
              </a:lnSpc>
              <a:buNone/>
            </a:pPr>
            <a:r>
              <a:rPr lang="en-US" sz="1200" b="1" dirty="0">
                <a:solidFill>
                  <a:srgbClr val="156B33"/>
                </a:solidFill>
                <a:latin typeface="Arial" pitchFamily="34" charset="0"/>
                <a:ea typeface="Arial" pitchFamily="34" charset="-122"/>
                <a:cs typeface="Arial" pitchFamily="34" charset="-120"/>
              </a:rPr>
              <a:t>Presence mask</a:t>
            </a:r>
            <a:endParaRPr lang="en-US" sz="1200" dirty="0"/>
          </a:p>
          <a:p>
            <a:pPr marL="0" indent="0" algn="ctr">
              <a:lnSpc>
                <a:spcPts val="1500"/>
              </a:lnSpc>
              <a:buNone/>
            </a:pPr>
            <a:r>
              <a:rPr lang="en-US" sz="1200" b="1" dirty="0">
                <a:solidFill>
                  <a:srgbClr val="156B33"/>
                </a:solidFill>
                <a:latin typeface="Arial" pitchFamily="34" charset="0"/>
                <a:ea typeface="Arial" pitchFamily="34" charset="-122"/>
                <a:cs typeface="Arial" pitchFamily="34" charset="-120"/>
              </a:rPr>
              <a:t>(5)</a:t>
            </a:r>
            <a:endParaRPr lang="en-US" sz="1200" dirty="0"/>
          </a:p>
        </p:txBody>
      </p:sp>
      <p:sp>
        <p:nvSpPr>
          <p:cNvPr id="29" name="Shape 27"/>
          <p:cNvSpPr/>
          <p:nvPr/>
        </p:nvSpPr>
        <p:spPr>
          <a:xfrm>
            <a:off x="9601200" y="3401568"/>
            <a:ext cx="274320" cy="237744"/>
          </a:xfrm>
          <a:prstGeom prst="rightArrow">
            <a:avLst/>
          </a:prstGeom>
          <a:solidFill>
            <a:srgbClr val="111111"/>
          </a:solidFill>
          <a:ln w="12700">
            <a:solidFill>
              <a:srgbClr val="333333"/>
            </a:solidFill>
            <a:prstDash val="solid"/>
          </a:ln>
        </p:spPr>
        <p:txBody>
          <a:bodyPr/>
          <a:p/>
        </p:txBody>
      </p:sp>
      <p:sp>
        <p:nvSpPr>
          <p:cNvPr id="30" name="Shape 28"/>
          <p:cNvSpPr/>
          <p:nvPr/>
        </p:nvSpPr>
        <p:spPr>
          <a:xfrm>
            <a:off x="10012680" y="3200400"/>
            <a:ext cx="1188720" cy="640080"/>
          </a:xfrm>
          <a:prstGeom prst="roundRect">
            <a:avLst>
              <a:gd name="adj" fmla="val 11429"/>
            </a:avLst>
          </a:prstGeom>
          <a:solidFill>
            <a:srgbClr val="ECECEC"/>
          </a:solidFill>
          <a:ln w="12700">
            <a:solidFill>
              <a:srgbClr val="333333"/>
            </a:solidFill>
            <a:prstDash val="solid"/>
          </a:ln>
        </p:spPr>
        <p:txBody>
          <a:bodyPr/>
          <a:p/>
        </p:txBody>
      </p:sp>
      <p:sp>
        <p:nvSpPr>
          <p:cNvPr id="31" name="Text 29"/>
          <p:cNvSpPr/>
          <p:nvPr/>
        </p:nvSpPr>
        <p:spPr>
          <a:xfrm>
            <a:off x="10085832" y="3200400"/>
            <a:ext cx="1042416" cy="640080"/>
          </a:xfrm>
          <a:prstGeom prst="rect">
            <a:avLst/>
          </a:prstGeom>
          <a:noFill/>
          <a:ln/>
        </p:spPr>
        <p:txBody>
          <a:bodyPr wrap="square" lIns="0" tIns="0" rIns="0" bIns="0" rtlCol="0" anchor="ctr"/>
          <a:lstStyle/>
          <a:p>
            <a:pPr marL="0" indent="0" algn="ctr">
              <a:lnSpc>
                <a:spcPts val="1500"/>
              </a:lnSpc>
              <a:buNone/>
            </a:pPr>
            <a:r>
              <a:rPr lang="en-US" sz="1200" b="1" dirty="0">
                <a:solidFill>
                  <a:srgbClr val="111111"/>
                </a:solidFill>
                <a:latin typeface="Arial" pitchFamily="34" charset="0"/>
                <a:ea typeface="Arial" pitchFamily="34" charset="-122"/>
                <a:cs typeface="Arial" pitchFamily="34" charset="-120"/>
              </a:rPr>
              <a:t>Decoder</a:t>
            </a:r>
            <a:endParaRPr lang="en-US" sz="1200" dirty="0"/>
          </a:p>
        </p:txBody>
      </p:sp>
      <p:sp>
        <p:nvSpPr>
          <p:cNvPr id="32" name="Text 30"/>
          <p:cNvSpPr/>
          <p:nvPr/>
        </p:nvSpPr>
        <p:spPr>
          <a:xfrm>
            <a:off x="960120" y="4160520"/>
            <a:ext cx="10241280" cy="320040"/>
          </a:xfrm>
          <a:prstGeom prst="rect">
            <a:avLst/>
          </a:prstGeom>
          <a:noFill/>
          <a:ln/>
        </p:spPr>
        <p:txBody>
          <a:bodyPr wrap="square" lIns="0" tIns="0" rIns="0" bIns="0" rtlCol="0" anchor="ctr"/>
          <a:lstStyle/>
          <a:p>
            <a:pPr marL="0" indent="0" algn="ctr">
              <a:buNone/>
            </a:pPr>
            <a:r>
              <a:rPr lang="en-US" sz="1400" b="1" dirty="0">
                <a:solidFill>
                  <a:srgbClr val="111111"/>
                </a:solidFill>
                <a:latin typeface="Arial" pitchFamily="34" charset="0"/>
                <a:ea typeface="Arial" pitchFamily="34" charset="-122"/>
                <a:cs typeface="Arial" pitchFamily="34" charset="-120"/>
              </a:rPr>
              <a:t>Architecture</a:t>
            </a:r>
            <a:endParaRPr lang="en-US" sz="1400" dirty="0"/>
          </a:p>
        </p:txBody>
      </p:sp>
      <p:sp>
        <p:nvSpPr>
          <p:cNvPr id="33" name="Shape 31"/>
          <p:cNvSpPr/>
          <p:nvPr/>
        </p:nvSpPr>
        <p:spPr>
          <a:xfrm>
            <a:off x="1051560" y="4572000"/>
            <a:ext cx="1536192" cy="960120"/>
          </a:xfrm>
          <a:prstGeom prst="roundRect">
            <a:avLst>
              <a:gd name="adj" fmla="val 7619"/>
            </a:avLst>
          </a:prstGeom>
          <a:solidFill>
            <a:srgbClr val="ECECEC"/>
          </a:solidFill>
          <a:ln w="12700">
            <a:solidFill>
              <a:srgbClr val="333333"/>
            </a:solidFill>
            <a:prstDash val="solid"/>
          </a:ln>
        </p:spPr>
        <p:txBody>
          <a:bodyPr/>
          <a:p/>
        </p:txBody>
      </p:sp>
      <p:sp>
        <p:nvSpPr>
          <p:cNvPr id="34" name="Text 32"/>
          <p:cNvSpPr/>
          <p:nvPr/>
        </p:nvSpPr>
        <p:spPr>
          <a:xfrm>
            <a:off x="1051560" y="4681728"/>
            <a:ext cx="1536192" cy="274320"/>
          </a:xfrm>
          <a:prstGeom prst="rect">
            <a:avLst/>
          </a:prstGeom>
          <a:noFill/>
          <a:ln/>
        </p:spPr>
        <p:txBody>
          <a:bodyPr wrap="square" lIns="0" tIns="0" rIns="0" bIns="0" rtlCol="0" anchor="ctr"/>
          <a:lstStyle/>
          <a:p>
            <a:pPr marL="0" indent="0" algn="ctr">
              <a:buNone/>
            </a:pPr>
            <a:r>
              <a:rPr lang="en-US" sz="1000" dirty="0">
                <a:solidFill>
                  <a:srgbClr val="5C5C5C"/>
                </a:solidFill>
                <a:latin typeface="Arial" pitchFamily="34" charset="0"/>
                <a:ea typeface="Arial" pitchFamily="34" charset="-122"/>
                <a:cs typeface="Arial" pitchFamily="34" charset="-120"/>
              </a:rPr>
              <a:t>Embedding</a:t>
            </a:r>
            <a:endParaRPr lang="en-US" sz="1000" dirty="0"/>
          </a:p>
        </p:txBody>
      </p:sp>
      <p:sp>
        <p:nvSpPr>
          <p:cNvPr id="35" name="Text 33"/>
          <p:cNvSpPr/>
          <p:nvPr/>
        </p:nvSpPr>
        <p:spPr>
          <a:xfrm>
            <a:off x="1051560" y="4956048"/>
            <a:ext cx="1536192" cy="411480"/>
          </a:xfrm>
          <a:prstGeom prst="rect">
            <a:avLst/>
          </a:prstGeom>
          <a:noFill/>
          <a:ln/>
        </p:spPr>
        <p:txBody>
          <a:bodyPr wrap="square" lIns="0" tIns="0" rIns="0" bIns="0" rtlCol="0" anchor="ctr"/>
          <a:lstStyle/>
          <a:p>
            <a:pPr marL="0" indent="0" algn="ctr">
              <a:buNone/>
            </a:pPr>
            <a:r>
              <a:rPr lang="en-US" sz="1700" b="1" dirty="0">
                <a:solidFill>
                  <a:srgbClr val="111111"/>
                </a:solidFill>
                <a:latin typeface="Arial" pitchFamily="34" charset="0"/>
                <a:ea typeface="Arial" pitchFamily="34" charset="-122"/>
                <a:cs typeface="Arial" pitchFamily="34" charset="-120"/>
              </a:rPr>
              <a:t>128</a:t>
            </a:r>
            <a:endParaRPr lang="en-US" sz="1700" dirty="0"/>
          </a:p>
        </p:txBody>
      </p:sp>
      <p:sp>
        <p:nvSpPr>
          <p:cNvPr id="36" name="Shape 34"/>
          <p:cNvSpPr/>
          <p:nvPr/>
        </p:nvSpPr>
        <p:spPr>
          <a:xfrm>
            <a:off x="2752344" y="4572000"/>
            <a:ext cx="1536192" cy="960120"/>
          </a:xfrm>
          <a:prstGeom prst="roundRect">
            <a:avLst>
              <a:gd name="adj" fmla="val 7619"/>
            </a:avLst>
          </a:prstGeom>
          <a:solidFill>
            <a:srgbClr val="ECECEC"/>
          </a:solidFill>
          <a:ln w="12700">
            <a:solidFill>
              <a:srgbClr val="333333"/>
            </a:solidFill>
            <a:prstDash val="solid"/>
          </a:ln>
        </p:spPr>
        <p:txBody>
          <a:bodyPr/>
          <a:p/>
        </p:txBody>
      </p:sp>
      <p:sp>
        <p:nvSpPr>
          <p:cNvPr id="37" name="Text 35"/>
          <p:cNvSpPr/>
          <p:nvPr/>
        </p:nvSpPr>
        <p:spPr>
          <a:xfrm>
            <a:off x="2752344" y="4681728"/>
            <a:ext cx="1536192" cy="274320"/>
          </a:xfrm>
          <a:prstGeom prst="rect">
            <a:avLst/>
          </a:prstGeom>
          <a:noFill/>
          <a:ln/>
        </p:spPr>
        <p:txBody>
          <a:bodyPr wrap="square" lIns="0" tIns="0" rIns="0" bIns="0" rtlCol="0" anchor="ctr"/>
          <a:lstStyle/>
          <a:p>
            <a:pPr marL="0" indent="0" algn="ctr">
              <a:buNone/>
            </a:pPr>
            <a:r>
              <a:rPr lang="en-US" sz="1000" dirty="0">
                <a:solidFill>
                  <a:srgbClr val="5C5C5C"/>
                </a:solidFill>
                <a:latin typeface="Arial" pitchFamily="34" charset="0"/>
                <a:ea typeface="Arial" pitchFamily="34" charset="-122"/>
                <a:cs typeface="Arial" pitchFamily="34" charset="-120"/>
              </a:rPr>
              <a:t>BiGRU encoder</a:t>
            </a:r>
            <a:endParaRPr lang="en-US" sz="1000" dirty="0"/>
          </a:p>
        </p:txBody>
      </p:sp>
      <p:sp>
        <p:nvSpPr>
          <p:cNvPr id="38" name="Text 36"/>
          <p:cNvSpPr/>
          <p:nvPr/>
        </p:nvSpPr>
        <p:spPr>
          <a:xfrm>
            <a:off x="2752344" y="4956048"/>
            <a:ext cx="1536192" cy="411480"/>
          </a:xfrm>
          <a:prstGeom prst="rect">
            <a:avLst/>
          </a:prstGeom>
          <a:noFill/>
          <a:ln/>
        </p:spPr>
        <p:txBody>
          <a:bodyPr wrap="square" lIns="0" tIns="0" rIns="0" bIns="0" rtlCol="0" anchor="ctr"/>
          <a:lstStyle/>
          <a:p>
            <a:pPr marL="0" indent="0" algn="ctr">
              <a:buNone/>
            </a:pPr>
            <a:r>
              <a:rPr lang="en-US" sz="1700" b="1" dirty="0">
                <a:solidFill>
                  <a:srgbClr val="111111"/>
                </a:solidFill>
                <a:latin typeface="Arial" pitchFamily="34" charset="0"/>
                <a:ea typeface="Arial" pitchFamily="34" charset="-122"/>
                <a:cs typeface="Arial" pitchFamily="34" charset="-120"/>
              </a:rPr>
              <a:t>512</a:t>
            </a:r>
            <a:endParaRPr lang="en-US" sz="1700" dirty="0"/>
          </a:p>
        </p:txBody>
      </p:sp>
      <p:sp>
        <p:nvSpPr>
          <p:cNvPr id="39" name="Shape 37"/>
          <p:cNvSpPr/>
          <p:nvPr/>
        </p:nvSpPr>
        <p:spPr>
          <a:xfrm>
            <a:off x="4453128" y="4572000"/>
            <a:ext cx="1536192" cy="960120"/>
          </a:xfrm>
          <a:prstGeom prst="roundRect">
            <a:avLst>
              <a:gd name="adj" fmla="val 7619"/>
            </a:avLst>
          </a:prstGeom>
          <a:solidFill>
            <a:srgbClr val="ECECEC"/>
          </a:solidFill>
          <a:ln w="12700">
            <a:solidFill>
              <a:srgbClr val="333333"/>
            </a:solidFill>
            <a:prstDash val="solid"/>
          </a:ln>
        </p:spPr>
        <p:txBody>
          <a:bodyPr/>
          <a:p/>
        </p:txBody>
      </p:sp>
      <p:sp>
        <p:nvSpPr>
          <p:cNvPr id="40" name="Text 38"/>
          <p:cNvSpPr/>
          <p:nvPr/>
        </p:nvSpPr>
        <p:spPr>
          <a:xfrm>
            <a:off x="4453128" y="4681728"/>
            <a:ext cx="1536192" cy="274320"/>
          </a:xfrm>
          <a:prstGeom prst="rect">
            <a:avLst/>
          </a:prstGeom>
          <a:noFill/>
          <a:ln/>
        </p:spPr>
        <p:txBody>
          <a:bodyPr wrap="square" lIns="0" tIns="0" rIns="0" bIns="0" rtlCol="0" anchor="ctr"/>
          <a:lstStyle/>
          <a:p>
            <a:pPr marL="0" indent="0" algn="ctr">
              <a:buNone/>
            </a:pPr>
            <a:r>
              <a:rPr lang="en-US" sz="1000" dirty="0">
                <a:solidFill>
                  <a:srgbClr val="5C5C5C"/>
                </a:solidFill>
                <a:latin typeface="Arial" pitchFamily="34" charset="0"/>
                <a:ea typeface="Arial" pitchFamily="34" charset="-122"/>
                <a:cs typeface="Arial" pitchFamily="34" charset="-120"/>
              </a:rPr>
              <a:t>Latent</a:t>
            </a:r>
            <a:endParaRPr lang="en-US" sz="1000" dirty="0"/>
          </a:p>
        </p:txBody>
      </p:sp>
      <p:sp>
        <p:nvSpPr>
          <p:cNvPr id="41" name="Text 39"/>
          <p:cNvSpPr/>
          <p:nvPr/>
        </p:nvSpPr>
        <p:spPr>
          <a:xfrm>
            <a:off x="4453128" y="4956048"/>
            <a:ext cx="1536192" cy="411480"/>
          </a:xfrm>
          <a:prstGeom prst="rect">
            <a:avLst/>
          </a:prstGeom>
          <a:noFill/>
          <a:ln/>
        </p:spPr>
        <p:txBody>
          <a:bodyPr wrap="square" lIns="0" tIns="0" rIns="0" bIns="0" rtlCol="0" anchor="ctr"/>
          <a:lstStyle/>
          <a:p>
            <a:pPr marL="0" indent="0" algn="ctr">
              <a:buNone/>
            </a:pPr>
            <a:r>
              <a:rPr lang="en-US" sz="1700" b="1" dirty="0">
                <a:solidFill>
                  <a:srgbClr val="111111"/>
                </a:solidFill>
                <a:latin typeface="Arial" pitchFamily="34" charset="0"/>
                <a:ea typeface="Arial" pitchFamily="34" charset="-122"/>
                <a:cs typeface="Arial" pitchFamily="34" charset="-120"/>
              </a:rPr>
              <a:t>64</a:t>
            </a:r>
            <a:endParaRPr lang="en-US" sz="1700" dirty="0"/>
          </a:p>
        </p:txBody>
      </p:sp>
      <p:sp>
        <p:nvSpPr>
          <p:cNvPr id="42" name="Shape 40"/>
          <p:cNvSpPr/>
          <p:nvPr/>
        </p:nvSpPr>
        <p:spPr>
          <a:xfrm>
            <a:off x="6153912" y="4572000"/>
            <a:ext cx="1536192" cy="960120"/>
          </a:xfrm>
          <a:prstGeom prst="roundRect">
            <a:avLst>
              <a:gd name="adj" fmla="val 7619"/>
            </a:avLst>
          </a:prstGeom>
          <a:solidFill>
            <a:srgbClr val="ECECEC"/>
          </a:solidFill>
          <a:ln w="12700">
            <a:solidFill>
              <a:srgbClr val="333333"/>
            </a:solidFill>
            <a:prstDash val="solid"/>
          </a:ln>
        </p:spPr>
        <p:txBody>
          <a:bodyPr/>
          <a:p/>
        </p:txBody>
      </p:sp>
      <p:sp>
        <p:nvSpPr>
          <p:cNvPr id="43" name="Text 41"/>
          <p:cNvSpPr/>
          <p:nvPr/>
        </p:nvSpPr>
        <p:spPr>
          <a:xfrm>
            <a:off x="6153912" y="4681728"/>
            <a:ext cx="1536192" cy="274320"/>
          </a:xfrm>
          <a:prstGeom prst="rect">
            <a:avLst/>
          </a:prstGeom>
          <a:noFill/>
          <a:ln/>
        </p:spPr>
        <p:txBody>
          <a:bodyPr wrap="square" lIns="0" tIns="0" rIns="0" bIns="0" rtlCol="0" anchor="ctr"/>
          <a:lstStyle/>
          <a:p>
            <a:pPr marL="0" indent="0" algn="ctr">
              <a:buNone/>
            </a:pPr>
            <a:r>
              <a:rPr lang="en-US" sz="1000" dirty="0">
                <a:solidFill>
                  <a:srgbClr val="5C5C5C"/>
                </a:solidFill>
                <a:latin typeface="Arial" pitchFamily="34" charset="0"/>
                <a:ea typeface="Arial" pitchFamily="34" charset="-122"/>
                <a:cs typeface="Arial" pitchFamily="34" charset="-120"/>
              </a:rPr>
              <a:t>GRU decoder</a:t>
            </a:r>
            <a:endParaRPr lang="en-US" sz="1000" dirty="0"/>
          </a:p>
        </p:txBody>
      </p:sp>
      <p:sp>
        <p:nvSpPr>
          <p:cNvPr id="44" name="Text 42"/>
          <p:cNvSpPr/>
          <p:nvPr/>
        </p:nvSpPr>
        <p:spPr>
          <a:xfrm>
            <a:off x="6153912" y="4956048"/>
            <a:ext cx="1536192" cy="411480"/>
          </a:xfrm>
          <a:prstGeom prst="rect">
            <a:avLst/>
          </a:prstGeom>
          <a:noFill/>
          <a:ln/>
        </p:spPr>
        <p:txBody>
          <a:bodyPr wrap="square" lIns="0" tIns="0" rIns="0" bIns="0" rtlCol="0" anchor="ctr"/>
          <a:lstStyle/>
          <a:p>
            <a:pPr marL="0" indent="0" algn="ctr">
              <a:buNone/>
            </a:pPr>
            <a:r>
              <a:rPr lang="en-US" sz="1700" b="1" dirty="0">
                <a:solidFill>
                  <a:srgbClr val="111111"/>
                </a:solidFill>
                <a:latin typeface="Arial" pitchFamily="34" charset="0"/>
                <a:ea typeface="Arial" pitchFamily="34" charset="-122"/>
                <a:cs typeface="Arial" pitchFamily="34" charset="-120"/>
              </a:rPr>
              <a:t>512</a:t>
            </a:r>
            <a:endParaRPr lang="en-US" sz="1700" dirty="0"/>
          </a:p>
        </p:txBody>
      </p:sp>
      <p:sp>
        <p:nvSpPr>
          <p:cNvPr id="45" name="Shape 43"/>
          <p:cNvSpPr/>
          <p:nvPr/>
        </p:nvSpPr>
        <p:spPr>
          <a:xfrm>
            <a:off x="7854696" y="4572000"/>
            <a:ext cx="1536192" cy="960120"/>
          </a:xfrm>
          <a:prstGeom prst="roundRect">
            <a:avLst>
              <a:gd name="adj" fmla="val 7619"/>
            </a:avLst>
          </a:prstGeom>
          <a:solidFill>
            <a:srgbClr val="ECECEC"/>
          </a:solidFill>
          <a:ln w="12700">
            <a:solidFill>
              <a:srgbClr val="333333"/>
            </a:solidFill>
            <a:prstDash val="solid"/>
          </a:ln>
        </p:spPr>
        <p:txBody>
          <a:bodyPr/>
          <a:p/>
        </p:txBody>
      </p:sp>
      <p:sp>
        <p:nvSpPr>
          <p:cNvPr id="46" name="Text 44"/>
          <p:cNvSpPr/>
          <p:nvPr/>
        </p:nvSpPr>
        <p:spPr>
          <a:xfrm>
            <a:off x="7854696" y="4681728"/>
            <a:ext cx="1536192" cy="274320"/>
          </a:xfrm>
          <a:prstGeom prst="rect">
            <a:avLst/>
          </a:prstGeom>
          <a:noFill/>
          <a:ln/>
        </p:spPr>
        <p:txBody>
          <a:bodyPr wrap="square" lIns="0" tIns="0" rIns="0" bIns="0" rtlCol="0" anchor="ctr"/>
          <a:lstStyle/>
          <a:p>
            <a:pPr marL="0" indent="0" algn="ctr">
              <a:buNone/>
            </a:pPr>
            <a:r>
              <a:rPr lang="en-US" sz="1000" dirty="0">
                <a:solidFill>
                  <a:srgbClr val="5C5C5C"/>
                </a:solidFill>
                <a:latin typeface="Arial" pitchFamily="34" charset="0"/>
                <a:ea typeface="Arial" pitchFamily="34" charset="-122"/>
                <a:cs typeface="Arial" pitchFamily="34" charset="-120"/>
              </a:rPr>
              <a:t>Vocabulary</a:t>
            </a:r>
            <a:endParaRPr lang="en-US" sz="1000" dirty="0"/>
          </a:p>
        </p:txBody>
      </p:sp>
      <p:sp>
        <p:nvSpPr>
          <p:cNvPr id="47" name="Text 45"/>
          <p:cNvSpPr/>
          <p:nvPr/>
        </p:nvSpPr>
        <p:spPr>
          <a:xfrm>
            <a:off x="7854696" y="4956048"/>
            <a:ext cx="1536192" cy="411480"/>
          </a:xfrm>
          <a:prstGeom prst="rect">
            <a:avLst/>
          </a:prstGeom>
          <a:noFill/>
          <a:ln/>
        </p:spPr>
        <p:txBody>
          <a:bodyPr wrap="square" lIns="0" tIns="0" rIns="0" bIns="0" rtlCol="0" anchor="ctr"/>
          <a:lstStyle/>
          <a:p>
            <a:pPr marL="0" indent="0" algn="ctr">
              <a:buNone/>
            </a:pPr>
            <a:r>
              <a:rPr lang="en-US" sz="1700" b="1" dirty="0">
                <a:solidFill>
                  <a:srgbClr val="111111"/>
                </a:solidFill>
                <a:latin typeface="Arial" pitchFamily="34" charset="0"/>
                <a:ea typeface="Arial" pitchFamily="34" charset="-122"/>
                <a:cs typeface="Arial" pitchFamily="34" charset="-120"/>
              </a:rPr>
              <a:t>174</a:t>
            </a:r>
            <a:endParaRPr lang="en-US" sz="1700" dirty="0"/>
          </a:p>
        </p:txBody>
      </p:sp>
      <p:sp>
        <p:nvSpPr>
          <p:cNvPr id="48" name="Shape 46"/>
          <p:cNvSpPr/>
          <p:nvPr/>
        </p:nvSpPr>
        <p:spPr>
          <a:xfrm>
            <a:off x="9555480" y="4572000"/>
            <a:ext cx="1536192" cy="960120"/>
          </a:xfrm>
          <a:prstGeom prst="roundRect">
            <a:avLst>
              <a:gd name="adj" fmla="val 7619"/>
            </a:avLst>
          </a:prstGeom>
          <a:solidFill>
            <a:srgbClr val="ECECEC"/>
          </a:solidFill>
          <a:ln w="12700">
            <a:solidFill>
              <a:srgbClr val="333333"/>
            </a:solidFill>
            <a:prstDash val="solid"/>
          </a:ln>
        </p:spPr>
        <p:txBody>
          <a:bodyPr/>
          <a:p/>
        </p:txBody>
      </p:sp>
      <p:sp>
        <p:nvSpPr>
          <p:cNvPr id="49" name="Text 47"/>
          <p:cNvSpPr/>
          <p:nvPr/>
        </p:nvSpPr>
        <p:spPr>
          <a:xfrm>
            <a:off x="9555480" y="4681728"/>
            <a:ext cx="1536192" cy="274320"/>
          </a:xfrm>
          <a:prstGeom prst="rect">
            <a:avLst/>
          </a:prstGeom>
          <a:noFill/>
          <a:ln/>
        </p:spPr>
        <p:txBody>
          <a:bodyPr wrap="square" lIns="0" tIns="0" rIns="0" bIns="0" rtlCol="0" anchor="ctr"/>
          <a:lstStyle/>
          <a:p>
            <a:pPr marL="0" indent="0" algn="ctr">
              <a:buNone/>
            </a:pPr>
            <a:r>
              <a:rPr lang="en-US" sz="1000" dirty="0">
                <a:solidFill>
                  <a:srgbClr val="5C5C5C"/>
                </a:solidFill>
                <a:latin typeface="Arial" pitchFamily="34" charset="0"/>
                <a:ea typeface="Arial" pitchFamily="34" charset="-122"/>
                <a:cs typeface="Arial" pitchFamily="34" charset="-120"/>
              </a:rPr>
              <a:t>Parameters</a:t>
            </a:r>
            <a:endParaRPr lang="en-US" sz="1000" dirty="0"/>
          </a:p>
        </p:txBody>
      </p:sp>
      <p:sp>
        <p:nvSpPr>
          <p:cNvPr id="50" name="Text 48"/>
          <p:cNvSpPr/>
          <p:nvPr/>
        </p:nvSpPr>
        <p:spPr>
          <a:xfrm>
            <a:off x="9555480" y="4956048"/>
            <a:ext cx="1536192" cy="411480"/>
          </a:xfrm>
          <a:prstGeom prst="rect">
            <a:avLst/>
          </a:prstGeom>
          <a:noFill/>
          <a:ln/>
        </p:spPr>
        <p:txBody>
          <a:bodyPr wrap="square" lIns="0" tIns="0" rIns="0" bIns="0" rtlCol="0" anchor="ctr"/>
          <a:lstStyle/>
          <a:p>
            <a:pPr marL="0" indent="0" algn="ctr">
              <a:buNone/>
            </a:pPr>
            <a:r>
              <a:rPr lang="en-US" sz="1700" b="1" dirty="0">
                <a:solidFill>
                  <a:srgbClr val="111111"/>
                </a:solidFill>
                <a:latin typeface="Arial" pitchFamily="34" charset="0"/>
                <a:ea typeface="Arial" pitchFamily="34" charset="-122"/>
                <a:cs typeface="Arial" pitchFamily="34" charset="-120"/>
              </a:rPr>
              <a:t>3.47M</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6  ·  METHODOLOGY</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Why Masked Conditioning?</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16</a:t>
            </a:r>
            <a:endParaRPr lang="en-US" sz="1000" dirty="0"/>
          </a:p>
        </p:txBody>
      </p:sp>
      <p:sp>
        <p:nvSpPr>
          <p:cNvPr id="6" name="Shape 4"/>
          <p:cNvSpPr/>
          <p:nvPr/>
        </p:nvSpPr>
        <p:spPr>
          <a:xfrm>
            <a:off x="960120" y="1691640"/>
            <a:ext cx="10241280" cy="777240"/>
          </a:xfrm>
          <a:prstGeom prst="roundRect">
            <a:avLst>
              <a:gd name="adj" fmla="val 9412"/>
            </a:avLst>
          </a:prstGeom>
          <a:solidFill>
            <a:srgbClr val="FBEEDA"/>
          </a:solidFill>
          <a:ln w="12700">
            <a:solidFill>
              <a:srgbClr val="333333"/>
            </a:solidFill>
            <a:prstDash val="solid"/>
          </a:ln>
        </p:spPr>
        <p:txBody>
          <a:bodyPr/>
          <a:p/>
        </p:txBody>
      </p:sp>
      <p:sp>
        <p:nvSpPr>
          <p:cNvPr id="7" name="Text 5"/>
          <p:cNvSpPr/>
          <p:nvPr/>
        </p:nvSpPr>
        <p:spPr>
          <a:xfrm>
            <a:off x="960120" y="1691640"/>
            <a:ext cx="10241280" cy="777240"/>
          </a:xfrm>
          <a:prstGeom prst="rect">
            <a:avLst/>
          </a:prstGeom>
          <a:noFill/>
          <a:ln/>
        </p:spPr>
        <p:txBody>
          <a:bodyPr wrap="square" lIns="0" tIns="0" rIns="0" bIns="0" rtlCol="0" anchor="ctr"/>
          <a:lstStyle/>
          <a:p>
            <a:pPr marL="0" indent="0" algn="ctr">
              <a:buNone/>
            </a:pPr>
            <a:r>
              <a:rPr lang="en-US" sz="1500" b="1" dirty="0">
                <a:solidFill>
                  <a:srgbClr val="9C5A0B"/>
                </a:solidFill>
                <a:latin typeface="Arial" pitchFamily="34" charset="0"/>
                <a:ea typeface="Arial" pitchFamily="34" charset="-122"/>
                <a:cs typeface="Arial" pitchFamily="34" charset="-120"/>
              </a:rPr>
              <a:t>Dataset discovery:  exactly ONE molecule has both a measured Tg and a measured FFV.</a:t>
            </a:r>
            <a:endParaRPr lang="en-US" sz="1500" dirty="0"/>
          </a:p>
        </p:txBody>
      </p:sp>
      <p:sp>
        <p:nvSpPr>
          <p:cNvPr id="8" name="Text 6"/>
          <p:cNvSpPr/>
          <p:nvPr/>
        </p:nvSpPr>
        <p:spPr>
          <a:xfrm>
            <a:off x="960120" y="2606040"/>
            <a:ext cx="10241280" cy="365760"/>
          </a:xfrm>
          <a:prstGeom prst="rect">
            <a:avLst/>
          </a:prstGeom>
          <a:noFill/>
          <a:ln/>
        </p:spPr>
        <p:txBody>
          <a:bodyPr wrap="square" lIns="0" tIns="0" rIns="0" bIns="0" rtlCol="0" anchor="ctr"/>
          <a:lstStyle/>
          <a:p>
            <a:pPr marL="0" indent="0" algn="ctr">
              <a:buNone/>
            </a:pPr>
            <a:r>
              <a:rPr lang="en-US" sz="1300" dirty="0">
                <a:solidFill>
                  <a:srgbClr val="2E2E2E"/>
                </a:solidFill>
                <a:latin typeface="Arial" pitchFamily="34" charset="0"/>
                <a:ea typeface="Arial" pitchFamily="34" charset="-122"/>
                <a:cs typeface="Arial" pitchFamily="34" charset="-120"/>
              </a:rPr>
              <a:t>A dense five-property condition is therefore unrealistic. Each property is instead independently present or absent.</a:t>
            </a:r>
            <a:endParaRPr lang="en-US" sz="1300" dirty="0"/>
          </a:p>
        </p:txBody>
      </p:sp>
      <p:sp>
        <p:nvSpPr>
          <p:cNvPr id="9" name="Text 7"/>
          <p:cNvSpPr/>
          <p:nvPr/>
        </p:nvSpPr>
        <p:spPr>
          <a:xfrm>
            <a:off x="1371600" y="3108960"/>
            <a:ext cx="1463040" cy="274320"/>
          </a:xfrm>
          <a:prstGeom prst="rect">
            <a:avLst/>
          </a:prstGeom>
          <a:noFill/>
          <a:ln/>
        </p:spPr>
        <p:txBody>
          <a:bodyPr wrap="square" lIns="0" tIns="0" rIns="0" bIns="0" rtlCol="0" anchor="ctr"/>
          <a:lstStyle/>
          <a:p>
            <a:pPr marL="0" indent="0">
              <a:buNone/>
            </a:pPr>
            <a:r>
              <a:rPr lang="en-US" sz="1100" b="1" dirty="0">
                <a:solidFill>
                  <a:srgbClr val="5C5C5C"/>
                </a:solidFill>
                <a:latin typeface="Arial" pitchFamily="34" charset="0"/>
                <a:ea typeface="Arial" pitchFamily="34" charset="-122"/>
                <a:cs typeface="Arial" pitchFamily="34" charset="-120"/>
              </a:rPr>
              <a:t>Property</a:t>
            </a:r>
            <a:endParaRPr lang="en-US" sz="1100" dirty="0"/>
          </a:p>
        </p:txBody>
      </p:sp>
      <p:sp>
        <p:nvSpPr>
          <p:cNvPr id="10" name="Text 8"/>
          <p:cNvSpPr/>
          <p:nvPr/>
        </p:nvSpPr>
        <p:spPr>
          <a:xfrm>
            <a:off x="2834640" y="3108960"/>
            <a:ext cx="1188720" cy="274320"/>
          </a:xfrm>
          <a:prstGeom prst="rect">
            <a:avLst/>
          </a:prstGeom>
          <a:noFill/>
          <a:ln/>
        </p:spPr>
        <p:txBody>
          <a:bodyPr wrap="square" lIns="0" tIns="0" rIns="0" bIns="0" rtlCol="0" anchor="ctr"/>
          <a:lstStyle/>
          <a:p>
            <a:pPr marL="0" indent="0">
              <a:buNone/>
            </a:pPr>
            <a:r>
              <a:rPr lang="en-US" sz="1100" b="1" dirty="0">
                <a:solidFill>
                  <a:srgbClr val="5C5C5C"/>
                </a:solidFill>
                <a:latin typeface="Arial" pitchFamily="34" charset="0"/>
                <a:ea typeface="Arial" pitchFamily="34" charset="-122"/>
                <a:cs typeface="Arial" pitchFamily="34" charset="-120"/>
              </a:rPr>
              <a:t>Value</a:t>
            </a:r>
            <a:endParaRPr lang="en-US" sz="1100" dirty="0"/>
          </a:p>
        </p:txBody>
      </p:sp>
      <p:sp>
        <p:nvSpPr>
          <p:cNvPr id="11" name="Text 9"/>
          <p:cNvSpPr/>
          <p:nvPr/>
        </p:nvSpPr>
        <p:spPr>
          <a:xfrm>
            <a:off x="4023360" y="3108960"/>
            <a:ext cx="1188720" cy="274320"/>
          </a:xfrm>
          <a:prstGeom prst="rect">
            <a:avLst/>
          </a:prstGeom>
          <a:noFill/>
          <a:ln/>
        </p:spPr>
        <p:txBody>
          <a:bodyPr wrap="square" lIns="0" tIns="0" rIns="0" bIns="0" rtlCol="0" anchor="ctr"/>
          <a:lstStyle/>
          <a:p>
            <a:pPr marL="0" indent="0">
              <a:buNone/>
            </a:pPr>
            <a:r>
              <a:rPr lang="en-US" sz="1100" b="1" dirty="0">
                <a:solidFill>
                  <a:srgbClr val="5C5C5C"/>
                </a:solidFill>
                <a:latin typeface="Arial" pitchFamily="34" charset="0"/>
                <a:ea typeface="Arial" pitchFamily="34" charset="-122"/>
                <a:cs typeface="Arial" pitchFamily="34" charset="-120"/>
              </a:rPr>
              <a:t>Mask</a:t>
            </a:r>
            <a:endParaRPr lang="en-US" sz="1100" dirty="0"/>
          </a:p>
        </p:txBody>
      </p:sp>
      <p:sp>
        <p:nvSpPr>
          <p:cNvPr id="12" name="Shape 10"/>
          <p:cNvSpPr/>
          <p:nvPr/>
        </p:nvSpPr>
        <p:spPr>
          <a:xfrm>
            <a:off x="1234440" y="3401568"/>
            <a:ext cx="4114800" cy="384048"/>
          </a:xfrm>
          <a:prstGeom prst="roundRect">
            <a:avLst>
              <a:gd name="adj" fmla="val 19048"/>
            </a:avLst>
          </a:prstGeom>
          <a:solidFill>
            <a:srgbClr val="DCF2E4"/>
          </a:solidFill>
          <a:ln w="12700">
            <a:solidFill>
              <a:srgbClr val="333333"/>
            </a:solidFill>
            <a:prstDash val="solid"/>
          </a:ln>
        </p:spPr>
        <p:txBody>
          <a:bodyPr/>
          <a:p/>
        </p:txBody>
      </p:sp>
      <p:sp>
        <p:nvSpPr>
          <p:cNvPr id="13" name="Text 11"/>
          <p:cNvSpPr/>
          <p:nvPr/>
        </p:nvSpPr>
        <p:spPr>
          <a:xfrm>
            <a:off x="1371600" y="3401568"/>
            <a:ext cx="1371600" cy="384048"/>
          </a:xfrm>
          <a:prstGeom prst="rect">
            <a:avLst/>
          </a:prstGeom>
          <a:noFill/>
          <a:ln/>
        </p:spPr>
        <p:txBody>
          <a:bodyPr wrap="square" lIns="0" tIns="0" rIns="0" bIns="0" rtlCol="0" anchor="ctr"/>
          <a:lstStyle/>
          <a:p>
            <a:pPr marL="0" indent="0">
              <a:buNone/>
            </a:pPr>
            <a:r>
              <a:rPr lang="en-US" sz="1200" b="1" dirty="0">
                <a:solidFill>
                  <a:srgbClr val="111111"/>
                </a:solidFill>
                <a:latin typeface="Arial" pitchFamily="34" charset="0"/>
                <a:ea typeface="Arial" pitchFamily="34" charset="-122"/>
                <a:cs typeface="Arial" pitchFamily="34" charset="-120"/>
              </a:rPr>
              <a:t>Tg</a:t>
            </a:r>
            <a:endParaRPr lang="en-US" sz="1200" dirty="0"/>
          </a:p>
        </p:txBody>
      </p:sp>
      <p:sp>
        <p:nvSpPr>
          <p:cNvPr id="14" name="Text 12"/>
          <p:cNvSpPr/>
          <p:nvPr/>
        </p:nvSpPr>
        <p:spPr>
          <a:xfrm>
            <a:off x="2834640" y="3401568"/>
            <a:ext cx="1097280" cy="384048"/>
          </a:xfrm>
          <a:prstGeom prst="rect">
            <a:avLst/>
          </a:prstGeom>
          <a:noFill/>
          <a:ln/>
        </p:spPr>
        <p:txBody>
          <a:bodyPr wrap="square" lIns="0" tIns="0" rIns="0" bIns="0" rtlCol="0" anchor="ctr"/>
          <a:lstStyle/>
          <a:p>
            <a:pPr marL="0" indent="0">
              <a:buNone/>
            </a:pPr>
            <a:r>
              <a:rPr lang="en-US" sz="1200" b="1" dirty="0">
                <a:solidFill>
                  <a:srgbClr val="156B33"/>
                </a:solidFill>
                <a:latin typeface="Courier New" pitchFamily="34" charset="0"/>
                <a:ea typeface="Courier New" pitchFamily="34" charset="-122"/>
                <a:cs typeface="Courier New" pitchFamily="34" charset="-120"/>
              </a:rPr>
              <a:t>150</a:t>
            </a:r>
            <a:endParaRPr lang="en-US" sz="1200" dirty="0"/>
          </a:p>
        </p:txBody>
      </p:sp>
      <p:sp>
        <p:nvSpPr>
          <p:cNvPr id="15" name="Text 13"/>
          <p:cNvSpPr/>
          <p:nvPr/>
        </p:nvSpPr>
        <p:spPr>
          <a:xfrm>
            <a:off x="4023360" y="3401568"/>
            <a:ext cx="1097280" cy="384048"/>
          </a:xfrm>
          <a:prstGeom prst="rect">
            <a:avLst/>
          </a:prstGeom>
          <a:noFill/>
          <a:ln/>
        </p:spPr>
        <p:txBody>
          <a:bodyPr wrap="square" lIns="0" tIns="0" rIns="0" bIns="0" rtlCol="0" anchor="ctr"/>
          <a:lstStyle/>
          <a:p>
            <a:pPr marL="0" indent="0">
              <a:buNone/>
            </a:pPr>
            <a:r>
              <a:rPr lang="en-US" sz="1200" b="1" dirty="0">
                <a:solidFill>
                  <a:srgbClr val="156B33"/>
                </a:solidFill>
                <a:latin typeface="Courier New" pitchFamily="34" charset="0"/>
                <a:ea typeface="Courier New" pitchFamily="34" charset="-122"/>
                <a:cs typeface="Courier New" pitchFamily="34" charset="-120"/>
              </a:rPr>
              <a:t>1</a:t>
            </a:r>
            <a:endParaRPr lang="en-US" sz="1200" dirty="0"/>
          </a:p>
        </p:txBody>
      </p:sp>
      <p:sp>
        <p:nvSpPr>
          <p:cNvPr id="16" name="Shape 14"/>
          <p:cNvSpPr/>
          <p:nvPr/>
        </p:nvSpPr>
        <p:spPr>
          <a:xfrm>
            <a:off x="1234440" y="3858768"/>
            <a:ext cx="4114800" cy="384048"/>
          </a:xfrm>
          <a:prstGeom prst="roundRect">
            <a:avLst>
              <a:gd name="adj" fmla="val 19048"/>
            </a:avLst>
          </a:prstGeom>
          <a:solidFill>
            <a:srgbClr val="ECECEC"/>
          </a:solidFill>
          <a:ln w="12700">
            <a:solidFill>
              <a:srgbClr val="333333"/>
            </a:solidFill>
            <a:prstDash val="solid"/>
          </a:ln>
        </p:spPr>
        <p:txBody>
          <a:bodyPr/>
          <a:p/>
        </p:txBody>
      </p:sp>
      <p:sp>
        <p:nvSpPr>
          <p:cNvPr id="17" name="Text 15"/>
          <p:cNvSpPr/>
          <p:nvPr/>
        </p:nvSpPr>
        <p:spPr>
          <a:xfrm>
            <a:off x="1371600" y="3858768"/>
            <a:ext cx="1371600" cy="384048"/>
          </a:xfrm>
          <a:prstGeom prst="rect">
            <a:avLst/>
          </a:prstGeom>
          <a:noFill/>
          <a:ln/>
        </p:spPr>
        <p:txBody>
          <a:bodyPr wrap="square" lIns="0" tIns="0" rIns="0" bIns="0" rtlCol="0" anchor="ctr"/>
          <a:lstStyle/>
          <a:p>
            <a:pPr marL="0" indent="0">
              <a:buNone/>
            </a:pPr>
            <a:r>
              <a:rPr lang="en-US" sz="1200" b="1" dirty="0">
                <a:solidFill>
                  <a:srgbClr val="111111"/>
                </a:solidFill>
                <a:latin typeface="Arial" pitchFamily="34" charset="0"/>
                <a:ea typeface="Arial" pitchFamily="34" charset="-122"/>
                <a:cs typeface="Arial" pitchFamily="34" charset="-120"/>
              </a:rPr>
              <a:t>FFV</a:t>
            </a:r>
            <a:endParaRPr lang="en-US" sz="1200" dirty="0"/>
          </a:p>
        </p:txBody>
      </p:sp>
      <p:sp>
        <p:nvSpPr>
          <p:cNvPr id="18" name="Text 16"/>
          <p:cNvSpPr/>
          <p:nvPr/>
        </p:nvSpPr>
        <p:spPr>
          <a:xfrm>
            <a:off x="2834640" y="3858768"/>
            <a:ext cx="1097280" cy="384048"/>
          </a:xfrm>
          <a:prstGeom prst="rect">
            <a:avLst/>
          </a:prstGeom>
          <a:noFill/>
          <a:ln/>
        </p:spPr>
        <p:txBody>
          <a:bodyPr wrap="square" lIns="0" tIns="0" rIns="0" bIns="0" rtlCol="0" anchor="ctr"/>
          <a:lstStyle/>
          <a:p>
            <a:pPr marL="0" indent="0">
              <a:buNone/>
            </a:pPr>
            <a:r>
              <a:rPr lang="en-US" sz="1200" b="1" dirty="0">
                <a:solidFill>
                  <a:srgbClr val="5C5C5C"/>
                </a:solidFill>
                <a:latin typeface="Courier New" pitchFamily="34" charset="0"/>
                <a:ea typeface="Courier New" pitchFamily="34" charset="-122"/>
                <a:cs typeface="Courier New" pitchFamily="34" charset="-120"/>
              </a:rPr>
              <a:t>—</a:t>
            </a:r>
            <a:endParaRPr lang="en-US" sz="1200" dirty="0"/>
          </a:p>
        </p:txBody>
      </p:sp>
      <p:sp>
        <p:nvSpPr>
          <p:cNvPr id="19" name="Text 17"/>
          <p:cNvSpPr/>
          <p:nvPr/>
        </p:nvSpPr>
        <p:spPr>
          <a:xfrm>
            <a:off x="4023360" y="3858768"/>
            <a:ext cx="1097280" cy="384048"/>
          </a:xfrm>
          <a:prstGeom prst="rect">
            <a:avLst/>
          </a:prstGeom>
          <a:noFill/>
          <a:ln/>
        </p:spPr>
        <p:txBody>
          <a:bodyPr wrap="square" lIns="0" tIns="0" rIns="0" bIns="0" rtlCol="0" anchor="ctr"/>
          <a:lstStyle/>
          <a:p>
            <a:pPr marL="0" indent="0">
              <a:buNone/>
            </a:pPr>
            <a:r>
              <a:rPr lang="en-US" sz="1200" b="1" dirty="0">
                <a:solidFill>
                  <a:srgbClr val="5C5C5C"/>
                </a:solidFill>
                <a:latin typeface="Courier New" pitchFamily="34" charset="0"/>
                <a:ea typeface="Courier New" pitchFamily="34" charset="-122"/>
                <a:cs typeface="Courier New" pitchFamily="34" charset="-120"/>
              </a:rPr>
              <a:t>0</a:t>
            </a:r>
            <a:endParaRPr lang="en-US" sz="1200" dirty="0"/>
          </a:p>
        </p:txBody>
      </p:sp>
      <p:sp>
        <p:nvSpPr>
          <p:cNvPr id="20" name="Shape 18"/>
          <p:cNvSpPr/>
          <p:nvPr/>
        </p:nvSpPr>
        <p:spPr>
          <a:xfrm>
            <a:off x="1234440" y="4315968"/>
            <a:ext cx="4114800" cy="384048"/>
          </a:xfrm>
          <a:prstGeom prst="roundRect">
            <a:avLst>
              <a:gd name="adj" fmla="val 19048"/>
            </a:avLst>
          </a:prstGeom>
          <a:solidFill>
            <a:srgbClr val="ECECEC"/>
          </a:solidFill>
          <a:ln w="12700">
            <a:solidFill>
              <a:srgbClr val="333333"/>
            </a:solidFill>
            <a:prstDash val="solid"/>
          </a:ln>
        </p:spPr>
        <p:txBody>
          <a:bodyPr/>
          <a:p/>
        </p:txBody>
      </p:sp>
      <p:sp>
        <p:nvSpPr>
          <p:cNvPr id="21" name="Text 19"/>
          <p:cNvSpPr/>
          <p:nvPr/>
        </p:nvSpPr>
        <p:spPr>
          <a:xfrm>
            <a:off x="1371600" y="4315968"/>
            <a:ext cx="1371600" cy="384048"/>
          </a:xfrm>
          <a:prstGeom prst="rect">
            <a:avLst/>
          </a:prstGeom>
          <a:noFill/>
          <a:ln/>
        </p:spPr>
        <p:txBody>
          <a:bodyPr wrap="square" lIns="0" tIns="0" rIns="0" bIns="0" rtlCol="0" anchor="ctr"/>
          <a:lstStyle/>
          <a:p>
            <a:pPr marL="0" indent="0">
              <a:buNone/>
            </a:pPr>
            <a:r>
              <a:rPr lang="en-US" sz="1200" b="1" dirty="0">
                <a:solidFill>
                  <a:srgbClr val="111111"/>
                </a:solidFill>
                <a:latin typeface="Arial" pitchFamily="34" charset="0"/>
                <a:ea typeface="Arial" pitchFamily="34" charset="-122"/>
                <a:cs typeface="Arial" pitchFamily="34" charset="-120"/>
              </a:rPr>
              <a:t>Tc</a:t>
            </a:r>
            <a:endParaRPr lang="en-US" sz="1200" dirty="0"/>
          </a:p>
        </p:txBody>
      </p:sp>
      <p:sp>
        <p:nvSpPr>
          <p:cNvPr id="22" name="Text 20"/>
          <p:cNvSpPr/>
          <p:nvPr/>
        </p:nvSpPr>
        <p:spPr>
          <a:xfrm>
            <a:off x="2834640" y="4315968"/>
            <a:ext cx="1097280" cy="384048"/>
          </a:xfrm>
          <a:prstGeom prst="rect">
            <a:avLst/>
          </a:prstGeom>
          <a:noFill/>
          <a:ln/>
        </p:spPr>
        <p:txBody>
          <a:bodyPr wrap="square" lIns="0" tIns="0" rIns="0" bIns="0" rtlCol="0" anchor="ctr"/>
          <a:lstStyle/>
          <a:p>
            <a:pPr marL="0" indent="0">
              <a:buNone/>
            </a:pPr>
            <a:r>
              <a:rPr lang="en-US" sz="1200" b="1" dirty="0">
                <a:solidFill>
                  <a:srgbClr val="5C5C5C"/>
                </a:solidFill>
                <a:latin typeface="Courier New" pitchFamily="34" charset="0"/>
                <a:ea typeface="Courier New" pitchFamily="34" charset="-122"/>
                <a:cs typeface="Courier New" pitchFamily="34" charset="-120"/>
              </a:rPr>
              <a:t>—</a:t>
            </a:r>
            <a:endParaRPr lang="en-US" sz="1200" dirty="0"/>
          </a:p>
        </p:txBody>
      </p:sp>
      <p:sp>
        <p:nvSpPr>
          <p:cNvPr id="23" name="Text 21"/>
          <p:cNvSpPr/>
          <p:nvPr/>
        </p:nvSpPr>
        <p:spPr>
          <a:xfrm>
            <a:off x="4023360" y="4315968"/>
            <a:ext cx="1097280" cy="384048"/>
          </a:xfrm>
          <a:prstGeom prst="rect">
            <a:avLst/>
          </a:prstGeom>
          <a:noFill/>
          <a:ln/>
        </p:spPr>
        <p:txBody>
          <a:bodyPr wrap="square" lIns="0" tIns="0" rIns="0" bIns="0" rtlCol="0" anchor="ctr"/>
          <a:lstStyle/>
          <a:p>
            <a:pPr marL="0" indent="0">
              <a:buNone/>
            </a:pPr>
            <a:r>
              <a:rPr lang="en-US" sz="1200" b="1" dirty="0">
                <a:solidFill>
                  <a:srgbClr val="5C5C5C"/>
                </a:solidFill>
                <a:latin typeface="Courier New" pitchFamily="34" charset="0"/>
                <a:ea typeface="Courier New" pitchFamily="34" charset="-122"/>
                <a:cs typeface="Courier New" pitchFamily="34" charset="-120"/>
              </a:rPr>
              <a:t>0</a:t>
            </a:r>
            <a:endParaRPr lang="en-US" sz="1200" dirty="0"/>
          </a:p>
        </p:txBody>
      </p:sp>
      <p:sp>
        <p:nvSpPr>
          <p:cNvPr id="24" name="Shape 22"/>
          <p:cNvSpPr/>
          <p:nvPr/>
        </p:nvSpPr>
        <p:spPr>
          <a:xfrm>
            <a:off x="1234440" y="4773168"/>
            <a:ext cx="4114800" cy="384048"/>
          </a:xfrm>
          <a:prstGeom prst="roundRect">
            <a:avLst>
              <a:gd name="adj" fmla="val 19048"/>
            </a:avLst>
          </a:prstGeom>
          <a:solidFill>
            <a:srgbClr val="ECECEC"/>
          </a:solidFill>
          <a:ln w="12700">
            <a:solidFill>
              <a:srgbClr val="333333"/>
            </a:solidFill>
            <a:prstDash val="solid"/>
          </a:ln>
        </p:spPr>
        <p:txBody>
          <a:bodyPr/>
          <a:p/>
        </p:txBody>
      </p:sp>
      <p:sp>
        <p:nvSpPr>
          <p:cNvPr id="25" name="Text 23"/>
          <p:cNvSpPr/>
          <p:nvPr/>
        </p:nvSpPr>
        <p:spPr>
          <a:xfrm>
            <a:off x="1371600" y="4773168"/>
            <a:ext cx="1371600" cy="384048"/>
          </a:xfrm>
          <a:prstGeom prst="rect">
            <a:avLst/>
          </a:prstGeom>
          <a:noFill/>
          <a:ln/>
        </p:spPr>
        <p:txBody>
          <a:bodyPr wrap="square" lIns="0" tIns="0" rIns="0" bIns="0" rtlCol="0" anchor="ctr"/>
          <a:lstStyle/>
          <a:p>
            <a:pPr marL="0" indent="0">
              <a:buNone/>
            </a:pPr>
            <a:r>
              <a:rPr lang="en-US" sz="1200" b="1" dirty="0">
                <a:solidFill>
                  <a:srgbClr val="111111"/>
                </a:solidFill>
                <a:latin typeface="Arial" pitchFamily="34" charset="0"/>
                <a:ea typeface="Arial" pitchFamily="34" charset="-122"/>
                <a:cs typeface="Arial" pitchFamily="34" charset="-120"/>
              </a:rPr>
              <a:t>Density</a:t>
            </a:r>
            <a:endParaRPr lang="en-US" sz="1200" dirty="0"/>
          </a:p>
        </p:txBody>
      </p:sp>
      <p:sp>
        <p:nvSpPr>
          <p:cNvPr id="26" name="Text 24"/>
          <p:cNvSpPr/>
          <p:nvPr/>
        </p:nvSpPr>
        <p:spPr>
          <a:xfrm>
            <a:off x="2834640" y="4773168"/>
            <a:ext cx="1097280" cy="384048"/>
          </a:xfrm>
          <a:prstGeom prst="rect">
            <a:avLst/>
          </a:prstGeom>
          <a:noFill/>
          <a:ln/>
        </p:spPr>
        <p:txBody>
          <a:bodyPr wrap="square" lIns="0" tIns="0" rIns="0" bIns="0" rtlCol="0" anchor="ctr"/>
          <a:lstStyle/>
          <a:p>
            <a:pPr marL="0" indent="0">
              <a:buNone/>
            </a:pPr>
            <a:r>
              <a:rPr lang="en-US" sz="1200" b="1" dirty="0">
                <a:solidFill>
                  <a:srgbClr val="5C5C5C"/>
                </a:solidFill>
                <a:latin typeface="Courier New" pitchFamily="34" charset="0"/>
                <a:ea typeface="Courier New" pitchFamily="34" charset="-122"/>
                <a:cs typeface="Courier New" pitchFamily="34" charset="-120"/>
              </a:rPr>
              <a:t>—</a:t>
            </a:r>
            <a:endParaRPr lang="en-US" sz="1200" dirty="0"/>
          </a:p>
        </p:txBody>
      </p:sp>
      <p:sp>
        <p:nvSpPr>
          <p:cNvPr id="27" name="Text 25"/>
          <p:cNvSpPr/>
          <p:nvPr/>
        </p:nvSpPr>
        <p:spPr>
          <a:xfrm>
            <a:off x="4023360" y="4773168"/>
            <a:ext cx="1097280" cy="384048"/>
          </a:xfrm>
          <a:prstGeom prst="rect">
            <a:avLst/>
          </a:prstGeom>
          <a:noFill/>
          <a:ln/>
        </p:spPr>
        <p:txBody>
          <a:bodyPr wrap="square" lIns="0" tIns="0" rIns="0" bIns="0" rtlCol="0" anchor="ctr"/>
          <a:lstStyle/>
          <a:p>
            <a:pPr marL="0" indent="0">
              <a:buNone/>
            </a:pPr>
            <a:r>
              <a:rPr lang="en-US" sz="1200" b="1" dirty="0">
                <a:solidFill>
                  <a:srgbClr val="5C5C5C"/>
                </a:solidFill>
                <a:latin typeface="Courier New" pitchFamily="34" charset="0"/>
                <a:ea typeface="Courier New" pitchFamily="34" charset="-122"/>
                <a:cs typeface="Courier New" pitchFamily="34" charset="-120"/>
              </a:rPr>
              <a:t>0</a:t>
            </a:r>
            <a:endParaRPr lang="en-US" sz="1200" dirty="0"/>
          </a:p>
        </p:txBody>
      </p:sp>
      <p:sp>
        <p:nvSpPr>
          <p:cNvPr id="28" name="Shape 26"/>
          <p:cNvSpPr/>
          <p:nvPr/>
        </p:nvSpPr>
        <p:spPr>
          <a:xfrm>
            <a:off x="1234440" y="5230368"/>
            <a:ext cx="4114800" cy="384048"/>
          </a:xfrm>
          <a:prstGeom prst="roundRect">
            <a:avLst>
              <a:gd name="adj" fmla="val 19048"/>
            </a:avLst>
          </a:prstGeom>
          <a:solidFill>
            <a:srgbClr val="ECECEC"/>
          </a:solidFill>
          <a:ln w="12700">
            <a:solidFill>
              <a:srgbClr val="333333"/>
            </a:solidFill>
            <a:prstDash val="solid"/>
          </a:ln>
        </p:spPr>
        <p:txBody>
          <a:bodyPr/>
          <a:p/>
        </p:txBody>
      </p:sp>
      <p:sp>
        <p:nvSpPr>
          <p:cNvPr id="29" name="Text 27"/>
          <p:cNvSpPr/>
          <p:nvPr/>
        </p:nvSpPr>
        <p:spPr>
          <a:xfrm>
            <a:off x="1371600" y="5230368"/>
            <a:ext cx="1371600" cy="384048"/>
          </a:xfrm>
          <a:prstGeom prst="rect">
            <a:avLst/>
          </a:prstGeom>
          <a:noFill/>
          <a:ln/>
        </p:spPr>
        <p:txBody>
          <a:bodyPr wrap="square" lIns="0" tIns="0" rIns="0" bIns="0" rtlCol="0" anchor="ctr"/>
          <a:lstStyle/>
          <a:p>
            <a:pPr marL="0" indent="0">
              <a:buNone/>
            </a:pPr>
            <a:r>
              <a:rPr lang="en-US" sz="1200" b="1" dirty="0">
                <a:solidFill>
                  <a:srgbClr val="111111"/>
                </a:solidFill>
                <a:latin typeface="Arial" pitchFamily="34" charset="0"/>
                <a:ea typeface="Arial" pitchFamily="34" charset="-122"/>
                <a:cs typeface="Arial" pitchFamily="34" charset="-120"/>
              </a:rPr>
              <a:t>Rg</a:t>
            </a:r>
            <a:endParaRPr lang="en-US" sz="1200" dirty="0"/>
          </a:p>
        </p:txBody>
      </p:sp>
      <p:sp>
        <p:nvSpPr>
          <p:cNvPr id="30" name="Text 28"/>
          <p:cNvSpPr/>
          <p:nvPr/>
        </p:nvSpPr>
        <p:spPr>
          <a:xfrm>
            <a:off x="2834640" y="5230368"/>
            <a:ext cx="1097280" cy="384048"/>
          </a:xfrm>
          <a:prstGeom prst="rect">
            <a:avLst/>
          </a:prstGeom>
          <a:noFill/>
          <a:ln/>
        </p:spPr>
        <p:txBody>
          <a:bodyPr wrap="square" lIns="0" tIns="0" rIns="0" bIns="0" rtlCol="0" anchor="ctr"/>
          <a:lstStyle/>
          <a:p>
            <a:pPr marL="0" indent="0">
              <a:buNone/>
            </a:pPr>
            <a:r>
              <a:rPr lang="en-US" sz="1200" b="1" dirty="0">
                <a:solidFill>
                  <a:srgbClr val="5C5C5C"/>
                </a:solidFill>
                <a:latin typeface="Courier New" pitchFamily="34" charset="0"/>
                <a:ea typeface="Courier New" pitchFamily="34" charset="-122"/>
                <a:cs typeface="Courier New" pitchFamily="34" charset="-120"/>
              </a:rPr>
              <a:t>—</a:t>
            </a:r>
            <a:endParaRPr lang="en-US" sz="1200" dirty="0"/>
          </a:p>
        </p:txBody>
      </p:sp>
      <p:sp>
        <p:nvSpPr>
          <p:cNvPr id="31" name="Text 29"/>
          <p:cNvSpPr/>
          <p:nvPr/>
        </p:nvSpPr>
        <p:spPr>
          <a:xfrm>
            <a:off x="4023360" y="5230368"/>
            <a:ext cx="1097280" cy="384048"/>
          </a:xfrm>
          <a:prstGeom prst="rect">
            <a:avLst/>
          </a:prstGeom>
          <a:noFill/>
          <a:ln/>
        </p:spPr>
        <p:txBody>
          <a:bodyPr wrap="square" lIns="0" tIns="0" rIns="0" bIns="0" rtlCol="0" anchor="ctr"/>
          <a:lstStyle/>
          <a:p>
            <a:pPr marL="0" indent="0">
              <a:buNone/>
            </a:pPr>
            <a:r>
              <a:rPr lang="en-US" sz="1200" b="1" dirty="0">
                <a:solidFill>
                  <a:srgbClr val="5C5C5C"/>
                </a:solidFill>
                <a:latin typeface="Courier New" pitchFamily="34" charset="0"/>
                <a:ea typeface="Courier New" pitchFamily="34" charset="-122"/>
                <a:cs typeface="Courier New" pitchFamily="34" charset="-120"/>
              </a:rPr>
              <a:t>0</a:t>
            </a:r>
            <a:endParaRPr lang="en-US" sz="1200" dirty="0"/>
          </a:p>
        </p:txBody>
      </p:sp>
      <p:sp>
        <p:nvSpPr>
          <p:cNvPr id="32" name="Shape 30"/>
          <p:cNvSpPr/>
          <p:nvPr/>
        </p:nvSpPr>
        <p:spPr>
          <a:xfrm>
            <a:off x="5806440" y="3108960"/>
            <a:ext cx="5394960" cy="1234440"/>
          </a:xfrm>
          <a:prstGeom prst="roundRect">
            <a:avLst>
              <a:gd name="adj" fmla="val 5926"/>
            </a:avLst>
          </a:prstGeom>
          <a:solidFill>
            <a:srgbClr val="E3EDF8"/>
          </a:solidFill>
          <a:ln w="12700">
            <a:solidFill>
              <a:srgbClr val="333333"/>
            </a:solidFill>
            <a:prstDash val="solid"/>
          </a:ln>
        </p:spPr>
        <p:txBody>
          <a:bodyPr/>
          <a:p/>
        </p:txBody>
      </p:sp>
      <p:sp>
        <p:nvSpPr>
          <p:cNvPr id="33" name="Text 31"/>
          <p:cNvSpPr/>
          <p:nvPr/>
        </p:nvSpPr>
        <p:spPr>
          <a:xfrm>
            <a:off x="6080760" y="3218688"/>
            <a:ext cx="4846320" cy="274320"/>
          </a:xfrm>
          <a:prstGeom prst="rect">
            <a:avLst/>
          </a:prstGeom>
          <a:noFill/>
          <a:ln/>
        </p:spPr>
        <p:txBody>
          <a:bodyPr wrap="square" lIns="0" tIns="0" rIns="0" bIns="0" rtlCol="0" anchor="ctr"/>
          <a:lstStyle/>
          <a:p>
            <a:pPr marL="0" indent="0">
              <a:buNone/>
            </a:pPr>
            <a:r>
              <a:rPr lang="en-US" sz="1300" b="1" dirty="0">
                <a:solidFill>
                  <a:srgbClr val="1B4F8A"/>
                </a:solidFill>
                <a:latin typeface="Arial" pitchFamily="34" charset="0"/>
                <a:ea typeface="Arial" pitchFamily="34" charset="-122"/>
                <a:cs typeface="Arial" pitchFamily="34" charset="-120"/>
              </a:rPr>
              <a:t>During training</a:t>
            </a:r>
            <a:endParaRPr lang="en-US" sz="1300" dirty="0"/>
          </a:p>
        </p:txBody>
      </p:sp>
      <p:sp>
        <p:nvSpPr>
          <p:cNvPr id="34" name="Text 32"/>
          <p:cNvSpPr/>
          <p:nvPr/>
        </p:nvSpPr>
        <p:spPr>
          <a:xfrm>
            <a:off x="6080760" y="3520440"/>
            <a:ext cx="4846320" cy="731520"/>
          </a:xfrm>
          <a:prstGeom prst="rect">
            <a:avLst/>
          </a:prstGeom>
          <a:noFill/>
          <a:ln/>
        </p:spPr>
        <p:txBody>
          <a:bodyPr wrap="square" lIns="0" tIns="0" rIns="0" bIns="0" rtlCol="0" anchor="ctr"/>
          <a:lstStyle/>
          <a:p>
            <a:pPr marL="0" indent="0">
              <a:lnSpc>
                <a:spcPts val="1700"/>
              </a:lnSpc>
              <a:buNone/>
            </a:pPr>
            <a:r>
              <a:rPr lang="en-US" sz="1250" dirty="0">
                <a:solidFill>
                  <a:srgbClr val="2E2E2E"/>
                </a:solidFill>
                <a:latin typeface="Arial" pitchFamily="34" charset="0"/>
                <a:ea typeface="Arial" pitchFamily="34" charset="-122"/>
                <a:cs typeface="Arial" pitchFamily="34" charset="-120"/>
              </a:rPr>
              <a:t>Each property is independently withheld with probability 0.5, with at least one property always retained.</a:t>
            </a:r>
            <a:endParaRPr lang="en-US" sz="1250" dirty="0"/>
          </a:p>
        </p:txBody>
      </p:sp>
      <p:sp>
        <p:nvSpPr>
          <p:cNvPr id="35" name="Shape 33"/>
          <p:cNvSpPr/>
          <p:nvPr/>
        </p:nvSpPr>
        <p:spPr>
          <a:xfrm>
            <a:off x="5806440" y="4526280"/>
            <a:ext cx="5394960" cy="1188720"/>
          </a:xfrm>
          <a:prstGeom prst="roundRect">
            <a:avLst>
              <a:gd name="adj" fmla="val 6154"/>
            </a:avLst>
          </a:prstGeom>
          <a:solidFill>
            <a:srgbClr val="DCF2E4"/>
          </a:solidFill>
          <a:ln w="12700">
            <a:solidFill>
              <a:srgbClr val="333333"/>
            </a:solidFill>
            <a:prstDash val="solid"/>
          </a:ln>
        </p:spPr>
        <p:txBody>
          <a:bodyPr/>
          <a:p/>
        </p:txBody>
      </p:sp>
      <p:sp>
        <p:nvSpPr>
          <p:cNvPr id="36" name="Text 34"/>
          <p:cNvSpPr/>
          <p:nvPr/>
        </p:nvSpPr>
        <p:spPr>
          <a:xfrm>
            <a:off x="6080760" y="4636008"/>
            <a:ext cx="4846320" cy="274320"/>
          </a:xfrm>
          <a:prstGeom prst="rect">
            <a:avLst/>
          </a:prstGeom>
          <a:noFill/>
          <a:ln/>
        </p:spPr>
        <p:txBody>
          <a:bodyPr wrap="square" lIns="0" tIns="0" rIns="0" bIns="0" rtlCol="0" anchor="ctr"/>
          <a:lstStyle/>
          <a:p>
            <a:pPr marL="0" indent="0">
              <a:buNone/>
            </a:pPr>
            <a:r>
              <a:rPr lang="en-US" sz="1300" b="1" dirty="0">
                <a:solidFill>
                  <a:srgbClr val="156B33"/>
                </a:solidFill>
                <a:latin typeface="Arial" pitchFamily="34" charset="0"/>
                <a:ea typeface="Arial" pitchFamily="34" charset="-122"/>
                <a:cs typeface="Arial" pitchFamily="34" charset="-120"/>
              </a:rPr>
              <a:t>Consequence</a:t>
            </a:r>
            <a:endParaRPr lang="en-US" sz="1300" dirty="0"/>
          </a:p>
        </p:txBody>
      </p:sp>
      <p:sp>
        <p:nvSpPr>
          <p:cNvPr id="37" name="Text 35"/>
          <p:cNvSpPr/>
          <p:nvPr/>
        </p:nvSpPr>
        <p:spPr>
          <a:xfrm>
            <a:off x="6080760" y="4937760"/>
            <a:ext cx="4846320" cy="731520"/>
          </a:xfrm>
          <a:prstGeom prst="rect">
            <a:avLst/>
          </a:prstGeom>
          <a:noFill/>
          <a:ln/>
        </p:spPr>
        <p:txBody>
          <a:bodyPr wrap="square" lIns="0" tIns="0" rIns="0" bIns="0" rtlCol="0" anchor="ctr"/>
          <a:lstStyle/>
          <a:p>
            <a:pPr marL="0" indent="0">
              <a:lnSpc>
                <a:spcPts val="1700"/>
              </a:lnSpc>
              <a:buNone/>
            </a:pPr>
            <a:r>
              <a:rPr lang="en-US" sz="1250" dirty="0">
                <a:solidFill>
                  <a:srgbClr val="2E2E2E"/>
                </a:solidFill>
                <a:latin typeface="Arial" pitchFamily="34" charset="0"/>
                <a:ea typeface="Arial" pitchFamily="34" charset="-122"/>
                <a:cs typeface="Arial" pitchFamily="34" charset="-120"/>
              </a:rPr>
              <a:t>The model learns to handle any subset of properties, so a request naming only Tg works exactly as well as one naming three.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6  ·  METHODOLOGY</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Tier 1: RAG + LLM</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17</a:t>
            </a:r>
            <a:endParaRPr lang="en-US" sz="1000" dirty="0"/>
          </a:p>
        </p:txBody>
      </p:sp>
      <p:sp>
        <p:nvSpPr>
          <p:cNvPr id="6" name="Shape 4"/>
          <p:cNvSpPr/>
          <p:nvPr/>
        </p:nvSpPr>
        <p:spPr>
          <a:xfrm>
            <a:off x="5394960" y="1371600"/>
            <a:ext cx="1417320" cy="274320"/>
          </a:xfrm>
          <a:prstGeom prst="roundRect">
            <a:avLst>
              <a:gd name="adj" fmla="val 50000"/>
            </a:avLst>
          </a:prstGeom>
          <a:solidFill>
            <a:srgbClr val="ECECEC"/>
          </a:solidFill>
          <a:ln w="12700">
            <a:solidFill>
              <a:srgbClr val="333333"/>
            </a:solidFill>
            <a:prstDash val="solid"/>
          </a:ln>
        </p:spPr>
        <p:txBody>
          <a:bodyPr/>
          <a:p/>
        </p:txBody>
      </p:sp>
      <p:sp>
        <p:nvSpPr>
          <p:cNvPr id="7" name="Text 5"/>
          <p:cNvSpPr/>
          <p:nvPr/>
        </p:nvSpPr>
        <p:spPr>
          <a:xfrm>
            <a:off x="5394960" y="1371600"/>
            <a:ext cx="1417320" cy="274320"/>
          </a:xfrm>
          <a:prstGeom prst="rect">
            <a:avLst/>
          </a:prstGeom>
          <a:noFill/>
          <a:ln/>
        </p:spPr>
        <p:txBody>
          <a:bodyPr wrap="square" lIns="0" tIns="0" rIns="0" bIns="0" rtlCol="0" anchor="ctr"/>
          <a:lstStyle/>
          <a:p>
            <a:pPr marL="0" indent="0" algn="ctr">
              <a:buNone/>
            </a:pPr>
            <a:r>
              <a:rPr lang="en-US" sz="950" b="1" dirty="0">
                <a:solidFill>
                  <a:srgbClr val="5C5C5C"/>
                </a:solidFill>
                <a:latin typeface="Arial" pitchFamily="34" charset="0"/>
                <a:ea typeface="Arial" pitchFamily="34" charset="-122"/>
                <a:cs typeface="Arial" pitchFamily="34" charset="-120"/>
              </a:rPr>
              <a:t>BUILT</a:t>
            </a:r>
            <a:endParaRPr lang="en-US" sz="950" dirty="0"/>
          </a:p>
        </p:txBody>
      </p:sp>
      <p:sp>
        <p:nvSpPr>
          <p:cNvPr id="8" name="Shape 6"/>
          <p:cNvSpPr/>
          <p:nvPr/>
        </p:nvSpPr>
        <p:spPr>
          <a:xfrm>
            <a:off x="960120" y="1828800"/>
            <a:ext cx="4846320" cy="777240"/>
          </a:xfrm>
          <a:prstGeom prst="roundRect">
            <a:avLst>
              <a:gd name="adj" fmla="val 9412"/>
            </a:avLst>
          </a:prstGeom>
          <a:solidFill>
            <a:srgbClr val="E3EDF8"/>
          </a:solidFill>
          <a:ln w="12700">
            <a:solidFill>
              <a:srgbClr val="333333"/>
            </a:solidFill>
            <a:prstDash val="solid"/>
          </a:ln>
        </p:spPr>
        <p:txBody>
          <a:bodyPr/>
          <a:p/>
        </p:txBody>
      </p:sp>
      <p:sp>
        <p:nvSpPr>
          <p:cNvPr id="9" name="Text 7"/>
          <p:cNvSpPr/>
          <p:nvPr/>
        </p:nvSpPr>
        <p:spPr>
          <a:xfrm>
            <a:off x="1051560" y="1828800"/>
            <a:ext cx="4663440" cy="777240"/>
          </a:xfrm>
          <a:prstGeom prst="rect">
            <a:avLst/>
          </a:prstGeom>
          <a:noFill/>
          <a:ln/>
        </p:spPr>
        <p:txBody>
          <a:bodyPr wrap="square" lIns="0" tIns="0" rIns="0" bIns="0" rtlCol="0" anchor="ctr"/>
          <a:lstStyle/>
          <a:p>
            <a:pPr marL="0" indent="0" algn="ctr">
              <a:buNone/>
            </a:pPr>
            <a:r>
              <a:rPr lang="en-US" sz="1250" b="1" dirty="0">
                <a:solidFill>
                  <a:srgbClr val="1B4F8A"/>
                </a:solidFill>
                <a:latin typeface="Arial" pitchFamily="34" charset="0"/>
                <a:ea typeface="Arial" pitchFamily="34" charset="-122"/>
                <a:cs typeface="Arial" pitchFamily="34" charset="-120"/>
              </a:rPr>
              <a:t>Human:  "I need a polymer matrix that stays rigid above 150°C."</a:t>
            </a:r>
            <a:endParaRPr lang="en-US" sz="1250" dirty="0"/>
          </a:p>
        </p:txBody>
      </p:sp>
      <p:sp>
        <p:nvSpPr>
          <p:cNvPr id="10" name="Shape 8"/>
          <p:cNvSpPr/>
          <p:nvPr/>
        </p:nvSpPr>
        <p:spPr>
          <a:xfrm>
            <a:off x="3264408" y="2697480"/>
            <a:ext cx="237744" cy="237744"/>
          </a:xfrm>
          <a:prstGeom prst="downArrow">
            <a:avLst/>
          </a:prstGeom>
          <a:solidFill>
            <a:srgbClr val="111111"/>
          </a:solidFill>
          <a:ln w="12700">
            <a:solidFill>
              <a:srgbClr val="333333"/>
            </a:solidFill>
            <a:prstDash val="solid"/>
          </a:ln>
        </p:spPr>
        <p:txBody>
          <a:bodyPr/>
          <a:p/>
        </p:txBody>
      </p:sp>
      <p:sp>
        <p:nvSpPr>
          <p:cNvPr id="11" name="Shape 9"/>
          <p:cNvSpPr/>
          <p:nvPr/>
        </p:nvSpPr>
        <p:spPr>
          <a:xfrm>
            <a:off x="960120" y="3063240"/>
            <a:ext cx="4846320" cy="566928"/>
          </a:xfrm>
          <a:prstGeom prst="roundRect">
            <a:avLst>
              <a:gd name="adj" fmla="val 12903"/>
            </a:avLst>
          </a:prstGeom>
          <a:solidFill>
            <a:srgbClr val="ECECEC"/>
          </a:solidFill>
          <a:ln w="12700">
            <a:solidFill>
              <a:srgbClr val="333333"/>
            </a:solidFill>
            <a:prstDash val="solid"/>
          </a:ln>
        </p:spPr>
        <p:txBody>
          <a:bodyPr/>
          <a:p/>
        </p:txBody>
      </p:sp>
      <p:sp>
        <p:nvSpPr>
          <p:cNvPr id="12" name="Text 10"/>
          <p:cNvSpPr/>
          <p:nvPr/>
        </p:nvSpPr>
        <p:spPr>
          <a:xfrm>
            <a:off x="1033272" y="3063240"/>
            <a:ext cx="4700016" cy="566928"/>
          </a:xfrm>
          <a:prstGeom prst="rect">
            <a:avLst/>
          </a:prstGeom>
          <a:noFill/>
          <a:ln/>
        </p:spPr>
        <p:txBody>
          <a:bodyPr wrap="square" lIns="0" tIns="0" rIns="0" bIns="0" rtlCol="0" anchor="ctr"/>
          <a:lstStyle/>
          <a:p>
            <a:pPr marL="0" indent="0" algn="ctr">
              <a:lnSpc>
                <a:spcPts val="1625"/>
              </a:lnSpc>
              <a:buNone/>
            </a:pPr>
            <a:r>
              <a:rPr lang="en-US" sz="1300" b="1" dirty="0">
                <a:solidFill>
                  <a:srgbClr val="111111"/>
                </a:solidFill>
                <a:latin typeface="Arial" pitchFamily="34" charset="0"/>
                <a:ea typeface="Arial" pitchFamily="34" charset="-122"/>
                <a:cs typeface="Arial" pitchFamily="34" charset="-120"/>
              </a:rPr>
              <a:t>Retrieve papers:  semantic search  +  TF-IDF fallback</a:t>
            </a:r>
            <a:endParaRPr lang="en-US" sz="1300" dirty="0"/>
          </a:p>
        </p:txBody>
      </p:sp>
      <p:sp>
        <p:nvSpPr>
          <p:cNvPr id="13" name="Shape 11"/>
          <p:cNvSpPr/>
          <p:nvPr/>
        </p:nvSpPr>
        <p:spPr>
          <a:xfrm>
            <a:off x="3264408" y="3721608"/>
            <a:ext cx="237744" cy="237744"/>
          </a:xfrm>
          <a:prstGeom prst="downArrow">
            <a:avLst/>
          </a:prstGeom>
          <a:solidFill>
            <a:srgbClr val="111111"/>
          </a:solidFill>
          <a:ln w="12700">
            <a:solidFill>
              <a:srgbClr val="333333"/>
            </a:solidFill>
            <a:prstDash val="solid"/>
          </a:ln>
        </p:spPr>
        <p:txBody>
          <a:bodyPr/>
          <a:p/>
        </p:txBody>
      </p:sp>
      <p:sp>
        <p:nvSpPr>
          <p:cNvPr id="14" name="Shape 12"/>
          <p:cNvSpPr/>
          <p:nvPr/>
        </p:nvSpPr>
        <p:spPr>
          <a:xfrm>
            <a:off x="960120" y="4069080"/>
            <a:ext cx="4846320" cy="566928"/>
          </a:xfrm>
          <a:prstGeom prst="roundRect">
            <a:avLst>
              <a:gd name="adj" fmla="val 12903"/>
            </a:avLst>
          </a:prstGeom>
          <a:solidFill>
            <a:srgbClr val="ECECEC"/>
          </a:solidFill>
          <a:ln w="12700">
            <a:solidFill>
              <a:srgbClr val="333333"/>
            </a:solidFill>
            <a:prstDash val="solid"/>
          </a:ln>
        </p:spPr>
        <p:txBody>
          <a:bodyPr/>
          <a:p/>
        </p:txBody>
      </p:sp>
      <p:sp>
        <p:nvSpPr>
          <p:cNvPr id="15" name="Text 13"/>
          <p:cNvSpPr/>
          <p:nvPr/>
        </p:nvSpPr>
        <p:spPr>
          <a:xfrm>
            <a:off x="1033272" y="4069080"/>
            <a:ext cx="4700016" cy="566928"/>
          </a:xfrm>
          <a:prstGeom prst="rect">
            <a:avLst/>
          </a:prstGeom>
          <a:noFill/>
          <a:ln/>
        </p:spPr>
        <p:txBody>
          <a:bodyPr wrap="square" lIns="0" tIns="0" rIns="0" bIns="0" rtlCol="0" anchor="ctr"/>
          <a:lstStyle/>
          <a:p>
            <a:pPr marL="0" indent="0" algn="ctr">
              <a:lnSpc>
                <a:spcPts val="1500"/>
              </a:lnSpc>
              <a:buNone/>
            </a:pPr>
            <a:r>
              <a:rPr lang="en-US" sz="1200" b="1" dirty="0">
                <a:solidFill>
                  <a:srgbClr val="111111"/>
                </a:solidFill>
                <a:latin typeface="Arial" pitchFamily="34" charset="0"/>
                <a:ea typeface="Arial" pitchFamily="34" charset="-122"/>
                <a:cs typeface="Arial" pitchFamily="34" charset="-120"/>
              </a:rPr>
              <a:t>LLM (Gemini / Claude) reads the retrieved abstracts</a:t>
            </a:r>
            <a:endParaRPr lang="en-US" sz="1200" dirty="0"/>
          </a:p>
        </p:txBody>
      </p:sp>
      <p:sp>
        <p:nvSpPr>
          <p:cNvPr id="16" name="Shape 14"/>
          <p:cNvSpPr/>
          <p:nvPr/>
        </p:nvSpPr>
        <p:spPr>
          <a:xfrm>
            <a:off x="3264408" y="4727448"/>
            <a:ext cx="237744" cy="237744"/>
          </a:xfrm>
          <a:prstGeom prst="downArrow">
            <a:avLst/>
          </a:prstGeom>
          <a:solidFill>
            <a:srgbClr val="111111"/>
          </a:solidFill>
          <a:ln w="12700">
            <a:solidFill>
              <a:srgbClr val="333333"/>
            </a:solidFill>
            <a:prstDash val="solid"/>
          </a:ln>
        </p:spPr>
        <p:txBody>
          <a:bodyPr/>
          <a:p/>
        </p:txBody>
      </p:sp>
      <p:sp>
        <p:nvSpPr>
          <p:cNvPr id="17" name="Shape 15"/>
          <p:cNvSpPr/>
          <p:nvPr/>
        </p:nvSpPr>
        <p:spPr>
          <a:xfrm>
            <a:off x="960120" y="5074920"/>
            <a:ext cx="4846320" cy="566928"/>
          </a:xfrm>
          <a:prstGeom prst="roundRect">
            <a:avLst>
              <a:gd name="adj" fmla="val 12903"/>
            </a:avLst>
          </a:prstGeom>
          <a:solidFill>
            <a:srgbClr val="DCF2E4"/>
          </a:solidFill>
          <a:ln w="12700">
            <a:solidFill>
              <a:srgbClr val="333333"/>
            </a:solidFill>
            <a:prstDash val="solid"/>
          </a:ln>
        </p:spPr>
        <p:txBody>
          <a:bodyPr/>
          <a:p/>
        </p:txBody>
      </p:sp>
      <p:sp>
        <p:nvSpPr>
          <p:cNvPr id="18" name="Text 16"/>
          <p:cNvSpPr/>
          <p:nvPr/>
        </p:nvSpPr>
        <p:spPr>
          <a:xfrm>
            <a:off x="1033272" y="5074920"/>
            <a:ext cx="4700016" cy="566928"/>
          </a:xfrm>
          <a:prstGeom prst="rect">
            <a:avLst/>
          </a:prstGeom>
          <a:noFill/>
          <a:ln/>
        </p:spPr>
        <p:txBody>
          <a:bodyPr wrap="square" lIns="0" tIns="0" rIns="0" bIns="0" rtlCol="0" anchor="ctr"/>
          <a:lstStyle/>
          <a:p>
            <a:pPr marL="0" indent="0" algn="ctr">
              <a:lnSpc>
                <a:spcPts val="1563"/>
              </a:lnSpc>
              <a:buNone/>
            </a:pPr>
            <a:r>
              <a:rPr lang="en-US" sz="1250" b="1" dirty="0">
                <a:solidFill>
                  <a:srgbClr val="156B33"/>
                </a:solidFill>
                <a:latin typeface="Arial" pitchFamily="34" charset="0"/>
                <a:ea typeface="Arial" pitchFamily="34" charset="-122"/>
                <a:cs typeface="Arial" pitchFamily="34" charset="-120"/>
              </a:rPr>
              <a:t>Returns JSON targets + mask, with cited reasons</a:t>
            </a:r>
            <a:endParaRPr lang="en-US" sz="1250" dirty="0"/>
          </a:p>
        </p:txBody>
      </p:sp>
      <p:sp>
        <p:nvSpPr>
          <p:cNvPr id="19" name="Shape 17"/>
          <p:cNvSpPr/>
          <p:nvPr/>
        </p:nvSpPr>
        <p:spPr>
          <a:xfrm>
            <a:off x="6263640" y="1828800"/>
            <a:ext cx="4937760" cy="2331720"/>
          </a:xfrm>
          <a:prstGeom prst="roundRect">
            <a:avLst>
              <a:gd name="adj" fmla="val 3137"/>
            </a:avLst>
          </a:prstGeom>
          <a:solidFill>
            <a:srgbClr val="F2F2F2"/>
          </a:solidFill>
          <a:ln w="12700">
            <a:solidFill>
              <a:srgbClr val="333333"/>
            </a:solidFill>
            <a:prstDash val="solid"/>
          </a:ln>
        </p:spPr>
        <p:txBody>
          <a:bodyPr/>
          <a:p/>
        </p:txBody>
      </p:sp>
      <p:sp>
        <p:nvSpPr>
          <p:cNvPr id="20" name="Text 18"/>
          <p:cNvSpPr/>
          <p:nvPr/>
        </p:nvSpPr>
        <p:spPr>
          <a:xfrm>
            <a:off x="6537960" y="1938528"/>
            <a:ext cx="4389120" cy="274320"/>
          </a:xfrm>
          <a:prstGeom prst="rect">
            <a:avLst/>
          </a:prstGeom>
          <a:noFill/>
          <a:ln/>
        </p:spPr>
        <p:txBody>
          <a:bodyPr wrap="square" lIns="0" tIns="0" rIns="0" bIns="0" rtlCol="0" anchor="ctr"/>
          <a:lstStyle/>
          <a:p>
            <a:pPr marL="0" indent="0">
              <a:buNone/>
            </a:pPr>
            <a:r>
              <a:rPr lang="en-US" sz="1200" b="1" dirty="0">
                <a:solidFill>
                  <a:srgbClr val="5C5C5C"/>
                </a:solidFill>
                <a:latin typeface="Arial" pitchFamily="34" charset="0"/>
                <a:ea typeface="Arial" pitchFamily="34" charset="-122"/>
                <a:cs typeface="Arial" pitchFamily="34" charset="-120"/>
              </a:rPr>
              <a:t>Example output</a:t>
            </a:r>
            <a:endParaRPr lang="en-US" sz="1200" dirty="0"/>
          </a:p>
        </p:txBody>
      </p:sp>
      <p:sp>
        <p:nvSpPr>
          <p:cNvPr id="21" name="Text 19"/>
          <p:cNvSpPr/>
          <p:nvPr/>
        </p:nvSpPr>
        <p:spPr>
          <a:xfrm>
            <a:off x="6675120" y="2212848"/>
            <a:ext cx="4206240" cy="1828800"/>
          </a:xfrm>
          <a:prstGeom prst="rect">
            <a:avLst/>
          </a:prstGeom>
          <a:noFill/>
          <a:ln/>
        </p:spPr>
        <p:txBody>
          <a:bodyPr wrap="square" lIns="0" tIns="0" rIns="0" bIns="0" rtlCol="0" anchor="ctr"/>
          <a:lstStyle/>
          <a:p>
            <a:pPr marL="0" indent="0">
              <a:lnSpc>
                <a:spcPts val="1700"/>
              </a:lnSpc>
              <a:buNone/>
            </a:pPr>
            <a:r>
              <a:rPr lang="en-US" sz="1300" dirty="0">
                <a:solidFill>
                  <a:srgbClr val="111111"/>
                </a:solidFill>
                <a:latin typeface="Courier New" pitchFamily="34" charset="0"/>
                <a:ea typeface="Courier New" pitchFamily="34" charset="-122"/>
                <a:cs typeface="Courier New" pitchFamily="34" charset="-120"/>
              </a:rPr>
              <a:t>{</a:t>
            </a:r>
            <a:endParaRPr lang="en-US" sz="1300" dirty="0"/>
          </a:p>
          <a:p>
            <a:pPr marL="0" indent="0">
              <a:lnSpc>
                <a:spcPts val="1700"/>
              </a:lnSpc>
              <a:buNone/>
            </a:pPr>
            <a:r>
              <a:rPr lang="en-US" sz="1300" dirty="0">
                <a:solidFill>
                  <a:srgbClr val="111111"/>
                </a:solidFill>
                <a:latin typeface="Courier New" pitchFamily="34" charset="0"/>
                <a:ea typeface="Courier New" pitchFamily="34" charset="-122"/>
                <a:cs typeface="Courier New" pitchFamily="34" charset="-120"/>
              </a:rPr>
              <a:t>  "Tg": 150,</a:t>
            </a:r>
            <a:endParaRPr lang="en-US" sz="1300" dirty="0"/>
          </a:p>
          <a:p>
            <a:pPr marL="0" indent="0">
              <a:lnSpc>
                <a:spcPts val="1700"/>
              </a:lnSpc>
              <a:buNone/>
            </a:pPr>
            <a:r>
              <a:rPr lang="en-US" sz="1300" dirty="0">
                <a:solidFill>
                  <a:srgbClr val="111111"/>
                </a:solidFill>
                <a:latin typeface="Courier New" pitchFamily="34" charset="0"/>
                <a:ea typeface="Courier New" pitchFamily="34" charset="-122"/>
                <a:cs typeface="Courier New" pitchFamily="34" charset="-120"/>
              </a:rPr>
              <a:t>  "FFV": null,</a:t>
            </a:r>
            <a:endParaRPr lang="en-US" sz="1300" dirty="0"/>
          </a:p>
          <a:p>
            <a:pPr marL="0" indent="0">
              <a:lnSpc>
                <a:spcPts val="1700"/>
              </a:lnSpc>
              <a:buNone/>
            </a:pPr>
            <a:r>
              <a:rPr lang="en-US" sz="1300" dirty="0">
                <a:solidFill>
                  <a:srgbClr val="111111"/>
                </a:solidFill>
                <a:latin typeface="Courier New" pitchFamily="34" charset="0"/>
                <a:ea typeface="Courier New" pitchFamily="34" charset="-122"/>
                <a:cs typeface="Courier New" pitchFamily="34" charset="-120"/>
              </a:rPr>
              <a:t>  "Tc": null,</a:t>
            </a:r>
            <a:endParaRPr lang="en-US" sz="1300" dirty="0"/>
          </a:p>
          <a:p>
            <a:pPr marL="0" indent="0">
              <a:lnSpc>
                <a:spcPts val="1700"/>
              </a:lnSpc>
              <a:buNone/>
            </a:pPr>
            <a:r>
              <a:rPr lang="en-US" sz="1300" dirty="0">
                <a:solidFill>
                  <a:srgbClr val="111111"/>
                </a:solidFill>
                <a:latin typeface="Courier New" pitchFamily="34" charset="0"/>
                <a:ea typeface="Courier New" pitchFamily="34" charset="-122"/>
                <a:cs typeface="Courier New" pitchFamily="34" charset="-120"/>
              </a:rPr>
              <a:t>  "Density": null,</a:t>
            </a:r>
            <a:endParaRPr lang="en-US" sz="1300" dirty="0"/>
          </a:p>
          <a:p>
            <a:pPr marL="0" indent="0">
              <a:lnSpc>
                <a:spcPts val="1700"/>
              </a:lnSpc>
              <a:buNone/>
            </a:pPr>
            <a:r>
              <a:rPr lang="en-US" sz="1300" dirty="0">
                <a:solidFill>
                  <a:srgbClr val="111111"/>
                </a:solidFill>
                <a:latin typeface="Courier New" pitchFamily="34" charset="0"/>
                <a:ea typeface="Courier New" pitchFamily="34" charset="-122"/>
                <a:cs typeface="Courier New" pitchFamily="34" charset="-120"/>
              </a:rPr>
              <a:t>  "Rg": null</a:t>
            </a:r>
            <a:endParaRPr lang="en-US" sz="1300" dirty="0"/>
          </a:p>
          <a:p>
            <a:pPr marL="0" indent="0">
              <a:lnSpc>
                <a:spcPts val="1700"/>
              </a:lnSpc>
              <a:buNone/>
            </a:pPr>
            <a:r>
              <a:rPr lang="en-US" sz="1300" dirty="0">
                <a:solidFill>
                  <a:srgbClr val="111111"/>
                </a:solidFill>
                <a:latin typeface="Courier New" pitchFamily="34" charset="0"/>
                <a:ea typeface="Courier New" pitchFamily="34" charset="-122"/>
                <a:cs typeface="Courier New" pitchFamily="34" charset="-120"/>
              </a:rPr>
              <a:t>}</a:t>
            </a:r>
            <a:endParaRPr lang="en-US" sz="1300" dirty="0"/>
          </a:p>
        </p:txBody>
      </p:sp>
      <p:sp>
        <p:nvSpPr>
          <p:cNvPr id="22" name="Shape 20"/>
          <p:cNvSpPr/>
          <p:nvPr/>
        </p:nvSpPr>
        <p:spPr>
          <a:xfrm>
            <a:off x="6263640" y="4343400"/>
            <a:ext cx="4937760" cy="1298448"/>
          </a:xfrm>
          <a:prstGeom prst="roundRect">
            <a:avLst>
              <a:gd name="adj" fmla="val 5634"/>
            </a:avLst>
          </a:prstGeom>
          <a:solidFill>
            <a:srgbClr val="FBEEDA"/>
          </a:solidFill>
          <a:ln w="12700">
            <a:solidFill>
              <a:srgbClr val="333333"/>
            </a:solidFill>
            <a:prstDash val="solid"/>
          </a:ln>
        </p:spPr>
        <p:txBody>
          <a:bodyPr/>
          <a:p/>
        </p:txBody>
      </p:sp>
      <p:sp>
        <p:nvSpPr>
          <p:cNvPr id="23" name="Text 21"/>
          <p:cNvSpPr/>
          <p:nvPr/>
        </p:nvSpPr>
        <p:spPr>
          <a:xfrm>
            <a:off x="6537960" y="4462272"/>
            <a:ext cx="4389120" cy="274320"/>
          </a:xfrm>
          <a:prstGeom prst="rect">
            <a:avLst/>
          </a:prstGeom>
          <a:noFill/>
          <a:ln/>
        </p:spPr>
        <p:txBody>
          <a:bodyPr wrap="square" lIns="0" tIns="0" rIns="0" bIns="0" rtlCol="0" anchor="ctr"/>
          <a:lstStyle/>
          <a:p>
            <a:pPr marL="0" indent="0">
              <a:buNone/>
            </a:pPr>
            <a:r>
              <a:rPr lang="en-US" sz="1300" b="1" dirty="0">
                <a:solidFill>
                  <a:srgbClr val="9C5A0B"/>
                </a:solidFill>
                <a:latin typeface="Arial" pitchFamily="34" charset="0"/>
                <a:ea typeface="Arial" pitchFamily="34" charset="-122"/>
                <a:cs typeface="Arial" pitchFamily="34" charset="-120"/>
              </a:rPr>
              <a:t>Why RAG?</a:t>
            </a:r>
            <a:endParaRPr lang="en-US" sz="1300" dirty="0"/>
          </a:p>
        </p:txBody>
      </p:sp>
      <p:sp>
        <p:nvSpPr>
          <p:cNvPr id="24" name="Text 22"/>
          <p:cNvSpPr/>
          <p:nvPr/>
        </p:nvSpPr>
        <p:spPr>
          <a:xfrm>
            <a:off x="6537960" y="4754880"/>
            <a:ext cx="4434840" cy="777240"/>
          </a:xfrm>
          <a:prstGeom prst="rect">
            <a:avLst/>
          </a:prstGeom>
          <a:noFill/>
          <a:ln/>
        </p:spPr>
        <p:txBody>
          <a:bodyPr wrap="square" lIns="0" tIns="0" rIns="0" bIns="0" rtlCol="0" anchor="ctr"/>
          <a:lstStyle/>
          <a:p>
            <a:pPr marL="0" indent="0">
              <a:lnSpc>
                <a:spcPts val="1600"/>
              </a:lnSpc>
              <a:buNone/>
            </a:pPr>
            <a:r>
              <a:rPr lang="en-US" sz="1200" dirty="0">
                <a:solidFill>
                  <a:srgbClr val="2E2E2E"/>
                </a:solidFill>
                <a:latin typeface="Arial" pitchFamily="34" charset="0"/>
                <a:ea typeface="Arial" pitchFamily="34" charset="-122"/>
                <a:cs typeface="Arial" pitchFamily="34" charset="-120"/>
              </a:rPr>
              <a:t>Papers are ranked by sentence-transformer embeddings (meaning); TF-IDF keyword scoring is the offline fallback. The LLM must cite them instead of inventing numbers, and a hard gate blocks off-topic requests.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6  ·  METHODOLOGY</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Final Closed Loop</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18</a:t>
            </a:r>
            <a:endParaRPr lang="en-US" sz="1000" dirty="0"/>
          </a:p>
        </p:txBody>
      </p:sp>
      <p:sp>
        <p:nvSpPr>
          <p:cNvPr id="6" name="Shape 4"/>
          <p:cNvSpPr/>
          <p:nvPr/>
        </p:nvSpPr>
        <p:spPr>
          <a:xfrm>
            <a:off x="1188720" y="1645920"/>
            <a:ext cx="3931920" cy="676656"/>
          </a:xfrm>
          <a:prstGeom prst="roundRect">
            <a:avLst>
              <a:gd name="adj" fmla="val 10811"/>
            </a:avLst>
          </a:prstGeom>
          <a:solidFill>
            <a:srgbClr val="ECECEC"/>
          </a:solidFill>
          <a:ln w="12700">
            <a:solidFill>
              <a:srgbClr val="333333"/>
            </a:solidFill>
            <a:prstDash val="solid"/>
          </a:ln>
        </p:spPr>
        <p:txBody>
          <a:bodyPr/>
          <a:p/>
        </p:txBody>
      </p:sp>
      <p:sp>
        <p:nvSpPr>
          <p:cNvPr id="7" name="Text 5"/>
          <p:cNvSpPr/>
          <p:nvPr/>
        </p:nvSpPr>
        <p:spPr>
          <a:xfrm>
            <a:off x="1261872" y="1645920"/>
            <a:ext cx="3785616" cy="676656"/>
          </a:xfrm>
          <a:prstGeom prst="rect">
            <a:avLst/>
          </a:prstGeom>
          <a:noFill/>
          <a:ln/>
        </p:spPr>
        <p:txBody>
          <a:bodyPr wrap="square" lIns="0" tIns="0" rIns="0" bIns="0" rtlCol="0" anchor="ctr"/>
          <a:lstStyle/>
          <a:p>
            <a:pPr marL="0" indent="0" algn="ctr">
              <a:lnSpc>
                <a:spcPts val="1625"/>
              </a:lnSpc>
              <a:buNone/>
            </a:pPr>
            <a:r>
              <a:rPr lang="en-US" sz="1300" b="1" dirty="0">
                <a:solidFill>
                  <a:srgbClr val="111111"/>
                </a:solidFill>
                <a:latin typeface="Arial" pitchFamily="34" charset="0"/>
                <a:ea typeface="Arial" pitchFamily="34" charset="-122"/>
                <a:cs typeface="Arial" pitchFamily="34" charset="-120"/>
              </a:rPr>
              <a:t>Human request</a:t>
            </a:r>
            <a:endParaRPr lang="en-US" sz="1300" dirty="0"/>
          </a:p>
        </p:txBody>
      </p:sp>
      <p:sp>
        <p:nvSpPr>
          <p:cNvPr id="8" name="Shape 6"/>
          <p:cNvSpPr/>
          <p:nvPr/>
        </p:nvSpPr>
        <p:spPr>
          <a:xfrm>
            <a:off x="3035808" y="2359152"/>
            <a:ext cx="237744" cy="237744"/>
          </a:xfrm>
          <a:prstGeom prst="downArrow">
            <a:avLst/>
          </a:prstGeom>
          <a:solidFill>
            <a:srgbClr val="111111"/>
          </a:solidFill>
          <a:ln w="12700">
            <a:solidFill>
              <a:srgbClr val="333333"/>
            </a:solidFill>
            <a:prstDash val="solid"/>
          </a:ln>
        </p:spPr>
        <p:txBody>
          <a:bodyPr/>
          <a:p/>
        </p:txBody>
      </p:sp>
      <p:sp>
        <p:nvSpPr>
          <p:cNvPr id="9" name="Shape 7"/>
          <p:cNvSpPr/>
          <p:nvPr/>
        </p:nvSpPr>
        <p:spPr>
          <a:xfrm>
            <a:off x="1188720" y="2606040"/>
            <a:ext cx="3931920" cy="676656"/>
          </a:xfrm>
          <a:prstGeom prst="roundRect">
            <a:avLst>
              <a:gd name="adj" fmla="val 10811"/>
            </a:avLst>
          </a:prstGeom>
          <a:solidFill>
            <a:srgbClr val="ECECEC"/>
          </a:solidFill>
          <a:ln w="12700">
            <a:solidFill>
              <a:srgbClr val="333333"/>
            </a:solidFill>
            <a:prstDash val="solid"/>
          </a:ln>
        </p:spPr>
        <p:txBody>
          <a:bodyPr/>
          <a:p/>
        </p:txBody>
      </p:sp>
      <p:sp>
        <p:nvSpPr>
          <p:cNvPr id="10" name="Text 8"/>
          <p:cNvSpPr/>
          <p:nvPr/>
        </p:nvSpPr>
        <p:spPr>
          <a:xfrm>
            <a:off x="1261872" y="2606040"/>
            <a:ext cx="3785616" cy="676656"/>
          </a:xfrm>
          <a:prstGeom prst="rect">
            <a:avLst/>
          </a:prstGeom>
          <a:noFill/>
          <a:ln/>
        </p:spPr>
        <p:txBody>
          <a:bodyPr wrap="square" lIns="0" tIns="0" rIns="0" bIns="0" rtlCol="0" anchor="ctr"/>
          <a:lstStyle/>
          <a:p>
            <a:pPr marL="0" indent="0" algn="ctr">
              <a:lnSpc>
                <a:spcPts val="1625"/>
              </a:lnSpc>
              <a:buNone/>
            </a:pPr>
            <a:r>
              <a:rPr lang="en-US" sz="1300" b="1" dirty="0">
                <a:solidFill>
                  <a:srgbClr val="111111"/>
                </a:solidFill>
                <a:latin typeface="Arial" pitchFamily="34" charset="0"/>
                <a:ea typeface="Arial" pitchFamily="34" charset="-122"/>
                <a:cs typeface="Arial" pitchFamily="34" charset="-120"/>
              </a:rPr>
              <a:t>Tier 1: RAG + LLM</a:t>
            </a:r>
            <a:endParaRPr lang="en-US" sz="1300" dirty="0"/>
          </a:p>
        </p:txBody>
      </p:sp>
      <p:sp>
        <p:nvSpPr>
          <p:cNvPr id="11" name="Shape 9"/>
          <p:cNvSpPr/>
          <p:nvPr/>
        </p:nvSpPr>
        <p:spPr>
          <a:xfrm>
            <a:off x="3035808" y="3319272"/>
            <a:ext cx="237744" cy="237744"/>
          </a:xfrm>
          <a:prstGeom prst="downArrow">
            <a:avLst/>
          </a:prstGeom>
          <a:solidFill>
            <a:srgbClr val="111111"/>
          </a:solidFill>
          <a:ln w="12700">
            <a:solidFill>
              <a:srgbClr val="333333"/>
            </a:solidFill>
            <a:prstDash val="solid"/>
          </a:ln>
        </p:spPr>
        <p:txBody>
          <a:bodyPr/>
          <a:p/>
        </p:txBody>
      </p:sp>
      <p:sp>
        <p:nvSpPr>
          <p:cNvPr id="12" name="Shape 10"/>
          <p:cNvSpPr/>
          <p:nvPr/>
        </p:nvSpPr>
        <p:spPr>
          <a:xfrm>
            <a:off x="1188720" y="3566160"/>
            <a:ext cx="3931920" cy="676656"/>
          </a:xfrm>
          <a:prstGeom prst="roundRect">
            <a:avLst>
              <a:gd name="adj" fmla="val 10811"/>
            </a:avLst>
          </a:prstGeom>
          <a:solidFill>
            <a:srgbClr val="ECECEC"/>
          </a:solidFill>
          <a:ln w="12700">
            <a:solidFill>
              <a:srgbClr val="333333"/>
            </a:solidFill>
            <a:prstDash val="solid"/>
          </a:ln>
        </p:spPr>
        <p:txBody>
          <a:bodyPr/>
          <a:p/>
        </p:txBody>
      </p:sp>
      <p:sp>
        <p:nvSpPr>
          <p:cNvPr id="13" name="Text 11"/>
          <p:cNvSpPr/>
          <p:nvPr/>
        </p:nvSpPr>
        <p:spPr>
          <a:xfrm>
            <a:off x="1261872" y="3566160"/>
            <a:ext cx="3785616" cy="676656"/>
          </a:xfrm>
          <a:prstGeom prst="rect">
            <a:avLst/>
          </a:prstGeom>
          <a:noFill/>
          <a:ln/>
        </p:spPr>
        <p:txBody>
          <a:bodyPr wrap="square" lIns="0" tIns="0" rIns="0" bIns="0" rtlCol="0" anchor="ctr"/>
          <a:lstStyle/>
          <a:p>
            <a:pPr marL="0" indent="0" algn="ctr">
              <a:lnSpc>
                <a:spcPts val="1625"/>
              </a:lnSpc>
              <a:buNone/>
            </a:pPr>
            <a:r>
              <a:rPr lang="en-US" sz="1300" b="1" dirty="0">
                <a:solidFill>
                  <a:srgbClr val="111111"/>
                </a:solidFill>
                <a:latin typeface="Arial" pitchFamily="34" charset="0"/>
                <a:ea typeface="Arial" pitchFamily="34" charset="-122"/>
                <a:cs typeface="Arial" pitchFamily="34" charset="-120"/>
              </a:rPr>
              <a:t>Numerical targets</a:t>
            </a:r>
            <a:endParaRPr lang="en-US" sz="1300" dirty="0"/>
          </a:p>
        </p:txBody>
      </p:sp>
      <p:sp>
        <p:nvSpPr>
          <p:cNvPr id="14" name="Shape 12"/>
          <p:cNvSpPr/>
          <p:nvPr/>
        </p:nvSpPr>
        <p:spPr>
          <a:xfrm>
            <a:off x="3035808" y="4279392"/>
            <a:ext cx="237744" cy="237744"/>
          </a:xfrm>
          <a:prstGeom prst="downArrow">
            <a:avLst/>
          </a:prstGeom>
          <a:solidFill>
            <a:srgbClr val="111111"/>
          </a:solidFill>
          <a:ln w="12700">
            <a:solidFill>
              <a:srgbClr val="333333"/>
            </a:solidFill>
            <a:prstDash val="solid"/>
          </a:ln>
        </p:spPr>
        <p:txBody>
          <a:bodyPr/>
          <a:p/>
        </p:txBody>
      </p:sp>
      <p:sp>
        <p:nvSpPr>
          <p:cNvPr id="15" name="Shape 13"/>
          <p:cNvSpPr/>
          <p:nvPr/>
        </p:nvSpPr>
        <p:spPr>
          <a:xfrm>
            <a:off x="1188720" y="4526280"/>
            <a:ext cx="3931920" cy="676656"/>
          </a:xfrm>
          <a:prstGeom prst="roundRect">
            <a:avLst>
              <a:gd name="adj" fmla="val 10811"/>
            </a:avLst>
          </a:prstGeom>
          <a:solidFill>
            <a:srgbClr val="DCF2E4"/>
          </a:solidFill>
          <a:ln w="12700">
            <a:solidFill>
              <a:srgbClr val="333333"/>
            </a:solidFill>
            <a:prstDash val="solid"/>
          </a:ln>
        </p:spPr>
        <p:txBody>
          <a:bodyPr/>
          <a:p/>
        </p:txBody>
      </p:sp>
      <p:sp>
        <p:nvSpPr>
          <p:cNvPr id="16" name="Text 14"/>
          <p:cNvSpPr/>
          <p:nvPr/>
        </p:nvSpPr>
        <p:spPr>
          <a:xfrm>
            <a:off x="1261872" y="4526280"/>
            <a:ext cx="3785616" cy="676656"/>
          </a:xfrm>
          <a:prstGeom prst="rect">
            <a:avLst/>
          </a:prstGeom>
          <a:noFill/>
          <a:ln/>
        </p:spPr>
        <p:txBody>
          <a:bodyPr wrap="square" lIns="0" tIns="0" rIns="0" bIns="0" rtlCol="0" anchor="ctr"/>
          <a:lstStyle/>
          <a:p>
            <a:pPr marL="0" indent="0" algn="ctr">
              <a:lnSpc>
                <a:spcPts val="1625"/>
              </a:lnSpc>
              <a:buNone/>
            </a:pPr>
            <a:r>
              <a:rPr lang="en-US" sz="1300" b="1" dirty="0">
                <a:solidFill>
                  <a:srgbClr val="111111"/>
                </a:solidFill>
                <a:latin typeface="Arial" pitchFamily="34" charset="0"/>
                <a:ea typeface="Arial" pitchFamily="34" charset="-122"/>
                <a:cs typeface="Arial" pitchFamily="34" charset="-120"/>
              </a:rPr>
              <a:t>Tier 2: C-VAE</a:t>
            </a:r>
            <a:endParaRPr lang="en-US" sz="1300" dirty="0"/>
          </a:p>
        </p:txBody>
      </p:sp>
      <p:sp>
        <p:nvSpPr>
          <p:cNvPr id="17" name="Shape 15"/>
          <p:cNvSpPr/>
          <p:nvPr/>
        </p:nvSpPr>
        <p:spPr>
          <a:xfrm>
            <a:off x="7040880" y="1645920"/>
            <a:ext cx="3931920" cy="676656"/>
          </a:xfrm>
          <a:prstGeom prst="roundRect">
            <a:avLst>
              <a:gd name="adj" fmla="val 10811"/>
            </a:avLst>
          </a:prstGeom>
          <a:solidFill>
            <a:srgbClr val="DCF2E4"/>
          </a:solidFill>
          <a:ln w="12700">
            <a:solidFill>
              <a:srgbClr val="333333"/>
            </a:solidFill>
            <a:prstDash val="solid"/>
          </a:ln>
        </p:spPr>
        <p:txBody>
          <a:bodyPr/>
          <a:p/>
        </p:txBody>
      </p:sp>
      <p:sp>
        <p:nvSpPr>
          <p:cNvPr id="18" name="Text 16"/>
          <p:cNvSpPr/>
          <p:nvPr/>
        </p:nvSpPr>
        <p:spPr>
          <a:xfrm>
            <a:off x="7114032" y="1645920"/>
            <a:ext cx="3785616" cy="676656"/>
          </a:xfrm>
          <a:prstGeom prst="rect">
            <a:avLst/>
          </a:prstGeom>
          <a:noFill/>
          <a:ln/>
        </p:spPr>
        <p:txBody>
          <a:bodyPr wrap="square" lIns="0" tIns="0" rIns="0" bIns="0" rtlCol="0" anchor="ctr"/>
          <a:lstStyle/>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Generated SELFIES → decode</a:t>
            </a:r>
            <a:endParaRPr lang="en-US" sz="1250" dirty="0"/>
          </a:p>
        </p:txBody>
      </p:sp>
      <p:sp>
        <p:nvSpPr>
          <p:cNvPr id="19" name="Shape 17"/>
          <p:cNvSpPr/>
          <p:nvPr/>
        </p:nvSpPr>
        <p:spPr>
          <a:xfrm>
            <a:off x="8887968" y="2359152"/>
            <a:ext cx="237744" cy="237744"/>
          </a:xfrm>
          <a:prstGeom prst="downArrow">
            <a:avLst/>
          </a:prstGeom>
          <a:solidFill>
            <a:srgbClr val="111111"/>
          </a:solidFill>
          <a:ln w="12700">
            <a:solidFill>
              <a:srgbClr val="333333"/>
            </a:solidFill>
            <a:prstDash val="solid"/>
          </a:ln>
        </p:spPr>
        <p:txBody>
          <a:bodyPr/>
          <a:p/>
        </p:txBody>
      </p:sp>
      <p:sp>
        <p:nvSpPr>
          <p:cNvPr id="20" name="Shape 18"/>
          <p:cNvSpPr/>
          <p:nvPr/>
        </p:nvSpPr>
        <p:spPr>
          <a:xfrm>
            <a:off x="7040880" y="2606040"/>
            <a:ext cx="3931920" cy="676656"/>
          </a:xfrm>
          <a:prstGeom prst="roundRect">
            <a:avLst>
              <a:gd name="adj" fmla="val 10811"/>
            </a:avLst>
          </a:prstGeom>
          <a:solidFill>
            <a:srgbClr val="DCF2E4"/>
          </a:solidFill>
          <a:ln w="12700">
            <a:solidFill>
              <a:srgbClr val="333333"/>
            </a:solidFill>
            <a:prstDash val="solid"/>
          </a:ln>
        </p:spPr>
        <p:txBody>
          <a:bodyPr/>
          <a:p/>
        </p:txBody>
      </p:sp>
      <p:sp>
        <p:nvSpPr>
          <p:cNvPr id="21" name="Text 19"/>
          <p:cNvSpPr/>
          <p:nvPr/>
        </p:nvSpPr>
        <p:spPr>
          <a:xfrm>
            <a:off x="7114032" y="2606040"/>
            <a:ext cx="3785616" cy="676656"/>
          </a:xfrm>
          <a:prstGeom prst="rect">
            <a:avLst/>
          </a:prstGeom>
          <a:noFill/>
          <a:ln/>
        </p:spPr>
        <p:txBody>
          <a:bodyPr wrap="square" lIns="0" tIns="0" rIns="0" bIns="0" rtlCol="0" anchor="ctr"/>
          <a:lstStyle/>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Tier 3: Oracle</a:t>
            </a:r>
            <a:endParaRPr lang="en-US" sz="1250" dirty="0"/>
          </a:p>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prediction + sigma + domain</a:t>
            </a:r>
            <a:endParaRPr lang="en-US" sz="1250" dirty="0"/>
          </a:p>
        </p:txBody>
      </p:sp>
      <p:sp>
        <p:nvSpPr>
          <p:cNvPr id="22" name="Shape 20"/>
          <p:cNvSpPr/>
          <p:nvPr/>
        </p:nvSpPr>
        <p:spPr>
          <a:xfrm>
            <a:off x="8887968" y="3319272"/>
            <a:ext cx="237744" cy="237744"/>
          </a:xfrm>
          <a:prstGeom prst="downArrow">
            <a:avLst/>
          </a:prstGeom>
          <a:solidFill>
            <a:srgbClr val="111111"/>
          </a:solidFill>
          <a:ln w="12700">
            <a:solidFill>
              <a:srgbClr val="333333"/>
            </a:solidFill>
            <a:prstDash val="solid"/>
          </a:ln>
        </p:spPr>
        <p:txBody>
          <a:bodyPr/>
          <a:p/>
        </p:txBody>
      </p:sp>
      <p:sp>
        <p:nvSpPr>
          <p:cNvPr id="23" name="Shape 21"/>
          <p:cNvSpPr/>
          <p:nvPr/>
        </p:nvSpPr>
        <p:spPr>
          <a:xfrm>
            <a:off x="7040880" y="3566160"/>
            <a:ext cx="3931920" cy="676656"/>
          </a:xfrm>
          <a:prstGeom prst="roundRect">
            <a:avLst>
              <a:gd name="adj" fmla="val 10811"/>
            </a:avLst>
          </a:prstGeom>
          <a:solidFill>
            <a:srgbClr val="E3EDF8"/>
          </a:solidFill>
          <a:ln w="12700">
            <a:solidFill>
              <a:srgbClr val="333333"/>
            </a:solidFill>
            <a:prstDash val="solid"/>
          </a:ln>
        </p:spPr>
        <p:txBody>
          <a:bodyPr/>
          <a:p/>
        </p:txBody>
      </p:sp>
      <p:sp>
        <p:nvSpPr>
          <p:cNvPr id="24" name="Text 22"/>
          <p:cNvSpPr/>
          <p:nvPr/>
        </p:nvSpPr>
        <p:spPr>
          <a:xfrm>
            <a:off x="7114032" y="3566160"/>
            <a:ext cx="3785616" cy="676656"/>
          </a:xfrm>
          <a:prstGeom prst="rect">
            <a:avLst/>
          </a:prstGeom>
          <a:noFill/>
          <a:ln/>
        </p:spPr>
        <p:txBody>
          <a:bodyPr wrap="square" lIns="0" tIns="0" rIns="0" bIns="0" rtlCol="0" anchor="ctr"/>
          <a:lstStyle/>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Check against every constraint</a:t>
            </a:r>
            <a:endParaRPr lang="en-US" sz="1250" dirty="0"/>
          </a:p>
        </p:txBody>
      </p:sp>
      <p:sp>
        <p:nvSpPr>
          <p:cNvPr id="25" name="Shape 23"/>
          <p:cNvSpPr/>
          <p:nvPr/>
        </p:nvSpPr>
        <p:spPr>
          <a:xfrm>
            <a:off x="8887968" y="4279392"/>
            <a:ext cx="237744" cy="237744"/>
          </a:xfrm>
          <a:prstGeom prst="downArrow">
            <a:avLst/>
          </a:prstGeom>
          <a:solidFill>
            <a:srgbClr val="111111"/>
          </a:solidFill>
          <a:ln w="12700">
            <a:solidFill>
              <a:srgbClr val="333333"/>
            </a:solidFill>
            <a:prstDash val="solid"/>
          </a:ln>
        </p:spPr>
        <p:txBody>
          <a:bodyPr/>
          <a:p/>
        </p:txBody>
      </p:sp>
      <p:sp>
        <p:nvSpPr>
          <p:cNvPr id="26" name="Shape 24"/>
          <p:cNvSpPr/>
          <p:nvPr/>
        </p:nvSpPr>
        <p:spPr>
          <a:xfrm>
            <a:off x="7040880" y="4526280"/>
            <a:ext cx="3931920" cy="676656"/>
          </a:xfrm>
          <a:prstGeom prst="roundRect">
            <a:avLst>
              <a:gd name="adj" fmla="val 10811"/>
            </a:avLst>
          </a:prstGeom>
          <a:solidFill>
            <a:srgbClr val="FBEEDA"/>
          </a:solidFill>
          <a:ln w="12700">
            <a:solidFill>
              <a:srgbClr val="333333"/>
            </a:solidFill>
            <a:prstDash val="solid"/>
          </a:ln>
        </p:spPr>
        <p:txBody>
          <a:bodyPr/>
          <a:p/>
        </p:txBody>
      </p:sp>
      <p:sp>
        <p:nvSpPr>
          <p:cNvPr id="27" name="Text 25"/>
          <p:cNvSpPr/>
          <p:nvPr/>
        </p:nvSpPr>
        <p:spPr>
          <a:xfrm>
            <a:off x="7114032" y="4526280"/>
            <a:ext cx="3785616" cy="676656"/>
          </a:xfrm>
          <a:prstGeom prst="rect">
            <a:avLst/>
          </a:prstGeom>
          <a:noFill/>
          <a:ln/>
        </p:spPr>
        <p:txBody>
          <a:bodyPr wrap="square" lIns="0" tIns="0" rIns="0" bIns="0" rtlCol="0" anchor="ctr"/>
          <a:lstStyle/>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ACCEPT  or  REJECT</a:t>
            </a:r>
            <a:endParaRPr lang="en-US" sz="1250" dirty="0"/>
          </a:p>
        </p:txBody>
      </p:sp>
      <p:sp>
        <p:nvSpPr>
          <p:cNvPr id="28" name="Shape 26"/>
          <p:cNvSpPr/>
          <p:nvPr/>
        </p:nvSpPr>
        <p:spPr>
          <a:xfrm>
            <a:off x="5120640" y="4855464"/>
            <a:ext cx="914400" cy="22860"/>
          </a:xfrm>
          <a:prstGeom prst="rect">
            <a:avLst/>
          </a:prstGeom>
          <a:solidFill>
            <a:srgbClr val="111111"/>
          </a:solidFill>
          <a:ln w="12700">
            <a:solidFill>
              <a:srgbClr val="333333"/>
            </a:solidFill>
            <a:prstDash val="solid"/>
          </a:ln>
        </p:spPr>
        <p:txBody>
          <a:bodyPr/>
          <a:p/>
        </p:txBody>
      </p:sp>
      <p:sp>
        <p:nvSpPr>
          <p:cNvPr id="29" name="Shape 27"/>
          <p:cNvSpPr/>
          <p:nvPr/>
        </p:nvSpPr>
        <p:spPr>
          <a:xfrm>
            <a:off x="6021324" y="1984248"/>
            <a:ext cx="22860" cy="2889504"/>
          </a:xfrm>
          <a:prstGeom prst="rect">
            <a:avLst/>
          </a:prstGeom>
          <a:solidFill>
            <a:srgbClr val="111111"/>
          </a:solidFill>
          <a:ln w="12700">
            <a:solidFill>
              <a:srgbClr val="333333"/>
            </a:solidFill>
            <a:prstDash val="solid"/>
          </a:ln>
        </p:spPr>
        <p:txBody>
          <a:bodyPr/>
          <a:p/>
        </p:txBody>
      </p:sp>
      <p:sp>
        <p:nvSpPr>
          <p:cNvPr id="30" name="Shape 28"/>
          <p:cNvSpPr/>
          <p:nvPr/>
        </p:nvSpPr>
        <p:spPr>
          <a:xfrm>
            <a:off x="6035040" y="1970532"/>
            <a:ext cx="822960" cy="22860"/>
          </a:xfrm>
          <a:prstGeom prst="rect">
            <a:avLst/>
          </a:prstGeom>
          <a:solidFill>
            <a:srgbClr val="111111"/>
          </a:solidFill>
          <a:ln w="12700">
            <a:solidFill>
              <a:srgbClr val="333333"/>
            </a:solidFill>
            <a:prstDash val="solid"/>
          </a:ln>
        </p:spPr>
        <p:txBody>
          <a:bodyPr/>
          <a:p/>
        </p:txBody>
      </p:sp>
      <p:sp>
        <p:nvSpPr>
          <p:cNvPr id="31" name="Shape 29"/>
          <p:cNvSpPr/>
          <p:nvPr/>
        </p:nvSpPr>
        <p:spPr>
          <a:xfrm>
            <a:off x="6803136" y="1865376"/>
            <a:ext cx="237744" cy="237744"/>
          </a:xfrm>
          <a:prstGeom prst="rightArrow">
            <a:avLst/>
          </a:prstGeom>
          <a:solidFill>
            <a:srgbClr val="111111"/>
          </a:solidFill>
          <a:ln w="12700">
            <a:solidFill>
              <a:srgbClr val="333333"/>
            </a:solidFill>
            <a:prstDash val="solid"/>
          </a:ln>
        </p:spPr>
        <p:txBody>
          <a:bodyPr/>
          <a:p/>
        </p:txBody>
      </p:sp>
      <p:sp>
        <p:nvSpPr>
          <p:cNvPr id="32" name="Shape 30"/>
          <p:cNvSpPr/>
          <p:nvPr/>
        </p:nvSpPr>
        <p:spPr>
          <a:xfrm>
            <a:off x="8878824" y="5202936"/>
            <a:ext cx="22860" cy="566928"/>
          </a:xfrm>
          <a:prstGeom prst="rect">
            <a:avLst/>
          </a:prstGeom>
          <a:solidFill>
            <a:srgbClr val="9C5A0B"/>
          </a:solidFill>
          <a:ln w="12700">
            <a:solidFill>
              <a:srgbClr val="333333"/>
            </a:solidFill>
            <a:prstDash val="solid"/>
          </a:ln>
        </p:spPr>
        <p:txBody>
          <a:bodyPr/>
          <a:p/>
        </p:txBody>
      </p:sp>
      <p:sp>
        <p:nvSpPr>
          <p:cNvPr id="33" name="Shape 31"/>
          <p:cNvSpPr/>
          <p:nvPr/>
        </p:nvSpPr>
        <p:spPr>
          <a:xfrm>
            <a:off x="3154680" y="5751576"/>
            <a:ext cx="5742432" cy="22860"/>
          </a:xfrm>
          <a:prstGeom prst="rect">
            <a:avLst/>
          </a:prstGeom>
          <a:solidFill>
            <a:srgbClr val="9C5A0B"/>
          </a:solidFill>
          <a:ln w="12700">
            <a:solidFill>
              <a:srgbClr val="333333"/>
            </a:solidFill>
            <a:prstDash val="solid"/>
          </a:ln>
        </p:spPr>
        <p:txBody>
          <a:bodyPr/>
          <a:p/>
        </p:txBody>
      </p:sp>
      <p:sp>
        <p:nvSpPr>
          <p:cNvPr id="34" name="Shape 32"/>
          <p:cNvSpPr/>
          <p:nvPr/>
        </p:nvSpPr>
        <p:spPr>
          <a:xfrm>
            <a:off x="3145536" y="5202936"/>
            <a:ext cx="22860" cy="566928"/>
          </a:xfrm>
          <a:prstGeom prst="rect">
            <a:avLst/>
          </a:prstGeom>
          <a:solidFill>
            <a:srgbClr val="9C5A0B"/>
          </a:solidFill>
          <a:ln w="12700">
            <a:solidFill>
              <a:srgbClr val="333333"/>
            </a:solidFill>
            <a:prstDash val="solid"/>
          </a:ln>
        </p:spPr>
        <p:txBody>
          <a:bodyPr/>
          <a:p/>
        </p:txBody>
      </p:sp>
      <p:sp>
        <p:nvSpPr>
          <p:cNvPr id="35" name="Shape 33"/>
          <p:cNvSpPr/>
          <p:nvPr/>
        </p:nvSpPr>
        <p:spPr>
          <a:xfrm>
            <a:off x="3035808" y="5084064"/>
            <a:ext cx="237744" cy="237744"/>
          </a:xfrm>
          <a:prstGeom prst="upArrow">
            <a:avLst/>
          </a:prstGeom>
          <a:solidFill>
            <a:srgbClr val="9C5A0B"/>
          </a:solidFill>
          <a:ln w="12700">
            <a:solidFill>
              <a:srgbClr val="333333"/>
            </a:solidFill>
            <a:prstDash val="solid"/>
          </a:ln>
        </p:spPr>
        <p:txBody>
          <a:bodyPr/>
          <a:p/>
        </p:txBody>
      </p:sp>
      <p:sp>
        <p:nvSpPr>
          <p:cNvPr id="36" name="Text 34"/>
          <p:cNvSpPr/>
          <p:nvPr/>
        </p:nvSpPr>
        <p:spPr>
          <a:xfrm>
            <a:off x="4206240" y="5797296"/>
            <a:ext cx="3657600" cy="274320"/>
          </a:xfrm>
          <a:prstGeom prst="rect">
            <a:avLst/>
          </a:prstGeom>
          <a:noFill/>
          <a:ln/>
        </p:spPr>
        <p:txBody>
          <a:bodyPr wrap="square" lIns="0" tIns="0" rIns="0" bIns="0" rtlCol="0" anchor="ctr"/>
          <a:lstStyle/>
          <a:p>
            <a:pPr marL="0" indent="0" algn="ctr">
              <a:buNone/>
            </a:pPr>
            <a:r>
              <a:rPr lang="en-US" sz="1150" b="1" dirty="0">
                <a:solidFill>
                  <a:srgbClr val="9C5A0B"/>
                </a:solidFill>
                <a:latin typeface="Arial" pitchFamily="34" charset="0"/>
                <a:ea typeface="Arial" pitchFamily="34" charset="-122"/>
                <a:cs typeface="Arial" pitchFamily="34" charset="-120"/>
              </a:rPr>
              <a:t>If rejected → resample from Tier 2</a:t>
            </a:r>
            <a:endParaRPr lang="en-US" sz="1150" dirty="0"/>
          </a:p>
        </p:txBody>
      </p:sp>
      <p:sp>
        <p:nvSpPr>
          <p:cNvPr id="37" name="Text 35"/>
          <p:cNvSpPr/>
          <p:nvPr/>
        </p:nvSpPr>
        <p:spPr>
          <a:xfrm>
            <a:off x="960120" y="1371600"/>
            <a:ext cx="10241280" cy="274320"/>
          </a:xfrm>
          <a:prstGeom prst="rect">
            <a:avLst/>
          </a:prstGeom>
          <a:noFill/>
          <a:ln/>
        </p:spPr>
        <p:txBody>
          <a:bodyPr wrap="square" lIns="0" tIns="0" rIns="0" bIns="0" rtlCol="0" anchor="ctr"/>
          <a:lstStyle/>
          <a:p>
            <a:pPr marL="0" indent="0" algn="ctr">
              <a:buNone/>
            </a:pPr>
            <a:r>
              <a:rPr lang="en-US" sz="1200" i="1" dirty="0">
                <a:solidFill>
                  <a:srgbClr val="5C5C5C"/>
                </a:solidFill>
                <a:latin typeface="Arial" pitchFamily="34" charset="0"/>
                <a:ea typeface="Arial" pitchFamily="34" charset="-122"/>
                <a:cs typeface="Arial" pitchFamily="34" charset="-120"/>
              </a:rPr>
              <a:t>Also enforced: exactly two polymer chain endpoints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7  ·  RESULTS</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Oracle Results</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20</a:t>
            </a:r>
            <a:endParaRPr lang="en-US" sz="1000" dirty="0"/>
          </a:p>
        </p:txBody>
      </p:sp>
      <p:graphicFrame>
        <p:nvGraphicFramePr>
          <p:cNvPr id="6" name="Chart 0"/>
          <p:cNvGraphicFramePr/>
          <p:nvPr/>
        </p:nvGraphicFramePr>
        <p:xfrm>
          <a:off x="960120" y="1691640"/>
          <a:ext cx="585216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086600" y="1691640"/>
            <a:ext cx="4114800" cy="1508760"/>
          </a:xfrm>
          <a:prstGeom prst="roundRect">
            <a:avLst>
              <a:gd name="adj" fmla="val 4848"/>
            </a:avLst>
          </a:prstGeom>
          <a:solidFill>
            <a:srgbClr val="E3EDF8"/>
          </a:solidFill>
          <a:ln w="12700">
            <a:solidFill>
              <a:srgbClr val="333333"/>
            </a:solidFill>
            <a:prstDash val="solid"/>
          </a:ln>
        </p:spPr>
        <p:txBody>
          <a:bodyPr/>
          <a:p/>
        </p:txBody>
      </p:sp>
      <p:sp>
        <p:nvSpPr>
          <p:cNvPr id="8" name="Text 5"/>
          <p:cNvSpPr/>
          <p:nvPr/>
        </p:nvSpPr>
        <p:spPr>
          <a:xfrm>
            <a:off x="7342632" y="1810512"/>
            <a:ext cx="3611880" cy="292608"/>
          </a:xfrm>
          <a:prstGeom prst="rect">
            <a:avLst/>
          </a:prstGeom>
          <a:noFill/>
          <a:ln/>
        </p:spPr>
        <p:txBody>
          <a:bodyPr wrap="square" lIns="0" tIns="0" rIns="0" bIns="0" rtlCol="0" anchor="ctr"/>
          <a:lstStyle/>
          <a:p>
            <a:pPr marL="0" indent="0">
              <a:buNone/>
            </a:pPr>
            <a:r>
              <a:rPr lang="en-US" sz="1350" b="1" dirty="0">
                <a:solidFill>
                  <a:srgbClr val="1B4F8A"/>
                </a:solidFill>
                <a:latin typeface="Arial" pitchFamily="34" charset="0"/>
                <a:ea typeface="Arial" pitchFamily="34" charset="-122"/>
                <a:cs typeface="Arial" pitchFamily="34" charset="-120"/>
              </a:rPr>
              <a:t>Scaffold splitting</a:t>
            </a:r>
            <a:endParaRPr lang="en-US" sz="1350" dirty="0"/>
          </a:p>
        </p:txBody>
      </p:sp>
      <p:sp>
        <p:nvSpPr>
          <p:cNvPr id="9" name="Text 6"/>
          <p:cNvSpPr/>
          <p:nvPr/>
        </p:nvSpPr>
        <p:spPr>
          <a:xfrm>
            <a:off x="7342632" y="2121408"/>
            <a:ext cx="3611880" cy="960120"/>
          </a:xfrm>
          <a:prstGeom prst="rect">
            <a:avLst/>
          </a:prstGeom>
          <a:noFill/>
          <a:ln/>
        </p:spPr>
        <p:txBody>
          <a:bodyPr wrap="square" lIns="0" tIns="0" rIns="0" bIns="0" rtlCol="0" anchor="ctr"/>
          <a:lstStyle/>
          <a:p>
            <a:pPr marL="0" indent="0">
              <a:lnSpc>
                <a:spcPts val="1600"/>
              </a:lnSpc>
              <a:buNone/>
            </a:pPr>
            <a:r>
              <a:rPr lang="en-US" sz="1200" dirty="0">
                <a:solidFill>
                  <a:srgbClr val="2E2E2E"/>
                </a:solidFill>
                <a:latin typeface="Arial" pitchFamily="34" charset="0"/>
                <a:ea typeface="Arial" pitchFamily="34" charset="-122"/>
                <a:cs typeface="Arial" pitchFamily="34" charset="-120"/>
              </a:rPr>
              <a:t>Chemically similar scaffolds are kept on the same side of the split, to avoid the overly optimistic scores a random split produces.</a:t>
            </a:r>
            <a:endParaRPr lang="en-US" sz="1200" dirty="0"/>
          </a:p>
        </p:txBody>
      </p:sp>
      <p:sp>
        <p:nvSpPr>
          <p:cNvPr id="10" name="Shape 7"/>
          <p:cNvSpPr/>
          <p:nvPr/>
        </p:nvSpPr>
        <p:spPr>
          <a:xfrm>
            <a:off x="7086600" y="3337560"/>
            <a:ext cx="4114800" cy="1554480"/>
          </a:xfrm>
          <a:prstGeom prst="roundRect">
            <a:avLst>
              <a:gd name="adj" fmla="val 4706"/>
            </a:avLst>
          </a:prstGeom>
          <a:solidFill>
            <a:srgbClr val="FBEEDA"/>
          </a:solidFill>
          <a:ln w="12700">
            <a:solidFill>
              <a:srgbClr val="333333"/>
            </a:solidFill>
            <a:prstDash val="solid"/>
          </a:ln>
        </p:spPr>
        <p:txBody>
          <a:bodyPr/>
          <a:p/>
        </p:txBody>
      </p:sp>
      <p:sp>
        <p:nvSpPr>
          <p:cNvPr id="11" name="Text 8"/>
          <p:cNvSpPr/>
          <p:nvPr/>
        </p:nvSpPr>
        <p:spPr>
          <a:xfrm>
            <a:off x="7342632" y="3474720"/>
            <a:ext cx="3611880" cy="384048"/>
          </a:xfrm>
          <a:prstGeom prst="rect">
            <a:avLst/>
          </a:prstGeom>
          <a:noFill/>
          <a:ln/>
        </p:spPr>
        <p:txBody>
          <a:bodyPr wrap="square" lIns="0" tIns="0" rIns="0" bIns="0" rtlCol="0" anchor="ctr"/>
          <a:lstStyle/>
          <a:p>
            <a:pPr marL="0" indent="0">
              <a:buNone/>
            </a:pPr>
            <a:r>
              <a:rPr lang="en-US" sz="1900" b="1" dirty="0">
                <a:solidFill>
                  <a:srgbClr val="9C5A0B"/>
                </a:solidFill>
                <a:latin typeface="Arial" pitchFamily="34" charset="0"/>
                <a:ea typeface="Arial" pitchFamily="34" charset="-122"/>
                <a:cs typeface="Arial" pitchFamily="34" charset="-120"/>
              </a:rPr>
              <a:t>Tg MAE = 51.2°C</a:t>
            </a:r>
            <a:endParaRPr lang="en-US" sz="1900" dirty="0"/>
          </a:p>
        </p:txBody>
      </p:sp>
      <p:sp>
        <p:nvSpPr>
          <p:cNvPr id="12" name="Text 9"/>
          <p:cNvSpPr/>
          <p:nvPr/>
        </p:nvSpPr>
        <p:spPr>
          <a:xfrm>
            <a:off x="7342632" y="3840480"/>
            <a:ext cx="3611880" cy="256032"/>
          </a:xfrm>
          <a:prstGeom prst="rect">
            <a:avLst/>
          </a:prstGeom>
          <a:noFill/>
          <a:ln/>
        </p:spPr>
        <p:txBody>
          <a:bodyPr wrap="square" lIns="0" tIns="0" rIns="0" bIns="0" rtlCol="0" anchor="ctr"/>
          <a:lstStyle/>
          <a:p>
            <a:pPr marL="0" indent="0">
              <a:buNone/>
            </a:pPr>
            <a:r>
              <a:rPr lang="en-US" sz="1150" dirty="0">
                <a:solidFill>
                  <a:srgbClr val="5C5C5C"/>
                </a:solidFill>
                <a:latin typeface="Arial" pitchFamily="34" charset="0"/>
                <a:ea typeface="Arial" pitchFamily="34" charset="-122"/>
                <a:cs typeface="Arial" pitchFamily="34" charset="-120"/>
              </a:rPr>
              <a:t>on 511 measured labels</a:t>
            </a:r>
            <a:endParaRPr lang="en-US" sz="1150" dirty="0"/>
          </a:p>
        </p:txBody>
      </p:sp>
      <p:sp>
        <p:nvSpPr>
          <p:cNvPr id="13" name="Text 10"/>
          <p:cNvSpPr/>
          <p:nvPr/>
        </p:nvSpPr>
        <p:spPr>
          <a:xfrm>
            <a:off x="7342632" y="4114800"/>
            <a:ext cx="3611880" cy="685800"/>
          </a:xfrm>
          <a:prstGeom prst="rect">
            <a:avLst/>
          </a:prstGeom>
          <a:noFill/>
          <a:ln/>
        </p:spPr>
        <p:txBody>
          <a:bodyPr wrap="square" lIns="0" tIns="0" rIns="0" bIns="0" rtlCol="0" anchor="ctr"/>
          <a:lstStyle/>
          <a:p>
            <a:pPr marL="0" indent="0">
              <a:lnSpc>
                <a:spcPts val="1600"/>
              </a:lnSpc>
              <a:buNone/>
            </a:pPr>
            <a:r>
              <a:rPr lang="en-US" sz="1200" b="1" dirty="0">
                <a:solidFill>
                  <a:srgbClr val="111111"/>
                </a:solidFill>
                <a:latin typeface="Arial" pitchFamily="34" charset="0"/>
                <a:ea typeface="Arial" pitchFamily="34" charset="-122"/>
                <a:cs typeface="Arial" pitchFamily="34" charset="-120"/>
              </a:rPr>
              <a:t>Average absolute prediction error is approximately 51°C (test R² = 0.37). The model does NOT predict Tg to ±1°C.</a:t>
            </a:r>
            <a:endParaRPr lang="en-US" sz="1200" dirty="0"/>
          </a:p>
        </p:txBody>
      </p:sp>
      <p:sp>
        <p:nvSpPr>
          <p:cNvPr id="14" name="Shape 11"/>
          <p:cNvSpPr/>
          <p:nvPr/>
        </p:nvSpPr>
        <p:spPr>
          <a:xfrm>
            <a:off x="960120" y="5120640"/>
            <a:ext cx="10241280" cy="731520"/>
          </a:xfrm>
          <a:prstGeom prst="roundRect">
            <a:avLst>
              <a:gd name="adj" fmla="val 10000"/>
            </a:avLst>
          </a:prstGeom>
          <a:solidFill>
            <a:srgbClr val="ECECEC"/>
          </a:solidFill>
          <a:ln w="12700">
            <a:solidFill>
              <a:srgbClr val="333333"/>
            </a:solidFill>
            <a:prstDash val="solid"/>
          </a:ln>
        </p:spPr>
        <p:txBody>
          <a:bodyPr/>
          <a:p/>
        </p:txBody>
      </p:sp>
      <p:sp>
        <p:nvSpPr>
          <p:cNvPr id="15" name="Text 12"/>
          <p:cNvSpPr/>
          <p:nvPr/>
        </p:nvSpPr>
        <p:spPr>
          <a:xfrm>
            <a:off x="960120" y="5120640"/>
            <a:ext cx="10241280" cy="731520"/>
          </a:xfrm>
          <a:prstGeom prst="rect">
            <a:avLst/>
          </a:prstGeom>
          <a:noFill/>
          <a:ln/>
        </p:spPr>
        <p:txBody>
          <a:bodyPr wrap="square" lIns="0" tIns="0" rIns="0" bIns="0" rtlCol="0" anchor="ctr"/>
          <a:lstStyle/>
          <a:p>
            <a:pPr marL="0" indent="0" algn="ctr">
              <a:buNone/>
            </a:pPr>
            <a:r>
              <a:rPr lang="en-US" sz="1300" dirty="0">
                <a:solidFill>
                  <a:srgbClr val="111111"/>
                </a:solidFill>
                <a:latin typeface="Arial" pitchFamily="34" charset="0"/>
                <a:ea typeface="Arial" pitchFamily="34" charset="-122"/>
                <a:cs typeface="Arial" pitchFamily="34" charset="-120"/>
              </a:rPr>
              <a:t>Lift measures the reduction in error versus always predicting the training median. All five properties beat that baseline.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7  ·  RESULTS</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Current C-VAE Results</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21</a:t>
            </a:r>
            <a:endParaRPr lang="en-US" sz="1000" dirty="0"/>
          </a:p>
        </p:txBody>
      </p:sp>
      <p:sp>
        <p:nvSpPr>
          <p:cNvPr id="6" name="Shape 4"/>
          <p:cNvSpPr/>
          <p:nvPr/>
        </p:nvSpPr>
        <p:spPr>
          <a:xfrm>
            <a:off x="1051560" y="1828800"/>
            <a:ext cx="1874520" cy="1371600"/>
          </a:xfrm>
          <a:prstGeom prst="roundRect">
            <a:avLst>
              <a:gd name="adj" fmla="val 5333"/>
            </a:avLst>
          </a:prstGeom>
          <a:solidFill>
            <a:srgbClr val="DCF2E4"/>
          </a:solidFill>
          <a:ln w="12700">
            <a:solidFill>
              <a:srgbClr val="333333"/>
            </a:solidFill>
            <a:prstDash val="solid"/>
          </a:ln>
        </p:spPr>
        <p:txBody>
          <a:bodyPr/>
          <a:p/>
        </p:txBody>
      </p:sp>
      <p:sp>
        <p:nvSpPr>
          <p:cNvPr id="7" name="Text 5"/>
          <p:cNvSpPr/>
          <p:nvPr/>
        </p:nvSpPr>
        <p:spPr>
          <a:xfrm>
            <a:off x="1051560" y="1993392"/>
            <a:ext cx="1874520" cy="548640"/>
          </a:xfrm>
          <a:prstGeom prst="rect">
            <a:avLst/>
          </a:prstGeom>
          <a:noFill/>
          <a:ln/>
        </p:spPr>
        <p:txBody>
          <a:bodyPr wrap="square" lIns="0" tIns="0" rIns="0" bIns="0" rtlCol="0" anchor="ctr"/>
          <a:lstStyle/>
          <a:p>
            <a:pPr marL="0" indent="0" algn="ctr">
              <a:buNone/>
            </a:pPr>
            <a:r>
              <a:rPr lang="en-US" sz="2200" b="1" dirty="0">
                <a:solidFill>
                  <a:srgbClr val="156B33"/>
                </a:solidFill>
                <a:latin typeface="Arial" pitchFamily="34" charset="0"/>
                <a:ea typeface="Arial" pitchFamily="34" charset="-122"/>
                <a:cs typeface="Arial" pitchFamily="34" charset="-120"/>
              </a:rPr>
              <a:t>669,642</a:t>
            </a:r>
            <a:endParaRPr lang="en-US" sz="2200" dirty="0"/>
          </a:p>
        </p:txBody>
      </p:sp>
      <p:sp>
        <p:nvSpPr>
          <p:cNvPr id="8" name="Text 6"/>
          <p:cNvSpPr/>
          <p:nvPr/>
        </p:nvSpPr>
        <p:spPr>
          <a:xfrm>
            <a:off x="1161288" y="2542032"/>
            <a:ext cx="1655064" cy="548640"/>
          </a:xfrm>
          <a:prstGeom prst="rect">
            <a:avLst/>
          </a:prstGeom>
          <a:noFill/>
          <a:ln/>
        </p:spPr>
        <p:txBody>
          <a:bodyPr wrap="square" lIns="0" tIns="0" rIns="0" bIns="0" rtlCol="0" anchor="ctr"/>
          <a:lstStyle/>
          <a:p>
            <a:pPr marL="0" indent="0" algn="ctr">
              <a:lnSpc>
                <a:spcPts val="1300"/>
              </a:lnSpc>
              <a:buNone/>
            </a:pPr>
            <a:r>
              <a:rPr lang="en-US" sz="1050" dirty="0">
                <a:solidFill>
                  <a:srgbClr val="2E2E2E"/>
                </a:solidFill>
                <a:latin typeface="Arial" pitchFamily="34" charset="0"/>
                <a:ea typeface="Arial" pitchFamily="34" charset="-122"/>
                <a:cs typeface="Arial" pitchFamily="34" charset="-120"/>
              </a:rPr>
              <a:t>training sequences</a:t>
            </a:r>
            <a:endParaRPr lang="en-US" sz="1050" dirty="0"/>
          </a:p>
        </p:txBody>
      </p:sp>
      <p:sp>
        <p:nvSpPr>
          <p:cNvPr id="9" name="Shape 7"/>
          <p:cNvSpPr/>
          <p:nvPr/>
        </p:nvSpPr>
        <p:spPr>
          <a:xfrm>
            <a:off x="3099816" y="1828800"/>
            <a:ext cx="1874520" cy="1371600"/>
          </a:xfrm>
          <a:prstGeom prst="roundRect">
            <a:avLst>
              <a:gd name="adj" fmla="val 5333"/>
            </a:avLst>
          </a:prstGeom>
          <a:solidFill>
            <a:srgbClr val="DCF2E4"/>
          </a:solidFill>
          <a:ln w="12700">
            <a:solidFill>
              <a:srgbClr val="333333"/>
            </a:solidFill>
            <a:prstDash val="solid"/>
          </a:ln>
        </p:spPr>
        <p:txBody>
          <a:bodyPr/>
          <a:p/>
        </p:txBody>
      </p:sp>
      <p:sp>
        <p:nvSpPr>
          <p:cNvPr id="10" name="Text 8"/>
          <p:cNvSpPr/>
          <p:nvPr/>
        </p:nvSpPr>
        <p:spPr>
          <a:xfrm>
            <a:off x="3099816" y="1993392"/>
            <a:ext cx="1874520" cy="548640"/>
          </a:xfrm>
          <a:prstGeom prst="rect">
            <a:avLst/>
          </a:prstGeom>
          <a:noFill/>
          <a:ln/>
        </p:spPr>
        <p:txBody>
          <a:bodyPr wrap="square" lIns="0" tIns="0" rIns="0" bIns="0" rtlCol="0" anchor="ctr"/>
          <a:lstStyle/>
          <a:p>
            <a:pPr marL="0" indent="0" algn="ctr">
              <a:buNone/>
            </a:pPr>
            <a:r>
              <a:rPr lang="en-US" sz="2200" b="1" dirty="0">
                <a:solidFill>
                  <a:srgbClr val="156B33"/>
                </a:solidFill>
                <a:latin typeface="Arial" pitchFamily="34" charset="0"/>
                <a:ea typeface="Arial" pitchFamily="34" charset="-122"/>
                <a:cs typeface="Arial" pitchFamily="34" charset="-120"/>
              </a:rPr>
              <a:t>3.47M</a:t>
            </a:r>
            <a:endParaRPr lang="en-US" sz="2200" dirty="0"/>
          </a:p>
        </p:txBody>
      </p:sp>
      <p:sp>
        <p:nvSpPr>
          <p:cNvPr id="11" name="Text 9"/>
          <p:cNvSpPr/>
          <p:nvPr/>
        </p:nvSpPr>
        <p:spPr>
          <a:xfrm>
            <a:off x="3209544" y="2542032"/>
            <a:ext cx="1655064" cy="548640"/>
          </a:xfrm>
          <a:prstGeom prst="rect">
            <a:avLst/>
          </a:prstGeom>
          <a:noFill/>
          <a:ln/>
        </p:spPr>
        <p:txBody>
          <a:bodyPr wrap="square" lIns="0" tIns="0" rIns="0" bIns="0" rtlCol="0" anchor="ctr"/>
          <a:lstStyle/>
          <a:p>
            <a:pPr marL="0" indent="0" algn="ctr">
              <a:lnSpc>
                <a:spcPts val="1300"/>
              </a:lnSpc>
              <a:buNone/>
            </a:pPr>
            <a:r>
              <a:rPr lang="en-US" sz="1050" dirty="0">
                <a:solidFill>
                  <a:srgbClr val="2E2E2E"/>
                </a:solidFill>
                <a:latin typeface="Arial" pitchFamily="34" charset="0"/>
                <a:ea typeface="Arial" pitchFamily="34" charset="-122"/>
                <a:cs typeface="Arial" pitchFamily="34" charset="-120"/>
              </a:rPr>
              <a:t>parameters</a:t>
            </a:r>
            <a:endParaRPr lang="en-US" sz="1050" dirty="0"/>
          </a:p>
        </p:txBody>
      </p:sp>
      <p:sp>
        <p:nvSpPr>
          <p:cNvPr id="12" name="Shape 10"/>
          <p:cNvSpPr/>
          <p:nvPr/>
        </p:nvSpPr>
        <p:spPr>
          <a:xfrm>
            <a:off x="5148072" y="1828800"/>
            <a:ext cx="1874520" cy="1371600"/>
          </a:xfrm>
          <a:prstGeom prst="roundRect">
            <a:avLst>
              <a:gd name="adj" fmla="val 5333"/>
            </a:avLst>
          </a:prstGeom>
          <a:solidFill>
            <a:srgbClr val="DCF2E4"/>
          </a:solidFill>
          <a:ln w="12700">
            <a:solidFill>
              <a:srgbClr val="333333"/>
            </a:solidFill>
            <a:prstDash val="solid"/>
          </a:ln>
        </p:spPr>
        <p:txBody>
          <a:bodyPr/>
          <a:p/>
        </p:txBody>
      </p:sp>
      <p:sp>
        <p:nvSpPr>
          <p:cNvPr id="13" name="Text 11"/>
          <p:cNvSpPr/>
          <p:nvPr/>
        </p:nvSpPr>
        <p:spPr>
          <a:xfrm>
            <a:off x="5148072" y="1993392"/>
            <a:ext cx="1874520" cy="548640"/>
          </a:xfrm>
          <a:prstGeom prst="rect">
            <a:avLst/>
          </a:prstGeom>
          <a:noFill/>
          <a:ln/>
        </p:spPr>
        <p:txBody>
          <a:bodyPr wrap="square" lIns="0" tIns="0" rIns="0" bIns="0" rtlCol="0" anchor="ctr"/>
          <a:lstStyle/>
          <a:p>
            <a:pPr marL="0" indent="0" algn="ctr">
              <a:buNone/>
            </a:pPr>
            <a:r>
              <a:rPr lang="en-US" sz="2200" b="1" dirty="0">
                <a:solidFill>
                  <a:srgbClr val="156B33"/>
                </a:solidFill>
                <a:latin typeface="Arial" pitchFamily="34" charset="0"/>
                <a:ea typeface="Arial" pitchFamily="34" charset="-122"/>
                <a:cs typeface="Arial" pitchFamily="34" charset="-120"/>
              </a:rPr>
              <a:t>0.8501</a:t>
            </a:r>
            <a:endParaRPr lang="en-US" sz="2200" dirty="0"/>
          </a:p>
        </p:txBody>
      </p:sp>
      <p:sp>
        <p:nvSpPr>
          <p:cNvPr id="14" name="Text 12"/>
          <p:cNvSpPr/>
          <p:nvPr/>
        </p:nvSpPr>
        <p:spPr>
          <a:xfrm>
            <a:off x="5257800" y="2542032"/>
            <a:ext cx="1655064" cy="548640"/>
          </a:xfrm>
          <a:prstGeom prst="rect">
            <a:avLst/>
          </a:prstGeom>
          <a:noFill/>
          <a:ln/>
        </p:spPr>
        <p:txBody>
          <a:bodyPr wrap="square" lIns="0" tIns="0" rIns="0" bIns="0" rtlCol="0" anchor="ctr"/>
          <a:lstStyle/>
          <a:p>
            <a:pPr marL="0" indent="0" algn="ctr">
              <a:lnSpc>
                <a:spcPts val="1300"/>
              </a:lnSpc>
              <a:buNone/>
            </a:pPr>
            <a:r>
              <a:rPr lang="en-US" sz="1050" dirty="0">
                <a:solidFill>
                  <a:srgbClr val="2E2E2E"/>
                </a:solidFill>
                <a:latin typeface="Arial" pitchFamily="34" charset="0"/>
                <a:ea typeface="Arial" pitchFamily="34" charset="-122"/>
                <a:cs typeface="Arial" pitchFamily="34" charset="-120"/>
              </a:rPr>
              <a:t>validation token accuracy</a:t>
            </a:r>
            <a:endParaRPr lang="en-US" sz="1050" dirty="0"/>
          </a:p>
        </p:txBody>
      </p:sp>
      <p:sp>
        <p:nvSpPr>
          <p:cNvPr id="15" name="Shape 13"/>
          <p:cNvSpPr/>
          <p:nvPr/>
        </p:nvSpPr>
        <p:spPr>
          <a:xfrm>
            <a:off x="7196328" y="1828800"/>
            <a:ext cx="1874520" cy="1371600"/>
          </a:xfrm>
          <a:prstGeom prst="roundRect">
            <a:avLst>
              <a:gd name="adj" fmla="val 5333"/>
            </a:avLst>
          </a:prstGeom>
          <a:solidFill>
            <a:srgbClr val="DCF2E4"/>
          </a:solidFill>
          <a:ln w="12700">
            <a:solidFill>
              <a:srgbClr val="333333"/>
            </a:solidFill>
            <a:prstDash val="solid"/>
          </a:ln>
        </p:spPr>
        <p:txBody>
          <a:bodyPr/>
          <a:p/>
        </p:txBody>
      </p:sp>
      <p:sp>
        <p:nvSpPr>
          <p:cNvPr id="16" name="Text 14"/>
          <p:cNvSpPr/>
          <p:nvPr/>
        </p:nvSpPr>
        <p:spPr>
          <a:xfrm>
            <a:off x="7196328" y="1993392"/>
            <a:ext cx="1874520" cy="548640"/>
          </a:xfrm>
          <a:prstGeom prst="rect">
            <a:avLst/>
          </a:prstGeom>
          <a:noFill/>
          <a:ln/>
        </p:spPr>
        <p:txBody>
          <a:bodyPr wrap="square" lIns="0" tIns="0" rIns="0" bIns="0" rtlCol="0" anchor="ctr"/>
          <a:lstStyle/>
          <a:p>
            <a:pPr marL="0" indent="0" algn="ctr">
              <a:buNone/>
            </a:pPr>
            <a:r>
              <a:rPr lang="en-US" sz="2200" b="1" dirty="0">
                <a:solidFill>
                  <a:srgbClr val="156B33"/>
                </a:solidFill>
                <a:latin typeface="Arial" pitchFamily="34" charset="0"/>
                <a:ea typeface="Arial" pitchFamily="34" charset="-122"/>
                <a:cs typeface="Arial" pitchFamily="34" charset="-120"/>
              </a:rPr>
              <a:t>9.6</a:t>
            </a:r>
            <a:endParaRPr lang="en-US" sz="2200" dirty="0"/>
          </a:p>
        </p:txBody>
      </p:sp>
      <p:sp>
        <p:nvSpPr>
          <p:cNvPr id="17" name="Text 15"/>
          <p:cNvSpPr/>
          <p:nvPr/>
        </p:nvSpPr>
        <p:spPr>
          <a:xfrm>
            <a:off x="7306056" y="2542032"/>
            <a:ext cx="1655064" cy="548640"/>
          </a:xfrm>
          <a:prstGeom prst="rect">
            <a:avLst/>
          </a:prstGeom>
          <a:noFill/>
          <a:ln/>
        </p:spPr>
        <p:txBody>
          <a:bodyPr wrap="square" lIns="0" tIns="0" rIns="0" bIns="0" rtlCol="0" anchor="ctr"/>
          <a:lstStyle/>
          <a:p>
            <a:pPr marL="0" indent="0" algn="ctr">
              <a:lnSpc>
                <a:spcPts val="1300"/>
              </a:lnSpc>
              <a:buNone/>
            </a:pPr>
            <a:r>
              <a:rPr lang="en-US" sz="1050" dirty="0">
                <a:solidFill>
                  <a:srgbClr val="2E2E2E"/>
                </a:solidFill>
                <a:latin typeface="Arial" pitchFamily="34" charset="0"/>
                <a:ea typeface="Arial" pitchFamily="34" charset="-122"/>
                <a:cs typeface="Arial" pitchFamily="34" charset="-120"/>
              </a:rPr>
              <a:t>KL, stable</a:t>
            </a:r>
            <a:endParaRPr lang="en-US" sz="1050" dirty="0"/>
          </a:p>
        </p:txBody>
      </p:sp>
      <p:sp>
        <p:nvSpPr>
          <p:cNvPr id="18" name="Shape 16"/>
          <p:cNvSpPr/>
          <p:nvPr/>
        </p:nvSpPr>
        <p:spPr>
          <a:xfrm>
            <a:off x="9244584" y="1828800"/>
            <a:ext cx="1874520" cy="1371600"/>
          </a:xfrm>
          <a:prstGeom prst="roundRect">
            <a:avLst>
              <a:gd name="adj" fmla="val 5333"/>
            </a:avLst>
          </a:prstGeom>
          <a:solidFill>
            <a:srgbClr val="DCF2E4"/>
          </a:solidFill>
          <a:ln w="12700">
            <a:solidFill>
              <a:srgbClr val="333333"/>
            </a:solidFill>
            <a:prstDash val="solid"/>
          </a:ln>
        </p:spPr>
        <p:txBody>
          <a:bodyPr/>
          <a:p/>
        </p:txBody>
      </p:sp>
      <p:sp>
        <p:nvSpPr>
          <p:cNvPr id="19" name="Text 17"/>
          <p:cNvSpPr/>
          <p:nvPr/>
        </p:nvSpPr>
        <p:spPr>
          <a:xfrm>
            <a:off x="9244584" y="1993392"/>
            <a:ext cx="1874520" cy="548640"/>
          </a:xfrm>
          <a:prstGeom prst="rect">
            <a:avLst/>
          </a:prstGeom>
          <a:noFill/>
          <a:ln/>
        </p:spPr>
        <p:txBody>
          <a:bodyPr wrap="square" lIns="0" tIns="0" rIns="0" bIns="0" rtlCol="0" anchor="ctr"/>
          <a:lstStyle/>
          <a:p>
            <a:pPr marL="0" indent="0" algn="ctr">
              <a:buNone/>
            </a:pPr>
            <a:r>
              <a:rPr lang="en-US" sz="2200" b="1" dirty="0">
                <a:solidFill>
                  <a:srgbClr val="156B33"/>
                </a:solidFill>
                <a:latin typeface="Arial" pitchFamily="34" charset="0"/>
                <a:ea typeface="Arial" pitchFamily="34" charset="-122"/>
                <a:cs typeface="Arial" pitchFamily="34" charset="-120"/>
              </a:rPr>
              <a:t>63 min</a:t>
            </a:r>
            <a:endParaRPr lang="en-US" sz="2200" dirty="0"/>
          </a:p>
        </p:txBody>
      </p:sp>
      <p:sp>
        <p:nvSpPr>
          <p:cNvPr id="20" name="Text 18"/>
          <p:cNvSpPr/>
          <p:nvPr/>
        </p:nvSpPr>
        <p:spPr>
          <a:xfrm>
            <a:off x="9354312" y="2542032"/>
            <a:ext cx="1655064" cy="548640"/>
          </a:xfrm>
          <a:prstGeom prst="rect">
            <a:avLst/>
          </a:prstGeom>
          <a:noFill/>
          <a:ln/>
        </p:spPr>
        <p:txBody>
          <a:bodyPr wrap="square" lIns="0" tIns="0" rIns="0" bIns="0" rtlCol="0" anchor="ctr"/>
          <a:lstStyle/>
          <a:p>
            <a:pPr marL="0" indent="0" algn="ctr">
              <a:lnSpc>
                <a:spcPts val="1300"/>
              </a:lnSpc>
              <a:buNone/>
            </a:pPr>
            <a:r>
              <a:rPr lang="en-US" sz="1050" dirty="0">
                <a:solidFill>
                  <a:srgbClr val="2E2E2E"/>
                </a:solidFill>
                <a:latin typeface="Arial" pitchFamily="34" charset="0"/>
                <a:ea typeface="Arial" pitchFamily="34" charset="-122"/>
                <a:cs typeface="Arial" pitchFamily="34" charset="-120"/>
              </a:rPr>
              <a:t>on RTX 4060 laptop GPU</a:t>
            </a:r>
            <a:endParaRPr lang="en-US" sz="1050" dirty="0"/>
          </a:p>
        </p:txBody>
      </p:sp>
      <p:sp>
        <p:nvSpPr>
          <p:cNvPr id="21" name="Shape 19"/>
          <p:cNvSpPr/>
          <p:nvPr/>
        </p:nvSpPr>
        <p:spPr>
          <a:xfrm>
            <a:off x="960120" y="3566160"/>
            <a:ext cx="10241280" cy="1188720"/>
          </a:xfrm>
          <a:prstGeom prst="roundRect">
            <a:avLst>
              <a:gd name="adj" fmla="val 6154"/>
            </a:avLst>
          </a:prstGeom>
          <a:solidFill>
            <a:srgbClr val="FBEEDA"/>
          </a:solidFill>
          <a:ln w="12700">
            <a:solidFill>
              <a:srgbClr val="333333"/>
            </a:solidFill>
            <a:prstDash val="solid"/>
          </a:ln>
        </p:spPr>
        <p:txBody>
          <a:bodyPr/>
          <a:p/>
        </p:txBody>
      </p:sp>
      <p:sp>
        <p:nvSpPr>
          <p:cNvPr id="22" name="Text 20"/>
          <p:cNvSpPr/>
          <p:nvPr/>
        </p:nvSpPr>
        <p:spPr>
          <a:xfrm>
            <a:off x="960120" y="3703320"/>
            <a:ext cx="10241280" cy="502920"/>
          </a:xfrm>
          <a:prstGeom prst="rect">
            <a:avLst/>
          </a:prstGeom>
          <a:noFill/>
          <a:ln/>
        </p:spPr>
        <p:txBody>
          <a:bodyPr wrap="square" lIns="0" tIns="0" rIns="0" bIns="0" rtlCol="0" anchor="ctr"/>
          <a:lstStyle/>
          <a:p>
            <a:pPr marL="0" indent="0" algn="ctr">
              <a:buNone/>
            </a:pPr>
            <a:r>
              <a:rPr lang="en-US" sz="2200" b="1" dirty="0">
                <a:solidFill>
                  <a:srgbClr val="9C5A0B"/>
                </a:solidFill>
                <a:latin typeface="Arial" pitchFamily="34" charset="0"/>
                <a:ea typeface="Arial" pitchFamily="34" charset="-122"/>
                <a:cs typeface="Arial" pitchFamily="34" charset="-120"/>
              </a:rPr>
              <a:t>RECONSTRUCTION ACCURACY  ≠  CONDITIONING SUCCESS</a:t>
            </a:r>
            <a:endParaRPr lang="en-US" sz="2200" dirty="0"/>
          </a:p>
        </p:txBody>
      </p:sp>
      <p:sp>
        <p:nvSpPr>
          <p:cNvPr id="23" name="Text 21"/>
          <p:cNvSpPr/>
          <p:nvPr/>
        </p:nvSpPr>
        <p:spPr>
          <a:xfrm>
            <a:off x="960120" y="4224528"/>
            <a:ext cx="10241280" cy="365760"/>
          </a:xfrm>
          <a:prstGeom prst="rect">
            <a:avLst/>
          </a:prstGeom>
          <a:noFill/>
          <a:ln/>
        </p:spPr>
        <p:txBody>
          <a:bodyPr wrap="square" lIns="0" tIns="0" rIns="0" bIns="0" rtlCol="0" anchor="ctr"/>
          <a:lstStyle/>
          <a:p>
            <a:pPr marL="0" indent="0" algn="ctr">
              <a:buNone/>
            </a:pPr>
            <a:r>
              <a:rPr lang="en-US" sz="1300" dirty="0">
                <a:solidFill>
                  <a:srgbClr val="111111"/>
                </a:solidFill>
                <a:latin typeface="Arial" pitchFamily="34" charset="0"/>
                <a:ea typeface="Arial" pitchFamily="34" charset="-122"/>
                <a:cs typeface="Arial" pitchFamily="34" charset="-120"/>
              </a:rPr>
              <a:t>The first attempt rebuilt sequences accurately but ignored the property targets — latent collapse.</a:t>
            </a:r>
            <a:endParaRPr lang="en-US" sz="1300" dirty="0"/>
          </a:p>
        </p:txBody>
      </p:sp>
      <p:sp>
        <p:nvSpPr>
          <p:cNvPr id="24" name="Shape 22"/>
          <p:cNvSpPr/>
          <p:nvPr/>
        </p:nvSpPr>
        <p:spPr>
          <a:xfrm>
            <a:off x="960120" y="4983480"/>
            <a:ext cx="10241280" cy="868680"/>
          </a:xfrm>
          <a:prstGeom prst="roundRect">
            <a:avLst>
              <a:gd name="adj" fmla="val 8421"/>
            </a:avLst>
          </a:prstGeom>
          <a:solidFill>
            <a:srgbClr val="ECECEC"/>
          </a:solidFill>
          <a:ln w="12700">
            <a:solidFill>
              <a:srgbClr val="333333"/>
            </a:solidFill>
            <a:prstDash val="solid"/>
          </a:ln>
        </p:spPr>
        <p:txBody>
          <a:bodyPr/>
          <a:p/>
        </p:txBody>
      </p:sp>
      <p:sp>
        <p:nvSpPr>
          <p:cNvPr id="25" name="Text 23"/>
          <p:cNvSpPr/>
          <p:nvPr/>
        </p:nvSpPr>
        <p:spPr>
          <a:xfrm>
            <a:off x="960120" y="4983480"/>
            <a:ext cx="10241280" cy="868680"/>
          </a:xfrm>
          <a:prstGeom prst="rect">
            <a:avLst/>
          </a:prstGeom>
          <a:noFill/>
          <a:ln/>
        </p:spPr>
        <p:txBody>
          <a:bodyPr wrap="square" lIns="0" tIns="0" rIns="0" bIns="0" rtlCol="0" anchor="ctr"/>
          <a:lstStyle/>
          <a:p>
            <a:pPr marL="0" indent="0" algn="ctr">
              <a:buNone/>
            </a:pPr>
            <a:r>
              <a:rPr lang="en-US" sz="1350" b="1" dirty="0">
                <a:solidFill>
                  <a:srgbClr val="111111"/>
                </a:solidFill>
                <a:latin typeface="Arial" pitchFamily="34" charset="0"/>
                <a:ea typeface="Arial" pitchFamily="34" charset="-122"/>
                <a:cs typeface="Arial" pitchFamily="34" charset="-120"/>
              </a:rPr>
              <a:t>Conditioning is now validated. A smaller, regularised latent plus classifier-free guidance fixed it: Oracle-predicted Tg rose −5.5 → 41.3 → 173.0 °C across the p10→p90 sweep — a +178.5 °C shift, ~87% validity.</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8  ·  WORK COMPLETED &amp; REMAINING</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What Is Complete?</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23</a:t>
            </a:r>
            <a:endParaRPr lang="en-US" sz="1000" dirty="0"/>
          </a:p>
        </p:txBody>
      </p:sp>
      <p:sp>
        <p:nvSpPr>
          <p:cNvPr id="6" name="Shape 4"/>
          <p:cNvSpPr/>
          <p:nvPr/>
        </p:nvSpPr>
        <p:spPr>
          <a:xfrm>
            <a:off x="960120" y="1691640"/>
            <a:ext cx="10241280" cy="457200"/>
          </a:xfrm>
          <a:prstGeom prst="roundRect">
            <a:avLst>
              <a:gd name="adj" fmla="val 16000"/>
            </a:avLst>
          </a:prstGeom>
          <a:solidFill>
            <a:srgbClr val="DCF2E4"/>
          </a:solidFill>
          <a:ln w="12700">
            <a:solidFill>
              <a:srgbClr val="333333"/>
            </a:solidFill>
            <a:prstDash val="solid"/>
          </a:ln>
        </p:spPr>
        <p:txBody>
          <a:bodyPr/>
          <a:p/>
        </p:txBody>
      </p:sp>
      <p:sp>
        <p:nvSpPr>
          <p:cNvPr id="7" name="Shape 5"/>
          <p:cNvSpPr/>
          <p:nvPr/>
        </p:nvSpPr>
        <p:spPr>
          <a:xfrm>
            <a:off x="1207008" y="1801368"/>
            <a:ext cx="237744" cy="237744"/>
          </a:xfrm>
          <a:prstGeom prst="ellipse">
            <a:avLst/>
          </a:prstGeom>
          <a:solidFill>
            <a:srgbClr val="156B33"/>
          </a:solidFill>
          <a:ln w="12700">
            <a:solidFill>
              <a:srgbClr val="333333"/>
            </a:solidFill>
            <a:prstDash val="solid"/>
          </a:ln>
        </p:spPr>
        <p:txBody>
          <a:bodyPr/>
          <a:p/>
        </p:txBody>
      </p:sp>
      <p:sp>
        <p:nvSpPr>
          <p:cNvPr id="8" name="Text 6"/>
          <p:cNvSpPr/>
          <p:nvPr/>
        </p:nvSpPr>
        <p:spPr>
          <a:xfrm>
            <a:off x="1627632" y="1691640"/>
            <a:ext cx="1280160" cy="457200"/>
          </a:xfrm>
          <a:prstGeom prst="rect">
            <a:avLst/>
          </a:prstGeom>
          <a:noFill/>
          <a:ln/>
        </p:spPr>
        <p:txBody>
          <a:bodyPr wrap="square" lIns="0" tIns="0" rIns="0" bIns="0" rtlCol="0" anchor="ctr"/>
          <a:lstStyle/>
          <a:p>
            <a:pPr marL="0" indent="0">
              <a:buNone/>
            </a:pPr>
            <a:r>
              <a:rPr lang="en-US" sz="1250" b="1" dirty="0">
                <a:solidFill>
                  <a:srgbClr val="156B33"/>
                </a:solidFill>
                <a:latin typeface="Arial" pitchFamily="34" charset="0"/>
                <a:ea typeface="Arial" pitchFamily="34" charset="-122"/>
                <a:cs typeface="Arial" pitchFamily="34" charset="-120"/>
              </a:rPr>
              <a:t>Phase 1</a:t>
            </a:r>
            <a:endParaRPr lang="en-US" sz="1250" dirty="0"/>
          </a:p>
        </p:txBody>
      </p:sp>
      <p:sp>
        <p:nvSpPr>
          <p:cNvPr id="9" name="Text 7"/>
          <p:cNvSpPr/>
          <p:nvPr/>
        </p:nvSpPr>
        <p:spPr>
          <a:xfrm>
            <a:off x="3017520" y="1691640"/>
            <a:ext cx="5486400" cy="457200"/>
          </a:xfrm>
          <a:prstGeom prst="rect">
            <a:avLst/>
          </a:prstGeom>
          <a:noFill/>
          <a:ln/>
        </p:spPr>
        <p:txBody>
          <a:bodyPr wrap="square" lIns="0" tIns="0" rIns="0" bIns="0" rtlCol="0" anchor="ctr"/>
          <a:lstStyle/>
          <a:p>
            <a:pPr marL="0" indent="0">
              <a:buNone/>
            </a:pPr>
            <a:r>
              <a:rPr lang="en-US" sz="1250" dirty="0">
                <a:solidFill>
                  <a:srgbClr val="111111"/>
                </a:solidFill>
                <a:latin typeface="Arial" pitchFamily="34" charset="0"/>
                <a:ea typeface="Arial" pitchFamily="34" charset="-122"/>
                <a:cs typeface="Arial" pitchFamily="34" charset="-120"/>
              </a:rPr>
              <a:t>Data Foundation</a:t>
            </a:r>
            <a:endParaRPr lang="en-US" sz="1250" dirty="0"/>
          </a:p>
        </p:txBody>
      </p:sp>
      <p:sp>
        <p:nvSpPr>
          <p:cNvPr id="10" name="Text 8"/>
          <p:cNvSpPr/>
          <p:nvPr/>
        </p:nvSpPr>
        <p:spPr>
          <a:xfrm>
            <a:off x="8778240" y="1691640"/>
            <a:ext cx="2194560" cy="457200"/>
          </a:xfrm>
          <a:prstGeom prst="rect">
            <a:avLst/>
          </a:prstGeom>
          <a:noFill/>
          <a:ln/>
        </p:spPr>
        <p:txBody>
          <a:bodyPr wrap="square" lIns="0" tIns="0" rIns="0" bIns="0" rtlCol="0" anchor="ctr"/>
          <a:lstStyle/>
          <a:p>
            <a:pPr marL="0" indent="0" algn="r">
              <a:buNone/>
            </a:pPr>
            <a:r>
              <a:rPr lang="en-US" sz="1150" b="1" dirty="0">
                <a:solidFill>
                  <a:srgbClr val="156B33"/>
                </a:solidFill>
                <a:latin typeface="Arial" pitchFamily="34" charset="0"/>
                <a:ea typeface="Arial" pitchFamily="34" charset="-122"/>
                <a:cs typeface="Arial" pitchFamily="34" charset="-120"/>
              </a:rPr>
              <a:t>COMPLETE</a:t>
            </a:r>
            <a:endParaRPr lang="en-US" sz="1150" dirty="0"/>
          </a:p>
        </p:txBody>
      </p:sp>
      <p:sp>
        <p:nvSpPr>
          <p:cNvPr id="11" name="Shape 9"/>
          <p:cNvSpPr/>
          <p:nvPr/>
        </p:nvSpPr>
        <p:spPr>
          <a:xfrm>
            <a:off x="960120" y="2240280"/>
            <a:ext cx="10241280" cy="457200"/>
          </a:xfrm>
          <a:prstGeom prst="roundRect">
            <a:avLst>
              <a:gd name="adj" fmla="val 16000"/>
            </a:avLst>
          </a:prstGeom>
          <a:solidFill>
            <a:srgbClr val="DCF2E4"/>
          </a:solidFill>
          <a:ln w="12700">
            <a:solidFill>
              <a:srgbClr val="333333"/>
            </a:solidFill>
            <a:prstDash val="solid"/>
          </a:ln>
        </p:spPr>
        <p:txBody>
          <a:bodyPr/>
          <a:p/>
        </p:txBody>
      </p:sp>
      <p:sp>
        <p:nvSpPr>
          <p:cNvPr id="12" name="Shape 10"/>
          <p:cNvSpPr/>
          <p:nvPr/>
        </p:nvSpPr>
        <p:spPr>
          <a:xfrm>
            <a:off x="1207008" y="2350008"/>
            <a:ext cx="237744" cy="237744"/>
          </a:xfrm>
          <a:prstGeom prst="ellipse">
            <a:avLst/>
          </a:prstGeom>
          <a:solidFill>
            <a:srgbClr val="156B33"/>
          </a:solidFill>
          <a:ln w="12700">
            <a:solidFill>
              <a:srgbClr val="333333"/>
            </a:solidFill>
            <a:prstDash val="solid"/>
          </a:ln>
        </p:spPr>
        <p:txBody>
          <a:bodyPr/>
          <a:p/>
        </p:txBody>
      </p:sp>
      <p:sp>
        <p:nvSpPr>
          <p:cNvPr id="13" name="Text 11"/>
          <p:cNvSpPr/>
          <p:nvPr/>
        </p:nvSpPr>
        <p:spPr>
          <a:xfrm>
            <a:off x="1627632" y="2240280"/>
            <a:ext cx="1280160" cy="457200"/>
          </a:xfrm>
          <a:prstGeom prst="rect">
            <a:avLst/>
          </a:prstGeom>
          <a:noFill/>
          <a:ln/>
        </p:spPr>
        <p:txBody>
          <a:bodyPr wrap="square" lIns="0" tIns="0" rIns="0" bIns="0" rtlCol="0" anchor="ctr"/>
          <a:lstStyle/>
          <a:p>
            <a:pPr marL="0" indent="0">
              <a:buNone/>
            </a:pPr>
            <a:r>
              <a:rPr lang="en-US" sz="1250" b="1" dirty="0">
                <a:solidFill>
                  <a:srgbClr val="156B33"/>
                </a:solidFill>
                <a:latin typeface="Arial" pitchFamily="34" charset="0"/>
                <a:ea typeface="Arial" pitchFamily="34" charset="-122"/>
                <a:cs typeface="Arial" pitchFamily="34" charset="-120"/>
              </a:rPr>
              <a:t>Phase 2</a:t>
            </a:r>
            <a:endParaRPr lang="en-US" sz="1250" dirty="0"/>
          </a:p>
        </p:txBody>
      </p:sp>
      <p:sp>
        <p:nvSpPr>
          <p:cNvPr id="14" name="Text 12"/>
          <p:cNvSpPr/>
          <p:nvPr/>
        </p:nvSpPr>
        <p:spPr>
          <a:xfrm>
            <a:off x="3017520" y="2240280"/>
            <a:ext cx="5486400" cy="457200"/>
          </a:xfrm>
          <a:prstGeom prst="rect">
            <a:avLst/>
          </a:prstGeom>
          <a:noFill/>
          <a:ln/>
        </p:spPr>
        <p:txBody>
          <a:bodyPr wrap="square" lIns="0" tIns="0" rIns="0" bIns="0" rtlCol="0" anchor="ctr"/>
          <a:lstStyle/>
          <a:p>
            <a:pPr marL="0" indent="0">
              <a:buNone/>
            </a:pPr>
            <a:r>
              <a:rPr lang="en-US" sz="1250" dirty="0">
                <a:solidFill>
                  <a:srgbClr val="111111"/>
                </a:solidFill>
                <a:latin typeface="Arial" pitchFamily="34" charset="0"/>
                <a:ea typeface="Arial" pitchFamily="34" charset="-122"/>
                <a:cs typeface="Arial" pitchFamily="34" charset="-120"/>
              </a:rPr>
              <a:t>Oracle</a:t>
            </a:r>
            <a:endParaRPr lang="en-US" sz="1250" dirty="0"/>
          </a:p>
        </p:txBody>
      </p:sp>
      <p:sp>
        <p:nvSpPr>
          <p:cNvPr id="15" name="Text 13"/>
          <p:cNvSpPr/>
          <p:nvPr/>
        </p:nvSpPr>
        <p:spPr>
          <a:xfrm>
            <a:off x="8778240" y="2240280"/>
            <a:ext cx="2194560" cy="457200"/>
          </a:xfrm>
          <a:prstGeom prst="rect">
            <a:avLst/>
          </a:prstGeom>
          <a:noFill/>
          <a:ln/>
        </p:spPr>
        <p:txBody>
          <a:bodyPr wrap="square" lIns="0" tIns="0" rIns="0" bIns="0" rtlCol="0" anchor="ctr"/>
          <a:lstStyle/>
          <a:p>
            <a:pPr marL="0" indent="0" algn="r">
              <a:buNone/>
            </a:pPr>
            <a:r>
              <a:rPr lang="en-US" sz="1150" b="1" dirty="0">
                <a:solidFill>
                  <a:srgbClr val="156B33"/>
                </a:solidFill>
                <a:latin typeface="Arial" pitchFamily="34" charset="0"/>
                <a:ea typeface="Arial" pitchFamily="34" charset="-122"/>
                <a:cs typeface="Arial" pitchFamily="34" charset="-120"/>
              </a:rPr>
              <a:t>COMPLETE</a:t>
            </a:r>
            <a:endParaRPr lang="en-US" sz="1150" dirty="0"/>
          </a:p>
        </p:txBody>
      </p:sp>
      <p:sp>
        <p:nvSpPr>
          <p:cNvPr id="16" name="Shape 14"/>
          <p:cNvSpPr/>
          <p:nvPr/>
        </p:nvSpPr>
        <p:spPr>
          <a:xfrm>
            <a:off x="960120" y="2788920"/>
            <a:ext cx="10241280" cy="457200"/>
          </a:xfrm>
          <a:prstGeom prst="roundRect">
            <a:avLst>
              <a:gd name="adj" fmla="val 16000"/>
            </a:avLst>
          </a:prstGeom>
          <a:solidFill>
            <a:srgbClr val="DCF2E4"/>
          </a:solidFill>
          <a:ln w="12700">
            <a:solidFill>
              <a:srgbClr val="333333"/>
            </a:solidFill>
            <a:prstDash val="solid"/>
          </a:ln>
        </p:spPr>
        <p:txBody>
          <a:bodyPr/>
          <a:p/>
        </p:txBody>
      </p:sp>
      <p:sp>
        <p:nvSpPr>
          <p:cNvPr id="17" name="Shape 15"/>
          <p:cNvSpPr/>
          <p:nvPr/>
        </p:nvSpPr>
        <p:spPr>
          <a:xfrm>
            <a:off x="1207008" y="2898648"/>
            <a:ext cx="237744" cy="237744"/>
          </a:xfrm>
          <a:prstGeom prst="ellipse">
            <a:avLst/>
          </a:prstGeom>
          <a:solidFill>
            <a:srgbClr val="156B33"/>
          </a:solidFill>
          <a:ln w="12700">
            <a:solidFill>
              <a:srgbClr val="333333"/>
            </a:solidFill>
            <a:prstDash val="solid"/>
          </a:ln>
        </p:spPr>
        <p:txBody>
          <a:bodyPr/>
          <a:p/>
        </p:txBody>
      </p:sp>
      <p:sp>
        <p:nvSpPr>
          <p:cNvPr id="18" name="Text 16"/>
          <p:cNvSpPr/>
          <p:nvPr/>
        </p:nvSpPr>
        <p:spPr>
          <a:xfrm>
            <a:off x="1627632" y="2788920"/>
            <a:ext cx="1280160" cy="457200"/>
          </a:xfrm>
          <a:prstGeom prst="rect">
            <a:avLst/>
          </a:prstGeom>
          <a:noFill/>
          <a:ln/>
        </p:spPr>
        <p:txBody>
          <a:bodyPr wrap="square" lIns="0" tIns="0" rIns="0" bIns="0" rtlCol="0" anchor="ctr"/>
          <a:lstStyle/>
          <a:p>
            <a:pPr marL="0" indent="0">
              <a:buNone/>
            </a:pPr>
            <a:r>
              <a:rPr lang="en-US" sz="1250" b="1" dirty="0">
                <a:solidFill>
                  <a:srgbClr val="156B33"/>
                </a:solidFill>
                <a:latin typeface="Arial" pitchFamily="34" charset="0"/>
                <a:ea typeface="Arial" pitchFamily="34" charset="-122"/>
                <a:cs typeface="Arial" pitchFamily="34" charset="-120"/>
              </a:rPr>
              <a:t>Phase 3a</a:t>
            </a:r>
            <a:endParaRPr lang="en-US" sz="1250" dirty="0"/>
          </a:p>
        </p:txBody>
      </p:sp>
      <p:sp>
        <p:nvSpPr>
          <p:cNvPr id="19" name="Text 17"/>
          <p:cNvSpPr/>
          <p:nvPr/>
        </p:nvSpPr>
        <p:spPr>
          <a:xfrm>
            <a:off x="3017520" y="2788920"/>
            <a:ext cx="5486400" cy="457200"/>
          </a:xfrm>
          <a:prstGeom prst="rect">
            <a:avLst/>
          </a:prstGeom>
          <a:noFill/>
          <a:ln/>
        </p:spPr>
        <p:txBody>
          <a:bodyPr wrap="square" lIns="0" tIns="0" rIns="0" bIns="0" rtlCol="0" anchor="ctr"/>
          <a:lstStyle/>
          <a:p>
            <a:pPr marL="0" indent="0">
              <a:buNone/>
            </a:pPr>
            <a:r>
              <a:rPr lang="en-US" sz="1250" dirty="0">
                <a:solidFill>
                  <a:srgbClr val="111111"/>
                </a:solidFill>
                <a:latin typeface="Arial" pitchFamily="34" charset="0"/>
                <a:ea typeface="Arial" pitchFamily="34" charset="-122"/>
                <a:cs typeface="Arial" pitchFamily="34" charset="-120"/>
              </a:rPr>
              <a:t>Pseudo-labelling</a:t>
            </a:r>
            <a:endParaRPr lang="en-US" sz="1250" dirty="0"/>
          </a:p>
        </p:txBody>
      </p:sp>
      <p:sp>
        <p:nvSpPr>
          <p:cNvPr id="20" name="Text 18"/>
          <p:cNvSpPr/>
          <p:nvPr/>
        </p:nvSpPr>
        <p:spPr>
          <a:xfrm>
            <a:off x="8778240" y="2788920"/>
            <a:ext cx="2194560" cy="457200"/>
          </a:xfrm>
          <a:prstGeom prst="rect">
            <a:avLst/>
          </a:prstGeom>
          <a:noFill/>
          <a:ln/>
        </p:spPr>
        <p:txBody>
          <a:bodyPr wrap="square" lIns="0" tIns="0" rIns="0" bIns="0" rtlCol="0" anchor="ctr"/>
          <a:lstStyle/>
          <a:p>
            <a:pPr marL="0" indent="0" algn="r">
              <a:buNone/>
            </a:pPr>
            <a:r>
              <a:rPr lang="en-US" sz="1150" b="1" dirty="0">
                <a:solidFill>
                  <a:srgbClr val="156B33"/>
                </a:solidFill>
                <a:latin typeface="Arial" pitchFamily="34" charset="0"/>
                <a:ea typeface="Arial" pitchFamily="34" charset="-122"/>
                <a:cs typeface="Arial" pitchFamily="34" charset="-120"/>
              </a:rPr>
              <a:t>COMPLETE</a:t>
            </a:r>
            <a:endParaRPr lang="en-US" sz="1150" dirty="0"/>
          </a:p>
        </p:txBody>
      </p:sp>
      <p:sp>
        <p:nvSpPr>
          <p:cNvPr id="21" name="Shape 19"/>
          <p:cNvSpPr/>
          <p:nvPr/>
        </p:nvSpPr>
        <p:spPr>
          <a:xfrm>
            <a:off x="960120" y="3337560"/>
            <a:ext cx="10241280" cy="457200"/>
          </a:xfrm>
          <a:prstGeom prst="roundRect">
            <a:avLst>
              <a:gd name="adj" fmla="val 16000"/>
            </a:avLst>
          </a:prstGeom>
          <a:solidFill>
            <a:srgbClr val="DCF2E4"/>
          </a:solidFill>
          <a:ln w="12700">
            <a:solidFill>
              <a:srgbClr val="333333"/>
            </a:solidFill>
            <a:prstDash val="solid"/>
          </a:ln>
        </p:spPr>
        <p:txBody>
          <a:bodyPr/>
          <a:p/>
        </p:txBody>
      </p:sp>
      <p:sp>
        <p:nvSpPr>
          <p:cNvPr id="22" name="Shape 20"/>
          <p:cNvSpPr/>
          <p:nvPr/>
        </p:nvSpPr>
        <p:spPr>
          <a:xfrm>
            <a:off x="1207008" y="3447288"/>
            <a:ext cx="237744" cy="237744"/>
          </a:xfrm>
          <a:prstGeom prst="ellipse">
            <a:avLst/>
          </a:prstGeom>
          <a:solidFill>
            <a:srgbClr val="156B33"/>
          </a:solidFill>
          <a:ln w="12700">
            <a:solidFill>
              <a:srgbClr val="333333"/>
            </a:solidFill>
            <a:prstDash val="solid"/>
          </a:ln>
        </p:spPr>
        <p:txBody>
          <a:bodyPr/>
          <a:p/>
        </p:txBody>
      </p:sp>
      <p:sp>
        <p:nvSpPr>
          <p:cNvPr id="23" name="Text 21"/>
          <p:cNvSpPr/>
          <p:nvPr/>
        </p:nvSpPr>
        <p:spPr>
          <a:xfrm>
            <a:off x="1627632" y="3337560"/>
            <a:ext cx="1280160" cy="457200"/>
          </a:xfrm>
          <a:prstGeom prst="rect">
            <a:avLst/>
          </a:prstGeom>
          <a:noFill/>
          <a:ln/>
        </p:spPr>
        <p:txBody>
          <a:bodyPr wrap="square" lIns="0" tIns="0" rIns="0" bIns="0" rtlCol="0" anchor="ctr"/>
          <a:lstStyle/>
          <a:p>
            <a:pPr marL="0" indent="0">
              <a:buNone/>
            </a:pPr>
            <a:r>
              <a:rPr lang="en-US" sz="1250" b="1" dirty="0">
                <a:solidFill>
                  <a:srgbClr val="156B33"/>
                </a:solidFill>
                <a:latin typeface="Arial" pitchFamily="34" charset="0"/>
                <a:ea typeface="Arial" pitchFamily="34" charset="-122"/>
                <a:cs typeface="Arial" pitchFamily="34" charset="-120"/>
              </a:rPr>
              <a:t>Phase 3b</a:t>
            </a:r>
            <a:endParaRPr lang="en-US" sz="1250" dirty="0"/>
          </a:p>
        </p:txBody>
      </p:sp>
      <p:sp>
        <p:nvSpPr>
          <p:cNvPr id="24" name="Text 22"/>
          <p:cNvSpPr/>
          <p:nvPr/>
        </p:nvSpPr>
        <p:spPr>
          <a:xfrm>
            <a:off x="3017520" y="3337560"/>
            <a:ext cx="5486400" cy="457200"/>
          </a:xfrm>
          <a:prstGeom prst="rect">
            <a:avLst/>
          </a:prstGeom>
          <a:noFill/>
          <a:ln/>
        </p:spPr>
        <p:txBody>
          <a:bodyPr wrap="square" lIns="0" tIns="0" rIns="0" bIns="0" rtlCol="0" anchor="ctr"/>
          <a:lstStyle/>
          <a:p>
            <a:pPr marL="0" indent="0">
              <a:buNone/>
            </a:pPr>
            <a:r>
              <a:rPr lang="en-US" sz="1250" dirty="0">
                <a:solidFill>
                  <a:srgbClr val="111111"/>
                </a:solidFill>
                <a:latin typeface="Arial" pitchFamily="34" charset="0"/>
                <a:ea typeface="Arial" pitchFamily="34" charset="-122"/>
                <a:cs typeface="Arial" pitchFamily="34" charset="-120"/>
              </a:rPr>
              <a:t>C-VAE training</a:t>
            </a:r>
            <a:endParaRPr lang="en-US" sz="1250" dirty="0"/>
          </a:p>
        </p:txBody>
      </p:sp>
      <p:sp>
        <p:nvSpPr>
          <p:cNvPr id="25" name="Text 23"/>
          <p:cNvSpPr/>
          <p:nvPr/>
        </p:nvSpPr>
        <p:spPr>
          <a:xfrm>
            <a:off x="8778240" y="3337560"/>
            <a:ext cx="2194560" cy="457200"/>
          </a:xfrm>
          <a:prstGeom prst="rect">
            <a:avLst/>
          </a:prstGeom>
          <a:noFill/>
          <a:ln/>
        </p:spPr>
        <p:txBody>
          <a:bodyPr wrap="square" lIns="0" tIns="0" rIns="0" bIns="0" rtlCol="0" anchor="ctr"/>
          <a:lstStyle/>
          <a:p>
            <a:pPr marL="0" indent="0" algn="r">
              <a:buNone/>
            </a:pPr>
            <a:r>
              <a:rPr lang="en-US" sz="1150" b="1" dirty="0">
                <a:solidFill>
                  <a:srgbClr val="156B33"/>
                </a:solidFill>
                <a:latin typeface="Arial" pitchFamily="34" charset="0"/>
                <a:ea typeface="Arial" pitchFamily="34" charset="-122"/>
                <a:cs typeface="Arial" pitchFamily="34" charset="-120"/>
              </a:rPr>
              <a:t>COMPLETE</a:t>
            </a:r>
            <a:endParaRPr lang="en-US" sz="1150" dirty="0"/>
          </a:p>
        </p:txBody>
      </p:sp>
      <p:sp>
        <p:nvSpPr>
          <p:cNvPr id="26" name="Shape 24"/>
          <p:cNvSpPr/>
          <p:nvPr/>
        </p:nvSpPr>
        <p:spPr>
          <a:xfrm>
            <a:off x="960120" y="3886200"/>
            <a:ext cx="10241280" cy="457200"/>
          </a:xfrm>
          <a:prstGeom prst="roundRect">
            <a:avLst>
              <a:gd name="adj" fmla="val 16000"/>
            </a:avLst>
          </a:prstGeom>
          <a:solidFill>
            <a:srgbClr val="DCF2E4"/>
          </a:solidFill>
          <a:ln w="12700">
            <a:solidFill>
              <a:srgbClr val="333333"/>
            </a:solidFill>
            <a:prstDash val="solid"/>
          </a:ln>
        </p:spPr>
        <p:txBody>
          <a:bodyPr/>
          <a:p/>
        </p:txBody>
      </p:sp>
      <p:sp>
        <p:nvSpPr>
          <p:cNvPr id="27" name="Shape 25"/>
          <p:cNvSpPr/>
          <p:nvPr/>
        </p:nvSpPr>
        <p:spPr>
          <a:xfrm>
            <a:off x="1207008" y="3995928"/>
            <a:ext cx="237744" cy="237744"/>
          </a:xfrm>
          <a:prstGeom prst="ellipse">
            <a:avLst/>
          </a:prstGeom>
          <a:solidFill>
            <a:srgbClr val="156B33"/>
          </a:solidFill>
          <a:ln w="12700">
            <a:solidFill>
              <a:srgbClr val="333333"/>
            </a:solidFill>
            <a:prstDash val="solid"/>
          </a:ln>
        </p:spPr>
        <p:txBody>
          <a:bodyPr/>
          <a:p/>
        </p:txBody>
      </p:sp>
      <p:sp>
        <p:nvSpPr>
          <p:cNvPr id="28" name="Text 26"/>
          <p:cNvSpPr/>
          <p:nvPr/>
        </p:nvSpPr>
        <p:spPr>
          <a:xfrm>
            <a:off x="1627632" y="3886200"/>
            <a:ext cx="1280160" cy="457200"/>
          </a:xfrm>
          <a:prstGeom prst="rect">
            <a:avLst/>
          </a:prstGeom>
          <a:noFill/>
          <a:ln/>
        </p:spPr>
        <p:txBody>
          <a:bodyPr wrap="square" lIns="0" tIns="0" rIns="0" bIns="0" rtlCol="0" anchor="ctr"/>
          <a:lstStyle/>
          <a:p>
            <a:pPr marL="0" indent="0">
              <a:buNone/>
            </a:pPr>
            <a:r>
              <a:rPr lang="en-US" sz="1250" b="1" dirty="0">
                <a:solidFill>
                  <a:srgbClr val="156B33"/>
                </a:solidFill>
                <a:latin typeface="Arial" pitchFamily="34" charset="0"/>
                <a:ea typeface="Arial" pitchFamily="34" charset="-122"/>
                <a:cs typeface="Arial" pitchFamily="34" charset="-120"/>
              </a:rPr>
              <a:t>Phase 3c</a:t>
            </a:r>
            <a:endParaRPr lang="en-US" sz="1250" dirty="0"/>
          </a:p>
        </p:txBody>
      </p:sp>
      <p:sp>
        <p:nvSpPr>
          <p:cNvPr id="29" name="Text 27"/>
          <p:cNvSpPr/>
          <p:nvPr/>
        </p:nvSpPr>
        <p:spPr>
          <a:xfrm>
            <a:off x="3017520" y="3886200"/>
            <a:ext cx="5486400" cy="457200"/>
          </a:xfrm>
          <a:prstGeom prst="rect">
            <a:avLst/>
          </a:prstGeom>
          <a:noFill/>
          <a:ln/>
        </p:spPr>
        <p:txBody>
          <a:bodyPr wrap="square" lIns="0" tIns="0" rIns="0" bIns="0" rtlCol="0" anchor="ctr"/>
          <a:lstStyle/>
          <a:p>
            <a:pPr marL="0" indent="0">
              <a:buNone/>
            </a:pPr>
            <a:r>
              <a:rPr lang="en-US" sz="1250" dirty="0">
                <a:solidFill>
                  <a:srgbClr val="111111"/>
                </a:solidFill>
                <a:latin typeface="Arial" pitchFamily="34" charset="0"/>
                <a:ea typeface="Arial" pitchFamily="34" charset="-122"/>
                <a:cs typeface="Arial" pitchFamily="34" charset="-120"/>
              </a:rPr>
              <a:t>Conditioning validation</a:t>
            </a:r>
            <a:endParaRPr lang="en-US" sz="1250" dirty="0"/>
          </a:p>
        </p:txBody>
      </p:sp>
      <p:sp>
        <p:nvSpPr>
          <p:cNvPr id="30" name="Text 28"/>
          <p:cNvSpPr/>
          <p:nvPr/>
        </p:nvSpPr>
        <p:spPr>
          <a:xfrm>
            <a:off x="8778240" y="3886200"/>
            <a:ext cx="2194560" cy="457200"/>
          </a:xfrm>
          <a:prstGeom prst="rect">
            <a:avLst/>
          </a:prstGeom>
          <a:noFill/>
          <a:ln/>
        </p:spPr>
        <p:txBody>
          <a:bodyPr wrap="square" lIns="0" tIns="0" rIns="0" bIns="0" rtlCol="0" anchor="ctr"/>
          <a:lstStyle/>
          <a:p>
            <a:pPr marL="0" indent="0" algn="r">
              <a:buNone/>
            </a:pPr>
            <a:r>
              <a:rPr lang="en-US" sz="1150" b="1" dirty="0">
                <a:solidFill>
                  <a:srgbClr val="156B33"/>
                </a:solidFill>
                <a:latin typeface="Arial" pitchFamily="34" charset="0"/>
                <a:ea typeface="Arial" pitchFamily="34" charset="-122"/>
                <a:cs typeface="Arial" pitchFamily="34" charset="-120"/>
              </a:rPr>
              <a:t>COMPLETE</a:t>
            </a:r>
            <a:endParaRPr lang="en-US" sz="1150" dirty="0"/>
          </a:p>
        </p:txBody>
      </p:sp>
      <p:sp>
        <p:nvSpPr>
          <p:cNvPr id="31" name="Shape 29"/>
          <p:cNvSpPr/>
          <p:nvPr/>
        </p:nvSpPr>
        <p:spPr>
          <a:xfrm>
            <a:off x="960120" y="4434840"/>
            <a:ext cx="10241280" cy="457200"/>
          </a:xfrm>
          <a:prstGeom prst="roundRect">
            <a:avLst>
              <a:gd name="adj" fmla="val 16000"/>
            </a:avLst>
          </a:prstGeom>
          <a:solidFill>
            <a:srgbClr val="DCF2E4"/>
          </a:solidFill>
          <a:ln w="12700">
            <a:solidFill>
              <a:srgbClr val="333333"/>
            </a:solidFill>
            <a:prstDash val="solid"/>
          </a:ln>
        </p:spPr>
        <p:txBody>
          <a:bodyPr/>
          <a:p/>
        </p:txBody>
      </p:sp>
      <p:sp>
        <p:nvSpPr>
          <p:cNvPr id="32" name="Shape 30"/>
          <p:cNvSpPr/>
          <p:nvPr/>
        </p:nvSpPr>
        <p:spPr>
          <a:xfrm>
            <a:off x="1207008" y="4544568"/>
            <a:ext cx="237744" cy="237744"/>
          </a:xfrm>
          <a:prstGeom prst="ellipse">
            <a:avLst/>
          </a:prstGeom>
          <a:solidFill>
            <a:srgbClr val="156B33"/>
          </a:solidFill>
          <a:ln w="12700">
            <a:solidFill>
              <a:srgbClr val="333333"/>
            </a:solidFill>
            <a:prstDash val="solid"/>
          </a:ln>
        </p:spPr>
        <p:txBody>
          <a:bodyPr/>
          <a:p/>
        </p:txBody>
      </p:sp>
      <p:sp>
        <p:nvSpPr>
          <p:cNvPr id="33" name="Text 31"/>
          <p:cNvSpPr/>
          <p:nvPr/>
        </p:nvSpPr>
        <p:spPr>
          <a:xfrm>
            <a:off x="1627632" y="4434840"/>
            <a:ext cx="1280160" cy="457200"/>
          </a:xfrm>
          <a:prstGeom prst="rect">
            <a:avLst/>
          </a:prstGeom>
          <a:noFill/>
          <a:ln/>
        </p:spPr>
        <p:txBody>
          <a:bodyPr wrap="square" lIns="0" tIns="0" rIns="0" bIns="0" rtlCol="0" anchor="ctr"/>
          <a:lstStyle/>
          <a:p>
            <a:pPr marL="0" indent="0">
              <a:buNone/>
            </a:pPr>
            <a:r>
              <a:rPr lang="en-US" sz="1250" b="1" dirty="0">
                <a:solidFill>
                  <a:srgbClr val="156B33"/>
                </a:solidFill>
                <a:latin typeface="Arial" pitchFamily="34" charset="0"/>
                <a:ea typeface="Arial" pitchFamily="34" charset="-122"/>
                <a:cs typeface="Arial" pitchFamily="34" charset="-120"/>
              </a:rPr>
              <a:t>Phase 4</a:t>
            </a:r>
            <a:endParaRPr lang="en-US" sz="1250" dirty="0"/>
          </a:p>
        </p:txBody>
      </p:sp>
      <p:sp>
        <p:nvSpPr>
          <p:cNvPr id="34" name="Text 32"/>
          <p:cNvSpPr/>
          <p:nvPr/>
        </p:nvSpPr>
        <p:spPr>
          <a:xfrm>
            <a:off x="3017520" y="4434840"/>
            <a:ext cx="5486400" cy="457200"/>
          </a:xfrm>
          <a:prstGeom prst="rect">
            <a:avLst/>
          </a:prstGeom>
          <a:noFill/>
          <a:ln/>
        </p:spPr>
        <p:txBody>
          <a:bodyPr wrap="square" lIns="0" tIns="0" rIns="0" bIns="0" rtlCol="0" anchor="ctr"/>
          <a:lstStyle/>
          <a:p>
            <a:pPr marL="0" indent="0">
              <a:buNone/>
            </a:pPr>
            <a:r>
              <a:rPr lang="en-US" sz="1250" dirty="0">
                <a:solidFill>
                  <a:srgbClr val="111111"/>
                </a:solidFill>
                <a:latin typeface="Arial" pitchFamily="34" charset="0"/>
                <a:ea typeface="Arial" pitchFamily="34" charset="-122"/>
                <a:cs typeface="Arial" pitchFamily="34" charset="-120"/>
              </a:rPr>
              <a:t>RAG</a:t>
            </a:r>
            <a:endParaRPr lang="en-US" sz="1250" dirty="0"/>
          </a:p>
        </p:txBody>
      </p:sp>
      <p:sp>
        <p:nvSpPr>
          <p:cNvPr id="35" name="Text 33"/>
          <p:cNvSpPr/>
          <p:nvPr/>
        </p:nvSpPr>
        <p:spPr>
          <a:xfrm>
            <a:off x="8778240" y="4434840"/>
            <a:ext cx="2194560" cy="457200"/>
          </a:xfrm>
          <a:prstGeom prst="rect">
            <a:avLst/>
          </a:prstGeom>
          <a:noFill/>
          <a:ln/>
        </p:spPr>
        <p:txBody>
          <a:bodyPr wrap="square" lIns="0" tIns="0" rIns="0" bIns="0" rtlCol="0" anchor="ctr"/>
          <a:lstStyle/>
          <a:p>
            <a:pPr marL="0" indent="0" algn="r">
              <a:buNone/>
            </a:pPr>
            <a:r>
              <a:rPr lang="en-US" sz="1150" b="1" dirty="0">
                <a:solidFill>
                  <a:srgbClr val="156B33"/>
                </a:solidFill>
                <a:latin typeface="Arial" pitchFamily="34" charset="0"/>
                <a:ea typeface="Arial" pitchFamily="34" charset="-122"/>
                <a:cs typeface="Arial" pitchFamily="34" charset="-120"/>
              </a:rPr>
              <a:t>COMPLETE</a:t>
            </a:r>
            <a:endParaRPr lang="en-US" sz="1150" dirty="0"/>
          </a:p>
        </p:txBody>
      </p:sp>
      <p:sp>
        <p:nvSpPr>
          <p:cNvPr id="36" name="Shape 34"/>
          <p:cNvSpPr/>
          <p:nvPr/>
        </p:nvSpPr>
        <p:spPr>
          <a:xfrm>
            <a:off x="960120" y="4983480"/>
            <a:ext cx="10241280" cy="457200"/>
          </a:xfrm>
          <a:prstGeom prst="roundRect">
            <a:avLst>
              <a:gd name="adj" fmla="val 16000"/>
            </a:avLst>
          </a:prstGeom>
          <a:solidFill>
            <a:srgbClr val="DCF2E4"/>
          </a:solidFill>
          <a:ln w="12700">
            <a:solidFill>
              <a:srgbClr val="333333"/>
            </a:solidFill>
            <a:prstDash val="solid"/>
          </a:ln>
        </p:spPr>
        <p:txBody>
          <a:bodyPr/>
          <a:p/>
        </p:txBody>
      </p:sp>
      <p:sp>
        <p:nvSpPr>
          <p:cNvPr id="37" name="Shape 35"/>
          <p:cNvSpPr/>
          <p:nvPr/>
        </p:nvSpPr>
        <p:spPr>
          <a:xfrm>
            <a:off x="1207008" y="5093208"/>
            <a:ext cx="237744" cy="237744"/>
          </a:xfrm>
          <a:prstGeom prst="ellipse">
            <a:avLst/>
          </a:prstGeom>
          <a:solidFill>
            <a:srgbClr val="156B33"/>
          </a:solidFill>
          <a:ln w="12700">
            <a:solidFill>
              <a:srgbClr val="333333"/>
            </a:solidFill>
            <a:prstDash val="solid"/>
          </a:ln>
        </p:spPr>
        <p:txBody>
          <a:bodyPr/>
          <a:p/>
        </p:txBody>
      </p:sp>
      <p:sp>
        <p:nvSpPr>
          <p:cNvPr id="38" name="Text 36"/>
          <p:cNvSpPr/>
          <p:nvPr/>
        </p:nvSpPr>
        <p:spPr>
          <a:xfrm>
            <a:off x="1627632" y="4983480"/>
            <a:ext cx="1280160" cy="457200"/>
          </a:xfrm>
          <a:prstGeom prst="rect">
            <a:avLst/>
          </a:prstGeom>
          <a:noFill/>
          <a:ln/>
        </p:spPr>
        <p:txBody>
          <a:bodyPr wrap="square" lIns="0" tIns="0" rIns="0" bIns="0" rtlCol="0" anchor="ctr"/>
          <a:lstStyle/>
          <a:p>
            <a:pPr marL="0" indent="0">
              <a:buNone/>
            </a:pPr>
            <a:r>
              <a:rPr lang="en-US" sz="1250" b="1" dirty="0">
                <a:solidFill>
                  <a:srgbClr val="156B33"/>
                </a:solidFill>
                <a:latin typeface="Arial" pitchFamily="34" charset="0"/>
                <a:ea typeface="Arial" pitchFamily="34" charset="-122"/>
                <a:cs typeface="Arial" pitchFamily="34" charset="-120"/>
              </a:rPr>
              <a:t>Phase 5</a:t>
            </a:r>
            <a:endParaRPr lang="en-US" sz="1250" dirty="0"/>
          </a:p>
        </p:txBody>
      </p:sp>
      <p:sp>
        <p:nvSpPr>
          <p:cNvPr id="39" name="Text 37"/>
          <p:cNvSpPr/>
          <p:nvPr/>
        </p:nvSpPr>
        <p:spPr>
          <a:xfrm>
            <a:off x="3017520" y="4983480"/>
            <a:ext cx="5486400" cy="457200"/>
          </a:xfrm>
          <a:prstGeom prst="rect">
            <a:avLst/>
          </a:prstGeom>
          <a:noFill/>
          <a:ln/>
        </p:spPr>
        <p:txBody>
          <a:bodyPr wrap="square" lIns="0" tIns="0" rIns="0" bIns="0" rtlCol="0" anchor="ctr"/>
          <a:lstStyle/>
          <a:p>
            <a:pPr marL="0" indent="0">
              <a:buNone/>
            </a:pPr>
            <a:r>
              <a:rPr lang="en-US" sz="1250" dirty="0">
                <a:solidFill>
                  <a:srgbClr val="111111"/>
                </a:solidFill>
                <a:latin typeface="Arial" pitchFamily="34" charset="0"/>
                <a:ea typeface="Arial" pitchFamily="34" charset="-122"/>
                <a:cs typeface="Arial" pitchFamily="34" charset="-120"/>
              </a:rPr>
              <a:t>Closed loop + Streamlit</a:t>
            </a:r>
            <a:endParaRPr lang="en-US" sz="1250" dirty="0"/>
          </a:p>
        </p:txBody>
      </p:sp>
      <p:sp>
        <p:nvSpPr>
          <p:cNvPr id="40" name="Text 38"/>
          <p:cNvSpPr/>
          <p:nvPr/>
        </p:nvSpPr>
        <p:spPr>
          <a:xfrm>
            <a:off x="8778240" y="4983480"/>
            <a:ext cx="2194560" cy="457200"/>
          </a:xfrm>
          <a:prstGeom prst="rect">
            <a:avLst/>
          </a:prstGeom>
          <a:noFill/>
          <a:ln/>
        </p:spPr>
        <p:txBody>
          <a:bodyPr wrap="square" lIns="0" tIns="0" rIns="0" bIns="0" rtlCol="0" anchor="ctr"/>
          <a:lstStyle/>
          <a:p>
            <a:pPr marL="0" indent="0" algn="r">
              <a:buNone/>
            </a:pPr>
            <a:r>
              <a:rPr lang="en-US" sz="1150" b="1" dirty="0">
                <a:solidFill>
                  <a:srgbClr val="156B33"/>
                </a:solidFill>
                <a:latin typeface="Arial" pitchFamily="34" charset="0"/>
                <a:ea typeface="Arial" pitchFamily="34" charset="-122"/>
                <a:cs typeface="Arial" pitchFamily="34" charset="-120"/>
              </a:rPr>
              <a:t>COMPLETE</a:t>
            </a:r>
            <a:endParaRPr lang="en-US" sz="1150" dirty="0"/>
          </a:p>
        </p:txBody>
      </p:sp>
      <p:sp>
        <p:nvSpPr>
          <p:cNvPr id="41" name="Shape 39"/>
          <p:cNvSpPr/>
          <p:nvPr/>
        </p:nvSpPr>
        <p:spPr>
          <a:xfrm>
            <a:off x="960120" y="5532120"/>
            <a:ext cx="10241280" cy="457200"/>
          </a:xfrm>
          <a:prstGeom prst="roundRect">
            <a:avLst>
              <a:gd name="adj" fmla="val 16000"/>
            </a:avLst>
          </a:prstGeom>
          <a:solidFill>
            <a:srgbClr val="DCF2E4"/>
          </a:solidFill>
          <a:ln w="12700">
            <a:solidFill>
              <a:srgbClr val="333333"/>
            </a:solidFill>
            <a:prstDash val="solid"/>
          </a:ln>
        </p:spPr>
        <p:txBody>
          <a:bodyPr/>
          <a:p/>
        </p:txBody>
      </p:sp>
      <p:sp>
        <p:nvSpPr>
          <p:cNvPr id="42" name="Shape 40"/>
          <p:cNvSpPr/>
          <p:nvPr/>
        </p:nvSpPr>
        <p:spPr>
          <a:xfrm>
            <a:off x="1207008" y="5641848"/>
            <a:ext cx="237744" cy="237744"/>
          </a:xfrm>
          <a:prstGeom prst="ellipse">
            <a:avLst/>
          </a:prstGeom>
          <a:solidFill>
            <a:srgbClr val="156B33"/>
          </a:solidFill>
          <a:ln w="12700">
            <a:solidFill>
              <a:srgbClr val="333333"/>
            </a:solidFill>
            <a:prstDash val="solid"/>
          </a:ln>
        </p:spPr>
        <p:txBody>
          <a:bodyPr/>
          <a:p/>
        </p:txBody>
      </p:sp>
      <p:sp>
        <p:nvSpPr>
          <p:cNvPr id="43" name="Text 41"/>
          <p:cNvSpPr/>
          <p:nvPr/>
        </p:nvSpPr>
        <p:spPr>
          <a:xfrm>
            <a:off x="1627632" y="5532120"/>
            <a:ext cx="1280160" cy="457200"/>
          </a:xfrm>
          <a:prstGeom prst="rect">
            <a:avLst/>
          </a:prstGeom>
          <a:noFill/>
          <a:ln/>
        </p:spPr>
        <p:txBody>
          <a:bodyPr wrap="square" lIns="0" tIns="0" rIns="0" bIns="0" rtlCol="0" anchor="ctr"/>
          <a:lstStyle/>
          <a:p>
            <a:pPr marL="0" indent="0">
              <a:buNone/>
            </a:pPr>
            <a:r>
              <a:rPr lang="en-US" sz="1250" b="1" dirty="0">
                <a:solidFill>
                  <a:srgbClr val="156B33"/>
                </a:solidFill>
                <a:latin typeface="Arial" pitchFamily="34" charset="0"/>
                <a:ea typeface="Arial" pitchFamily="34" charset="-122"/>
                <a:cs typeface="Arial" pitchFamily="34" charset="-120"/>
              </a:rPr>
              <a:t>Phase 6</a:t>
            </a:r>
            <a:endParaRPr lang="en-US" sz="1250" dirty="0"/>
          </a:p>
        </p:txBody>
      </p:sp>
      <p:sp>
        <p:nvSpPr>
          <p:cNvPr id="44" name="Text 42"/>
          <p:cNvSpPr/>
          <p:nvPr/>
        </p:nvSpPr>
        <p:spPr>
          <a:xfrm>
            <a:off x="3017520" y="5532120"/>
            <a:ext cx="5486400" cy="457200"/>
          </a:xfrm>
          <a:prstGeom prst="rect">
            <a:avLst/>
          </a:prstGeom>
          <a:noFill/>
          <a:ln/>
        </p:spPr>
        <p:txBody>
          <a:bodyPr wrap="square" lIns="0" tIns="0" rIns="0" bIns="0" rtlCol="0" anchor="ctr"/>
          <a:lstStyle/>
          <a:p>
            <a:pPr marL="0" indent="0">
              <a:buNone/>
            </a:pPr>
            <a:r>
              <a:rPr lang="en-US" sz="1250" dirty="0">
                <a:solidFill>
                  <a:srgbClr val="111111"/>
                </a:solidFill>
                <a:latin typeface="Arial" pitchFamily="34" charset="0"/>
                <a:ea typeface="Arial" pitchFamily="34" charset="-122"/>
                <a:cs typeface="Arial" pitchFamily="34" charset="-120"/>
              </a:rPr>
              <a:t>Benchmarking</a:t>
            </a:r>
            <a:endParaRPr lang="en-US" sz="1250" dirty="0"/>
          </a:p>
        </p:txBody>
      </p:sp>
      <p:sp>
        <p:nvSpPr>
          <p:cNvPr id="45" name="Text 43"/>
          <p:cNvSpPr/>
          <p:nvPr/>
        </p:nvSpPr>
        <p:spPr>
          <a:xfrm>
            <a:off x="8778240" y="5532120"/>
            <a:ext cx="2194560" cy="457200"/>
          </a:xfrm>
          <a:prstGeom prst="rect">
            <a:avLst/>
          </a:prstGeom>
          <a:noFill/>
          <a:ln/>
        </p:spPr>
        <p:txBody>
          <a:bodyPr wrap="square" lIns="0" tIns="0" rIns="0" bIns="0" rtlCol="0" anchor="ctr"/>
          <a:lstStyle/>
          <a:p>
            <a:pPr marL="0" indent="0" algn="r">
              <a:buNone/>
            </a:pPr>
            <a:r>
              <a:rPr lang="en-US" sz="1150" b="1" dirty="0">
                <a:solidFill>
                  <a:srgbClr val="156B33"/>
                </a:solidFill>
                <a:latin typeface="Arial" pitchFamily="34" charset="0"/>
                <a:ea typeface="Arial" pitchFamily="34" charset="-122"/>
                <a:cs typeface="Arial" pitchFamily="34" charset="-120"/>
              </a:rPr>
              <a:t>COMPLETE</a:t>
            </a:r>
            <a:endParaRPr lang="en-US" sz="1150" dirty="0"/>
          </a:p>
        </p:txBody>
      </p:sp>
      <p:sp>
        <p:nvSpPr>
          <p:cNvPr id="46" name="Text 44"/>
          <p:cNvSpPr/>
          <p:nvPr/>
        </p:nvSpPr>
        <p:spPr>
          <a:xfrm>
            <a:off x="960120" y="6108192"/>
            <a:ext cx="10241280" cy="274320"/>
          </a:xfrm>
          <a:prstGeom prst="rect">
            <a:avLst/>
          </a:prstGeom>
          <a:noFill/>
          <a:ln/>
        </p:spPr>
        <p:txBody>
          <a:bodyPr wrap="square" lIns="0" tIns="0" rIns="0" bIns="0" rtlCol="0" anchor="ctr"/>
          <a:lstStyle/>
          <a:p>
            <a:pPr marL="0" indent="0" algn="ctr">
              <a:buNone/>
            </a:pPr>
            <a:r>
              <a:rPr lang="en-US" sz="1100" dirty="0">
                <a:solidFill>
                  <a:srgbClr val="5C5C5C"/>
                </a:solidFill>
                <a:latin typeface="Arial" pitchFamily="34" charset="0"/>
                <a:ea typeface="Arial" pitchFamily="34" charset="-122"/>
                <a:cs typeface="Arial" pitchFamily="34" charset="-120"/>
              </a:rPr>
              <a:t>All eight phases complete.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8  ·  WORK COMPLETED &amp; REMAINING</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Conditioning Validation — Result</a:t>
            </a:r>
            <a:endParaRPr lang="en-US" sz="2900" dirty="0"/>
          </a:p>
        </p:txBody>
      </p:sp>
      <p:sp>
        <p:nvSpPr>
          <p:cNvPr id="5" name="Text 3"/>
          <p:cNvSpPr/>
          <p:nvPr/>
        </p:nvSpPr>
        <p:spPr>
          <a:xfrm>
            <a:off x="914400" y="1389888"/>
            <a:ext cx="10360152" cy="292608"/>
          </a:xfrm>
          <a:prstGeom prst="rect">
            <a:avLst/>
          </a:prstGeom>
          <a:noFill/>
          <a:ln/>
        </p:spPr>
        <p:txBody>
          <a:bodyPr wrap="square" lIns="0" tIns="0" rIns="0" bIns="0" rtlCol="0" anchor="ctr"/>
          <a:lstStyle/>
          <a:p>
            <a:pPr marL="0" indent="0" algn="ctr">
              <a:buNone/>
            </a:pPr>
            <a:r>
              <a:rPr lang="en-US" sz="1300" dirty="0">
                <a:solidFill>
                  <a:srgbClr val="5C5C5C"/>
                </a:solidFill>
                <a:latin typeface="Arial" pitchFamily="34" charset="0"/>
                <a:ea typeface="Arial" pitchFamily="34" charset="-122"/>
                <a:cs typeface="Arial" pitchFamily="34" charset="-120"/>
              </a:rPr>
              <a:t>Phase 3c — Conditioning Validation</a:t>
            </a:r>
            <a:endParaRPr lang="en-US" sz="1300" dirty="0"/>
          </a:p>
        </p:txBody>
      </p:sp>
      <p:sp>
        <p:nvSpPr>
          <p:cNvPr id="6" name="Text 4"/>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24</a:t>
            </a:r>
            <a:endParaRPr lang="en-US" sz="1000" dirty="0"/>
          </a:p>
        </p:txBody>
      </p:sp>
      <p:sp>
        <p:nvSpPr>
          <p:cNvPr id="7" name="Shape 5"/>
          <p:cNvSpPr/>
          <p:nvPr/>
        </p:nvSpPr>
        <p:spPr>
          <a:xfrm>
            <a:off x="1371600" y="1828800"/>
            <a:ext cx="2834640" cy="1051560"/>
          </a:xfrm>
          <a:prstGeom prst="roundRect">
            <a:avLst>
              <a:gd name="adj" fmla="val 6957"/>
            </a:avLst>
          </a:prstGeom>
          <a:solidFill>
            <a:srgbClr val="E3EDF8"/>
          </a:solidFill>
          <a:ln w="12700">
            <a:solidFill>
              <a:srgbClr val="333333"/>
            </a:solidFill>
            <a:prstDash val="solid"/>
          </a:ln>
        </p:spPr>
        <p:txBody>
          <a:bodyPr/>
          <a:p/>
        </p:txBody>
      </p:sp>
      <p:sp>
        <p:nvSpPr>
          <p:cNvPr id="8" name="Text 6"/>
          <p:cNvSpPr/>
          <p:nvPr/>
        </p:nvSpPr>
        <p:spPr>
          <a:xfrm>
            <a:off x="1371600" y="1938528"/>
            <a:ext cx="2834640" cy="365760"/>
          </a:xfrm>
          <a:prstGeom prst="rect">
            <a:avLst/>
          </a:prstGeom>
          <a:noFill/>
          <a:ln/>
        </p:spPr>
        <p:txBody>
          <a:bodyPr wrap="square" lIns="0" tIns="0" rIns="0" bIns="0" rtlCol="0" anchor="ctr"/>
          <a:lstStyle/>
          <a:p>
            <a:pPr marL="0" indent="0" algn="ctr">
              <a:buNone/>
            </a:pPr>
            <a:r>
              <a:rPr lang="en-US" sz="1500" b="1" dirty="0">
                <a:solidFill>
                  <a:srgbClr val="111111"/>
                </a:solidFill>
                <a:latin typeface="Arial" pitchFamily="34" charset="0"/>
                <a:ea typeface="Arial" pitchFamily="34" charset="-122"/>
                <a:cs typeface="Arial" pitchFamily="34" charset="-120"/>
              </a:rPr>
              <a:t>300 polymers</a:t>
            </a:r>
            <a:endParaRPr lang="en-US" sz="1500" dirty="0"/>
          </a:p>
        </p:txBody>
      </p:sp>
      <p:sp>
        <p:nvSpPr>
          <p:cNvPr id="9" name="Text 7"/>
          <p:cNvSpPr/>
          <p:nvPr/>
        </p:nvSpPr>
        <p:spPr>
          <a:xfrm>
            <a:off x="1371600" y="2286000"/>
            <a:ext cx="2834640" cy="228600"/>
          </a:xfrm>
          <a:prstGeom prst="rect">
            <a:avLst/>
          </a:prstGeom>
          <a:noFill/>
          <a:ln/>
        </p:spPr>
        <p:txBody>
          <a:bodyPr wrap="square" lIns="0" tIns="0" rIns="0" bIns="0" rtlCol="0" anchor="ctr"/>
          <a:lstStyle/>
          <a:p>
            <a:pPr marL="0" indent="0" algn="ctr">
              <a:buNone/>
            </a:pPr>
            <a:r>
              <a:rPr lang="en-US" sz="1050" dirty="0">
                <a:solidFill>
                  <a:srgbClr val="5C5C5C"/>
                </a:solidFill>
                <a:latin typeface="Arial" pitchFamily="34" charset="0"/>
                <a:ea typeface="Arial" pitchFamily="34" charset="-122"/>
                <a:cs typeface="Arial" pitchFamily="34" charset="-120"/>
              </a:rPr>
              <a:t>generated at</a:t>
            </a:r>
            <a:endParaRPr lang="en-US" sz="1050" dirty="0"/>
          </a:p>
        </p:txBody>
      </p:sp>
      <p:sp>
        <p:nvSpPr>
          <p:cNvPr id="10" name="Text 8"/>
          <p:cNvSpPr/>
          <p:nvPr/>
        </p:nvSpPr>
        <p:spPr>
          <a:xfrm>
            <a:off x="1371600" y="2487168"/>
            <a:ext cx="2834640" cy="320040"/>
          </a:xfrm>
          <a:prstGeom prst="rect">
            <a:avLst/>
          </a:prstGeom>
          <a:noFill/>
          <a:ln/>
        </p:spPr>
        <p:txBody>
          <a:bodyPr wrap="square" lIns="0" tIns="0" rIns="0" bIns="0" rtlCol="0" anchor="ctr"/>
          <a:lstStyle/>
          <a:p>
            <a:pPr marL="0" indent="0" algn="ctr">
              <a:buNone/>
            </a:pPr>
            <a:r>
              <a:rPr lang="en-US" sz="1600" b="1" dirty="0">
                <a:solidFill>
                  <a:srgbClr val="1B4F8A"/>
                </a:solidFill>
                <a:latin typeface="Arial" pitchFamily="34" charset="0"/>
                <a:ea typeface="Arial" pitchFamily="34" charset="-122"/>
                <a:cs typeface="Arial" pitchFamily="34" charset="-120"/>
              </a:rPr>
              <a:t>Tg = 0°C</a:t>
            </a:r>
            <a:endParaRPr lang="en-US" sz="1600" dirty="0"/>
          </a:p>
        </p:txBody>
      </p:sp>
      <p:sp>
        <p:nvSpPr>
          <p:cNvPr id="11" name="Shape 9"/>
          <p:cNvSpPr/>
          <p:nvPr/>
        </p:nvSpPr>
        <p:spPr>
          <a:xfrm>
            <a:off x="4572000" y="1828800"/>
            <a:ext cx="2834640" cy="1051560"/>
          </a:xfrm>
          <a:prstGeom prst="roundRect">
            <a:avLst>
              <a:gd name="adj" fmla="val 6957"/>
            </a:avLst>
          </a:prstGeom>
          <a:solidFill>
            <a:srgbClr val="E3EDF8"/>
          </a:solidFill>
          <a:ln w="12700">
            <a:solidFill>
              <a:srgbClr val="333333"/>
            </a:solidFill>
            <a:prstDash val="solid"/>
          </a:ln>
        </p:spPr>
        <p:txBody>
          <a:bodyPr/>
          <a:p/>
        </p:txBody>
      </p:sp>
      <p:sp>
        <p:nvSpPr>
          <p:cNvPr id="12" name="Text 10"/>
          <p:cNvSpPr/>
          <p:nvPr/>
        </p:nvSpPr>
        <p:spPr>
          <a:xfrm>
            <a:off x="4572000" y="1938528"/>
            <a:ext cx="2834640" cy="365760"/>
          </a:xfrm>
          <a:prstGeom prst="rect">
            <a:avLst/>
          </a:prstGeom>
          <a:noFill/>
          <a:ln/>
        </p:spPr>
        <p:txBody>
          <a:bodyPr wrap="square" lIns="0" tIns="0" rIns="0" bIns="0" rtlCol="0" anchor="ctr"/>
          <a:lstStyle/>
          <a:p>
            <a:pPr marL="0" indent="0" algn="ctr">
              <a:buNone/>
            </a:pPr>
            <a:r>
              <a:rPr lang="en-US" sz="1500" b="1" dirty="0">
                <a:solidFill>
                  <a:srgbClr val="111111"/>
                </a:solidFill>
                <a:latin typeface="Arial" pitchFamily="34" charset="0"/>
                <a:ea typeface="Arial" pitchFamily="34" charset="-122"/>
                <a:cs typeface="Arial" pitchFamily="34" charset="-120"/>
              </a:rPr>
              <a:t>300 polymers</a:t>
            </a:r>
            <a:endParaRPr lang="en-US" sz="1500" dirty="0"/>
          </a:p>
        </p:txBody>
      </p:sp>
      <p:sp>
        <p:nvSpPr>
          <p:cNvPr id="13" name="Text 11"/>
          <p:cNvSpPr/>
          <p:nvPr/>
        </p:nvSpPr>
        <p:spPr>
          <a:xfrm>
            <a:off x="4572000" y="2286000"/>
            <a:ext cx="2834640" cy="228600"/>
          </a:xfrm>
          <a:prstGeom prst="rect">
            <a:avLst/>
          </a:prstGeom>
          <a:noFill/>
          <a:ln/>
        </p:spPr>
        <p:txBody>
          <a:bodyPr wrap="square" lIns="0" tIns="0" rIns="0" bIns="0" rtlCol="0" anchor="ctr"/>
          <a:lstStyle/>
          <a:p>
            <a:pPr marL="0" indent="0" algn="ctr">
              <a:buNone/>
            </a:pPr>
            <a:r>
              <a:rPr lang="en-US" sz="1050" dirty="0">
                <a:solidFill>
                  <a:srgbClr val="5C5C5C"/>
                </a:solidFill>
                <a:latin typeface="Arial" pitchFamily="34" charset="0"/>
                <a:ea typeface="Arial" pitchFamily="34" charset="-122"/>
                <a:cs typeface="Arial" pitchFamily="34" charset="-120"/>
              </a:rPr>
              <a:t>generated at</a:t>
            </a:r>
            <a:endParaRPr lang="en-US" sz="1050" dirty="0"/>
          </a:p>
        </p:txBody>
      </p:sp>
      <p:sp>
        <p:nvSpPr>
          <p:cNvPr id="14" name="Text 12"/>
          <p:cNvSpPr/>
          <p:nvPr/>
        </p:nvSpPr>
        <p:spPr>
          <a:xfrm>
            <a:off x="4572000" y="2487168"/>
            <a:ext cx="2834640" cy="320040"/>
          </a:xfrm>
          <a:prstGeom prst="rect">
            <a:avLst/>
          </a:prstGeom>
          <a:noFill/>
          <a:ln/>
        </p:spPr>
        <p:txBody>
          <a:bodyPr wrap="square" lIns="0" tIns="0" rIns="0" bIns="0" rtlCol="0" anchor="ctr"/>
          <a:lstStyle/>
          <a:p>
            <a:pPr marL="0" indent="0" algn="ctr">
              <a:buNone/>
            </a:pPr>
            <a:r>
              <a:rPr lang="en-US" sz="1600" b="1" dirty="0">
                <a:solidFill>
                  <a:srgbClr val="1B4F8A"/>
                </a:solidFill>
                <a:latin typeface="Arial" pitchFamily="34" charset="0"/>
                <a:ea typeface="Arial" pitchFamily="34" charset="-122"/>
                <a:cs typeface="Arial" pitchFamily="34" charset="-120"/>
              </a:rPr>
              <a:t>Tg = 100°C</a:t>
            </a:r>
            <a:endParaRPr lang="en-US" sz="1600" dirty="0"/>
          </a:p>
        </p:txBody>
      </p:sp>
      <p:sp>
        <p:nvSpPr>
          <p:cNvPr id="15" name="Shape 13"/>
          <p:cNvSpPr/>
          <p:nvPr/>
        </p:nvSpPr>
        <p:spPr>
          <a:xfrm>
            <a:off x="7772400" y="1828800"/>
            <a:ext cx="2834640" cy="1051560"/>
          </a:xfrm>
          <a:prstGeom prst="roundRect">
            <a:avLst>
              <a:gd name="adj" fmla="val 6957"/>
            </a:avLst>
          </a:prstGeom>
          <a:solidFill>
            <a:srgbClr val="E3EDF8"/>
          </a:solidFill>
          <a:ln w="12700">
            <a:solidFill>
              <a:srgbClr val="333333"/>
            </a:solidFill>
            <a:prstDash val="solid"/>
          </a:ln>
        </p:spPr>
        <p:txBody>
          <a:bodyPr/>
          <a:p/>
        </p:txBody>
      </p:sp>
      <p:sp>
        <p:nvSpPr>
          <p:cNvPr id="16" name="Text 14"/>
          <p:cNvSpPr/>
          <p:nvPr/>
        </p:nvSpPr>
        <p:spPr>
          <a:xfrm>
            <a:off x="7772400" y="1938528"/>
            <a:ext cx="2834640" cy="365760"/>
          </a:xfrm>
          <a:prstGeom prst="rect">
            <a:avLst/>
          </a:prstGeom>
          <a:noFill/>
          <a:ln/>
        </p:spPr>
        <p:txBody>
          <a:bodyPr wrap="square" lIns="0" tIns="0" rIns="0" bIns="0" rtlCol="0" anchor="ctr"/>
          <a:lstStyle/>
          <a:p>
            <a:pPr marL="0" indent="0" algn="ctr">
              <a:buNone/>
            </a:pPr>
            <a:r>
              <a:rPr lang="en-US" sz="1500" b="1" dirty="0">
                <a:solidFill>
                  <a:srgbClr val="111111"/>
                </a:solidFill>
                <a:latin typeface="Arial" pitchFamily="34" charset="0"/>
                <a:ea typeface="Arial" pitchFamily="34" charset="-122"/>
                <a:cs typeface="Arial" pitchFamily="34" charset="-120"/>
              </a:rPr>
              <a:t>300 polymers</a:t>
            </a:r>
            <a:endParaRPr lang="en-US" sz="1500" dirty="0"/>
          </a:p>
        </p:txBody>
      </p:sp>
      <p:sp>
        <p:nvSpPr>
          <p:cNvPr id="17" name="Text 15"/>
          <p:cNvSpPr/>
          <p:nvPr/>
        </p:nvSpPr>
        <p:spPr>
          <a:xfrm>
            <a:off x="7772400" y="2286000"/>
            <a:ext cx="2834640" cy="228600"/>
          </a:xfrm>
          <a:prstGeom prst="rect">
            <a:avLst/>
          </a:prstGeom>
          <a:noFill/>
          <a:ln/>
        </p:spPr>
        <p:txBody>
          <a:bodyPr wrap="square" lIns="0" tIns="0" rIns="0" bIns="0" rtlCol="0" anchor="ctr"/>
          <a:lstStyle/>
          <a:p>
            <a:pPr marL="0" indent="0" algn="ctr">
              <a:buNone/>
            </a:pPr>
            <a:r>
              <a:rPr lang="en-US" sz="1050" dirty="0">
                <a:solidFill>
                  <a:srgbClr val="5C5C5C"/>
                </a:solidFill>
                <a:latin typeface="Arial" pitchFamily="34" charset="0"/>
                <a:ea typeface="Arial" pitchFamily="34" charset="-122"/>
                <a:cs typeface="Arial" pitchFamily="34" charset="-120"/>
              </a:rPr>
              <a:t>generated at</a:t>
            </a:r>
            <a:endParaRPr lang="en-US" sz="1050" dirty="0"/>
          </a:p>
        </p:txBody>
      </p:sp>
      <p:sp>
        <p:nvSpPr>
          <p:cNvPr id="18" name="Text 16"/>
          <p:cNvSpPr/>
          <p:nvPr/>
        </p:nvSpPr>
        <p:spPr>
          <a:xfrm>
            <a:off x="7772400" y="2487168"/>
            <a:ext cx="2834640" cy="320040"/>
          </a:xfrm>
          <a:prstGeom prst="rect">
            <a:avLst/>
          </a:prstGeom>
          <a:noFill/>
          <a:ln/>
        </p:spPr>
        <p:txBody>
          <a:bodyPr wrap="square" lIns="0" tIns="0" rIns="0" bIns="0" rtlCol="0" anchor="ctr"/>
          <a:lstStyle/>
          <a:p>
            <a:pPr marL="0" indent="0" algn="ctr">
              <a:buNone/>
            </a:pPr>
            <a:r>
              <a:rPr lang="en-US" sz="1600" b="1" dirty="0">
                <a:solidFill>
                  <a:srgbClr val="1B4F8A"/>
                </a:solidFill>
                <a:latin typeface="Arial" pitchFamily="34" charset="0"/>
                <a:ea typeface="Arial" pitchFamily="34" charset="-122"/>
                <a:cs typeface="Arial" pitchFamily="34" charset="-120"/>
              </a:rPr>
              <a:t>Tg = 200°C</a:t>
            </a:r>
            <a:endParaRPr lang="en-US" sz="1600" dirty="0"/>
          </a:p>
        </p:txBody>
      </p:sp>
      <p:sp>
        <p:nvSpPr>
          <p:cNvPr id="19" name="Shape 17"/>
          <p:cNvSpPr/>
          <p:nvPr/>
        </p:nvSpPr>
        <p:spPr>
          <a:xfrm>
            <a:off x="5971032" y="2971800"/>
            <a:ext cx="237744" cy="237744"/>
          </a:xfrm>
          <a:prstGeom prst="downArrow">
            <a:avLst/>
          </a:prstGeom>
          <a:solidFill>
            <a:srgbClr val="111111"/>
          </a:solidFill>
          <a:ln w="12700">
            <a:solidFill>
              <a:srgbClr val="333333"/>
            </a:solidFill>
            <a:prstDash val="solid"/>
          </a:ln>
        </p:spPr>
        <p:txBody>
          <a:bodyPr/>
          <a:p/>
        </p:txBody>
      </p:sp>
      <p:sp>
        <p:nvSpPr>
          <p:cNvPr id="20" name="Shape 18"/>
          <p:cNvSpPr/>
          <p:nvPr/>
        </p:nvSpPr>
        <p:spPr>
          <a:xfrm>
            <a:off x="3291840" y="3383280"/>
            <a:ext cx="5577840" cy="640080"/>
          </a:xfrm>
          <a:prstGeom prst="roundRect">
            <a:avLst>
              <a:gd name="adj" fmla="val 11429"/>
            </a:avLst>
          </a:prstGeom>
          <a:solidFill>
            <a:srgbClr val="DCF2E4"/>
          </a:solidFill>
          <a:ln w="12700">
            <a:solidFill>
              <a:srgbClr val="333333"/>
            </a:solidFill>
            <a:prstDash val="solid"/>
          </a:ln>
        </p:spPr>
        <p:txBody>
          <a:bodyPr/>
          <a:p/>
        </p:txBody>
      </p:sp>
      <p:sp>
        <p:nvSpPr>
          <p:cNvPr id="21" name="Text 19"/>
          <p:cNvSpPr/>
          <p:nvPr/>
        </p:nvSpPr>
        <p:spPr>
          <a:xfrm>
            <a:off x="3364992" y="3383280"/>
            <a:ext cx="5431536" cy="640080"/>
          </a:xfrm>
          <a:prstGeom prst="rect">
            <a:avLst/>
          </a:prstGeom>
          <a:noFill/>
          <a:ln/>
        </p:spPr>
        <p:txBody>
          <a:bodyPr wrap="square" lIns="0" tIns="0" rIns="0" bIns="0" rtlCol="0" anchor="ctr"/>
          <a:lstStyle/>
          <a:p>
            <a:pPr marL="0" indent="0" algn="ctr">
              <a:lnSpc>
                <a:spcPts val="1750"/>
              </a:lnSpc>
              <a:buNone/>
            </a:pPr>
            <a:r>
              <a:rPr lang="en-US" sz="1400" b="1" dirty="0">
                <a:solidFill>
                  <a:srgbClr val="156B33"/>
                </a:solidFill>
                <a:latin typeface="Arial" pitchFamily="34" charset="0"/>
                <a:ea typeface="Arial" pitchFamily="34" charset="-122"/>
                <a:cs typeface="Arial" pitchFamily="34" charset="-120"/>
              </a:rPr>
              <a:t>Score every batch with the Oracle</a:t>
            </a:r>
            <a:endParaRPr lang="en-US" sz="1400" dirty="0"/>
          </a:p>
        </p:txBody>
      </p:sp>
      <p:sp>
        <p:nvSpPr>
          <p:cNvPr id="22" name="Shape 20"/>
          <p:cNvSpPr/>
          <p:nvPr/>
        </p:nvSpPr>
        <p:spPr>
          <a:xfrm>
            <a:off x="5971032" y="4114800"/>
            <a:ext cx="237744" cy="237744"/>
          </a:xfrm>
          <a:prstGeom prst="downArrow">
            <a:avLst/>
          </a:prstGeom>
          <a:solidFill>
            <a:srgbClr val="111111"/>
          </a:solidFill>
          <a:ln w="12700">
            <a:solidFill>
              <a:srgbClr val="333333"/>
            </a:solidFill>
            <a:prstDash val="solid"/>
          </a:ln>
        </p:spPr>
        <p:txBody>
          <a:bodyPr/>
          <a:p/>
        </p:txBody>
      </p:sp>
      <p:sp>
        <p:nvSpPr>
          <p:cNvPr id="23" name="Shape 21"/>
          <p:cNvSpPr/>
          <p:nvPr/>
        </p:nvSpPr>
        <p:spPr>
          <a:xfrm>
            <a:off x="2743200" y="4526280"/>
            <a:ext cx="6675120" cy="640080"/>
          </a:xfrm>
          <a:prstGeom prst="roundRect">
            <a:avLst>
              <a:gd name="adj" fmla="val 11429"/>
            </a:avLst>
          </a:prstGeom>
          <a:solidFill>
            <a:srgbClr val="ECECEC"/>
          </a:solidFill>
          <a:ln w="12700">
            <a:solidFill>
              <a:srgbClr val="333333"/>
            </a:solidFill>
            <a:prstDash val="solid"/>
          </a:ln>
        </p:spPr>
        <p:txBody>
          <a:bodyPr/>
          <a:p/>
        </p:txBody>
      </p:sp>
      <p:sp>
        <p:nvSpPr>
          <p:cNvPr id="24" name="Text 22"/>
          <p:cNvSpPr/>
          <p:nvPr/>
        </p:nvSpPr>
        <p:spPr>
          <a:xfrm>
            <a:off x="2816352" y="4526280"/>
            <a:ext cx="6528816" cy="640080"/>
          </a:xfrm>
          <a:prstGeom prst="rect">
            <a:avLst/>
          </a:prstGeom>
          <a:noFill/>
          <a:ln/>
        </p:spPr>
        <p:txBody>
          <a:bodyPr wrap="square" lIns="0" tIns="0" rIns="0" bIns="0" rtlCol="0" anchor="ctr"/>
          <a:lstStyle/>
          <a:p>
            <a:pPr marL="0" indent="0" algn="ctr">
              <a:lnSpc>
                <a:spcPts val="1750"/>
              </a:lnSpc>
              <a:buNone/>
            </a:pPr>
            <a:r>
              <a:rPr lang="en-US" sz="1400" b="1" dirty="0">
                <a:solidFill>
                  <a:srgbClr val="111111"/>
                </a:solidFill>
                <a:latin typeface="Arial" pitchFamily="34" charset="0"/>
                <a:ea typeface="Arial" pitchFamily="34" charset="-122"/>
                <a:cs typeface="Arial" pitchFamily="34" charset="-120"/>
              </a:rPr>
              <a:t>They separate cleanly: Oracle Tg −5.5 → 41.3 → 173.0 °C.</a:t>
            </a:r>
            <a:endParaRPr lang="en-US" sz="1400" dirty="0"/>
          </a:p>
        </p:txBody>
      </p:sp>
      <p:sp>
        <p:nvSpPr>
          <p:cNvPr id="25" name="Shape 23"/>
          <p:cNvSpPr/>
          <p:nvPr/>
        </p:nvSpPr>
        <p:spPr>
          <a:xfrm>
            <a:off x="960120" y="5349240"/>
            <a:ext cx="10241280" cy="548640"/>
          </a:xfrm>
          <a:prstGeom prst="roundRect">
            <a:avLst>
              <a:gd name="adj" fmla="val 13333"/>
            </a:avLst>
          </a:prstGeom>
          <a:solidFill>
            <a:srgbClr val="FBEEDA"/>
          </a:solidFill>
          <a:ln w="12700">
            <a:solidFill>
              <a:srgbClr val="333333"/>
            </a:solidFill>
            <a:prstDash val="solid"/>
          </a:ln>
        </p:spPr>
        <p:txBody>
          <a:bodyPr/>
          <a:p/>
        </p:txBody>
      </p:sp>
      <p:sp>
        <p:nvSpPr>
          <p:cNvPr id="26" name="Text 24"/>
          <p:cNvSpPr/>
          <p:nvPr/>
        </p:nvSpPr>
        <p:spPr>
          <a:xfrm>
            <a:off x="960120" y="5349240"/>
            <a:ext cx="10241280" cy="548640"/>
          </a:xfrm>
          <a:prstGeom prst="rect">
            <a:avLst/>
          </a:prstGeom>
          <a:noFill/>
          <a:ln/>
        </p:spPr>
        <p:txBody>
          <a:bodyPr wrap="square" lIns="0" tIns="0" rIns="0" bIns="0" rtlCol="0" anchor="ctr"/>
          <a:lstStyle/>
          <a:p>
            <a:pPr marL="0" indent="0" algn="ctr">
              <a:buNone/>
            </a:pPr>
            <a:r>
              <a:rPr lang="en-US" sz="1400" b="1" dirty="0">
                <a:solidFill>
                  <a:srgbClr val="9C5A0B"/>
                </a:solidFill>
                <a:latin typeface="Arial" pitchFamily="34" charset="0"/>
                <a:ea typeface="Arial" pitchFamily="34" charset="-122"/>
                <a:cs typeface="Arial" pitchFamily="34" charset="-120"/>
              </a:rPr>
              <a:t>Criterion: at least a 40 °C shift across the sweep.  Result: +178.5 °C — passed.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8  ·  WORK COMPLETED &amp; REMAINING</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a:solidFill>
                  <a:srgbClr val="111111"/>
                </a:solidFill>
                <a:latin typeface="Arial" pitchFamily="34" charset="0"/>
                <a:ea typeface="Arial" pitchFamily="34" charset="-122"/>
                <a:cs typeface="Arial" pitchFamily="34" charset="-120"/>
              </a:rPr>
              <a:t>Limitations </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25</a:t>
            </a:r>
            <a:endParaRPr lang="en-US" sz="1000" dirty="0"/>
          </a:p>
        </p:txBody>
      </p:sp>
      <p:sp>
        <p:nvSpPr>
          <p:cNvPr id="6" name="Shape 4"/>
          <p:cNvSpPr/>
          <p:nvPr/>
        </p:nvSpPr>
        <p:spPr>
          <a:xfrm>
            <a:off x="960120" y="1645920"/>
            <a:ext cx="10241280" cy="786384"/>
          </a:xfrm>
          <a:prstGeom prst="roundRect">
            <a:avLst>
              <a:gd name="adj" fmla="val 9302"/>
            </a:avLst>
          </a:prstGeom>
          <a:solidFill>
            <a:srgbClr val="FBEEDA"/>
          </a:solidFill>
          <a:ln w="12700">
            <a:solidFill>
              <a:srgbClr val="333333"/>
            </a:solidFill>
            <a:prstDash val="solid"/>
          </a:ln>
        </p:spPr>
        <p:txBody>
          <a:bodyPr/>
          <a:p/>
        </p:txBody>
      </p:sp>
      <p:sp>
        <p:nvSpPr>
          <p:cNvPr id="7" name="Text 5"/>
          <p:cNvSpPr/>
          <p:nvPr/>
        </p:nvSpPr>
        <p:spPr>
          <a:xfrm>
            <a:off x="1188720" y="1645920"/>
            <a:ext cx="365760" cy="786384"/>
          </a:xfrm>
          <a:prstGeom prst="rect">
            <a:avLst/>
          </a:prstGeom>
          <a:noFill/>
          <a:ln/>
        </p:spPr>
        <p:txBody>
          <a:bodyPr wrap="square" lIns="0" tIns="0" rIns="0" bIns="0" rtlCol="0" anchor="ctr"/>
          <a:lstStyle/>
          <a:p>
            <a:pPr marL="0" indent="0" algn="ctr">
              <a:buNone/>
            </a:pPr>
            <a:r>
              <a:rPr lang="en-US" sz="1500" b="1" dirty="0">
                <a:solidFill>
                  <a:srgbClr val="9C5A0B"/>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1691640" y="1737360"/>
            <a:ext cx="9326880" cy="310896"/>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Tg resolution is approximately ±51°C</a:t>
            </a:r>
            <a:endParaRPr lang="en-US" sz="1300" dirty="0"/>
          </a:p>
        </p:txBody>
      </p:sp>
      <p:sp>
        <p:nvSpPr>
          <p:cNvPr id="9" name="Text 7"/>
          <p:cNvSpPr/>
          <p:nvPr/>
        </p:nvSpPr>
        <p:spPr>
          <a:xfrm>
            <a:off x="1691640" y="2048256"/>
            <a:ext cx="9326880" cy="329184"/>
          </a:xfrm>
          <a:prstGeom prst="rect">
            <a:avLst/>
          </a:prstGeom>
          <a:noFill/>
          <a:ln/>
        </p:spPr>
        <p:txBody>
          <a:bodyPr wrap="square" lIns="0" tIns="0" rIns="0" bIns="0" rtlCol="0" anchor="ctr"/>
          <a:lstStyle/>
          <a:p>
            <a:pPr marL="0" indent="0">
              <a:buNone/>
            </a:pPr>
            <a:r>
              <a:rPr lang="en-US" sz="1150" dirty="0">
                <a:solidFill>
                  <a:srgbClr val="2E2E2E"/>
                </a:solidFill>
                <a:latin typeface="Arial" pitchFamily="34" charset="0"/>
                <a:ea typeface="Arial" pitchFamily="34" charset="-122"/>
                <a:cs typeface="Arial" pitchFamily="34" charset="-120"/>
              </a:rPr>
              <a:t>Because only 511 measured Tg labels exist. The system distinguishes hot from cold, not 150 from 180.</a:t>
            </a:r>
            <a:endParaRPr lang="en-US" sz="1150" dirty="0"/>
          </a:p>
        </p:txBody>
      </p:sp>
      <p:sp>
        <p:nvSpPr>
          <p:cNvPr id="10" name="Shape 8"/>
          <p:cNvSpPr/>
          <p:nvPr/>
        </p:nvSpPr>
        <p:spPr>
          <a:xfrm>
            <a:off x="960120" y="2542032"/>
            <a:ext cx="10241280" cy="786384"/>
          </a:xfrm>
          <a:prstGeom prst="roundRect">
            <a:avLst>
              <a:gd name="adj" fmla="val 9302"/>
            </a:avLst>
          </a:prstGeom>
          <a:solidFill>
            <a:srgbClr val="ECECEC"/>
          </a:solidFill>
          <a:ln w="12700">
            <a:solidFill>
              <a:srgbClr val="333333"/>
            </a:solidFill>
            <a:prstDash val="solid"/>
          </a:ln>
        </p:spPr>
        <p:txBody>
          <a:bodyPr/>
          <a:p/>
        </p:txBody>
      </p:sp>
      <p:sp>
        <p:nvSpPr>
          <p:cNvPr id="11" name="Text 9"/>
          <p:cNvSpPr/>
          <p:nvPr/>
        </p:nvSpPr>
        <p:spPr>
          <a:xfrm>
            <a:off x="1188720" y="2542032"/>
            <a:ext cx="365760" cy="786384"/>
          </a:xfrm>
          <a:prstGeom prst="rect">
            <a:avLst/>
          </a:prstGeom>
          <a:noFill/>
          <a:ln/>
        </p:spPr>
        <p:txBody>
          <a:bodyPr wrap="square" lIns="0" tIns="0" rIns="0" bIns="0" rtlCol="0" anchor="ctr"/>
          <a:lstStyle/>
          <a:p>
            <a:pPr marL="0" indent="0" algn="ctr">
              <a:buNone/>
            </a:pPr>
            <a:r>
              <a:rPr lang="en-US" sz="1500" b="1" dirty="0">
                <a:solidFill>
                  <a:srgbClr val="5C5C5C"/>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1691640" y="2633472"/>
            <a:ext cx="9326880" cy="310896"/>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32.1% of PI1M is outside the Oracle applicability domain</a:t>
            </a:r>
            <a:endParaRPr lang="en-US" sz="1300" dirty="0"/>
          </a:p>
        </p:txBody>
      </p:sp>
      <p:sp>
        <p:nvSpPr>
          <p:cNvPr id="13" name="Text 11"/>
          <p:cNvSpPr/>
          <p:nvPr/>
        </p:nvSpPr>
        <p:spPr>
          <a:xfrm>
            <a:off x="1691640" y="2944368"/>
            <a:ext cx="9326880" cy="329184"/>
          </a:xfrm>
          <a:prstGeom prst="rect">
            <a:avLst/>
          </a:prstGeom>
          <a:noFill/>
          <a:ln/>
        </p:spPr>
        <p:txBody>
          <a:bodyPr wrap="square" lIns="0" tIns="0" rIns="0" bIns="0" rtlCol="0" anchor="ctr"/>
          <a:lstStyle/>
          <a:p>
            <a:pPr marL="0" indent="0">
              <a:buNone/>
            </a:pPr>
            <a:r>
              <a:rPr lang="en-US" sz="1150" dirty="0">
                <a:solidFill>
                  <a:srgbClr val="2E2E2E"/>
                </a:solidFill>
                <a:latin typeface="Arial" pitchFamily="34" charset="0"/>
                <a:ea typeface="Arial" pitchFamily="34" charset="-122"/>
                <a:cs typeface="Arial" pitchFamily="34" charset="-120"/>
              </a:rPr>
              <a:t>316,887 structures where predictions are extrapolation. These are flagged, not silently trusted.</a:t>
            </a:r>
            <a:endParaRPr lang="en-US" sz="1150" dirty="0"/>
          </a:p>
        </p:txBody>
      </p:sp>
      <p:sp>
        <p:nvSpPr>
          <p:cNvPr id="14" name="Shape 12"/>
          <p:cNvSpPr/>
          <p:nvPr/>
        </p:nvSpPr>
        <p:spPr>
          <a:xfrm>
            <a:off x="960120" y="3438144"/>
            <a:ext cx="10241280" cy="786384"/>
          </a:xfrm>
          <a:prstGeom prst="roundRect">
            <a:avLst>
              <a:gd name="adj" fmla="val 9302"/>
            </a:avLst>
          </a:prstGeom>
          <a:solidFill>
            <a:srgbClr val="FBEEDA"/>
          </a:solidFill>
          <a:ln w="12700">
            <a:solidFill>
              <a:srgbClr val="333333"/>
            </a:solidFill>
            <a:prstDash val="solid"/>
          </a:ln>
        </p:spPr>
        <p:txBody>
          <a:bodyPr/>
          <a:p/>
        </p:txBody>
      </p:sp>
      <p:sp>
        <p:nvSpPr>
          <p:cNvPr id="15" name="Text 13"/>
          <p:cNvSpPr/>
          <p:nvPr/>
        </p:nvSpPr>
        <p:spPr>
          <a:xfrm>
            <a:off x="1188720" y="3438144"/>
            <a:ext cx="365760" cy="786384"/>
          </a:xfrm>
          <a:prstGeom prst="rect">
            <a:avLst/>
          </a:prstGeom>
          <a:noFill/>
          <a:ln/>
        </p:spPr>
        <p:txBody>
          <a:bodyPr wrap="square" lIns="0" tIns="0" rIns="0" bIns="0" rtlCol="0" anchor="ctr"/>
          <a:lstStyle/>
          <a:p>
            <a:pPr marL="0" indent="0" algn="ctr">
              <a:buNone/>
            </a:pPr>
            <a:r>
              <a:rPr lang="en-US" sz="1500" b="1" dirty="0">
                <a:solidFill>
                  <a:srgbClr val="9C5A0B"/>
                </a:solidFill>
                <a:latin typeface="Arial" pitchFamily="34" charset="0"/>
                <a:ea typeface="Arial" pitchFamily="34" charset="-122"/>
                <a:cs typeface="Arial" pitchFamily="34" charset="-120"/>
              </a:rPr>
              <a:t>3</a:t>
            </a:r>
            <a:endParaRPr lang="en-US" sz="1500" dirty="0"/>
          </a:p>
        </p:txBody>
      </p:sp>
      <p:sp>
        <p:nvSpPr>
          <p:cNvPr id="16" name="Text 14"/>
          <p:cNvSpPr/>
          <p:nvPr/>
        </p:nvSpPr>
        <p:spPr>
          <a:xfrm>
            <a:off x="1691640" y="3529584"/>
            <a:ext cx="9326880" cy="310896"/>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Multi-property relationships are not experimentally validated</a:t>
            </a:r>
            <a:endParaRPr lang="en-US" sz="1300" dirty="0"/>
          </a:p>
        </p:txBody>
      </p:sp>
      <p:sp>
        <p:nvSpPr>
          <p:cNvPr id="17" name="Text 15"/>
          <p:cNvSpPr/>
          <p:nvPr/>
        </p:nvSpPr>
        <p:spPr>
          <a:xfrm>
            <a:off x="1691640" y="3840480"/>
            <a:ext cx="9326880" cy="329184"/>
          </a:xfrm>
          <a:prstGeom prst="rect">
            <a:avLst/>
          </a:prstGeom>
          <a:noFill/>
          <a:ln/>
        </p:spPr>
        <p:txBody>
          <a:bodyPr wrap="square" lIns="0" tIns="0" rIns="0" bIns="0" rtlCol="0" anchor="ctr"/>
          <a:lstStyle/>
          <a:p>
            <a:pPr marL="0" indent="0">
              <a:buNone/>
            </a:pPr>
            <a:r>
              <a:rPr lang="en-US" sz="1150" dirty="0">
                <a:solidFill>
                  <a:srgbClr val="2E2E2E"/>
                </a:solidFill>
                <a:latin typeface="Arial" pitchFamily="34" charset="0"/>
                <a:ea typeface="Arial" pitchFamily="34" charset="-122"/>
                <a:cs typeface="Arial" pitchFamily="34" charset="-120"/>
              </a:rPr>
              <a:t>Tg and FFV overlap on exactly one molecule, so no measured basis exists for their joint behaviour.</a:t>
            </a:r>
            <a:endParaRPr lang="en-US" sz="1150" dirty="0"/>
          </a:p>
        </p:txBody>
      </p:sp>
      <p:sp>
        <p:nvSpPr>
          <p:cNvPr id="18" name="Shape 16"/>
          <p:cNvSpPr/>
          <p:nvPr/>
        </p:nvSpPr>
        <p:spPr>
          <a:xfrm>
            <a:off x="960120" y="4334256"/>
            <a:ext cx="10241280" cy="786384"/>
          </a:xfrm>
          <a:prstGeom prst="roundRect">
            <a:avLst>
              <a:gd name="adj" fmla="val 9302"/>
            </a:avLst>
          </a:prstGeom>
          <a:solidFill>
            <a:srgbClr val="ECECEC"/>
          </a:solidFill>
          <a:ln w="12700">
            <a:solidFill>
              <a:srgbClr val="333333"/>
            </a:solidFill>
            <a:prstDash val="solid"/>
          </a:ln>
        </p:spPr>
        <p:txBody>
          <a:bodyPr/>
          <a:p/>
        </p:txBody>
      </p:sp>
      <p:sp>
        <p:nvSpPr>
          <p:cNvPr id="19" name="Text 17"/>
          <p:cNvSpPr/>
          <p:nvPr/>
        </p:nvSpPr>
        <p:spPr>
          <a:xfrm>
            <a:off x="1188720" y="4334256"/>
            <a:ext cx="365760" cy="786384"/>
          </a:xfrm>
          <a:prstGeom prst="rect">
            <a:avLst/>
          </a:prstGeom>
          <a:noFill/>
          <a:ln/>
        </p:spPr>
        <p:txBody>
          <a:bodyPr wrap="square" lIns="0" tIns="0" rIns="0" bIns="0" rtlCol="0" anchor="ctr"/>
          <a:lstStyle/>
          <a:p>
            <a:pPr marL="0" indent="0" algn="ctr">
              <a:buNone/>
            </a:pPr>
            <a:r>
              <a:rPr lang="en-US" sz="1500" b="1" dirty="0">
                <a:solidFill>
                  <a:srgbClr val="5C5C5C"/>
                </a:solidFill>
                <a:latin typeface="Arial" pitchFamily="34" charset="0"/>
                <a:ea typeface="Arial" pitchFamily="34" charset="-122"/>
                <a:cs typeface="Arial" pitchFamily="34" charset="-120"/>
              </a:rPr>
              <a:t>4</a:t>
            </a:r>
            <a:endParaRPr lang="en-US" sz="1500" dirty="0"/>
          </a:p>
        </p:txBody>
      </p:sp>
      <p:sp>
        <p:nvSpPr>
          <p:cNvPr id="20" name="Text 18"/>
          <p:cNvSpPr/>
          <p:nvPr/>
        </p:nvSpPr>
        <p:spPr>
          <a:xfrm>
            <a:off x="1691640" y="4425696"/>
            <a:ext cx="9326880" cy="310896"/>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C-VAE conditioning is Oracle-validated, not lab-verified</a:t>
            </a:r>
            <a:endParaRPr lang="en-US" sz="1300" dirty="0"/>
          </a:p>
        </p:txBody>
      </p:sp>
      <p:sp>
        <p:nvSpPr>
          <p:cNvPr id="21" name="Text 19"/>
          <p:cNvSpPr/>
          <p:nvPr/>
        </p:nvSpPr>
        <p:spPr>
          <a:xfrm>
            <a:off x="1691640" y="4736592"/>
            <a:ext cx="9326880" cy="329184"/>
          </a:xfrm>
          <a:prstGeom prst="rect">
            <a:avLst/>
          </a:prstGeom>
          <a:noFill/>
          <a:ln/>
        </p:spPr>
        <p:txBody>
          <a:bodyPr wrap="square" lIns="0" tIns="0" rIns="0" bIns="0" rtlCol="0" anchor="ctr"/>
          <a:lstStyle/>
          <a:p>
            <a:pPr marL="0" indent="0">
              <a:buNone/>
            </a:pPr>
            <a:r>
              <a:rPr lang="en-US" sz="1150" dirty="0">
                <a:solidFill>
                  <a:srgbClr val="2E2E2E"/>
                </a:solidFill>
                <a:latin typeface="Arial" pitchFamily="34" charset="0"/>
                <a:ea typeface="Arial" pitchFamily="34" charset="-122"/>
                <a:cs typeface="Arial" pitchFamily="34" charset="-120"/>
              </a:rPr>
              <a:t>Proven in simulation (+178.5 °C across the sweep); every value is an Oracle prediction, not a measurement.</a:t>
            </a:r>
            <a:endParaRPr lang="en-US" sz="1150" dirty="0"/>
          </a:p>
        </p:txBody>
      </p:sp>
      <p:sp>
        <p:nvSpPr>
          <p:cNvPr id="22" name="Shape 20"/>
          <p:cNvSpPr/>
          <p:nvPr/>
        </p:nvSpPr>
        <p:spPr>
          <a:xfrm>
            <a:off x="960120" y="5230368"/>
            <a:ext cx="10241280" cy="786384"/>
          </a:xfrm>
          <a:prstGeom prst="roundRect">
            <a:avLst>
              <a:gd name="adj" fmla="val 9302"/>
            </a:avLst>
          </a:prstGeom>
          <a:solidFill>
            <a:srgbClr val="FBEEDA"/>
          </a:solidFill>
          <a:ln w="12700">
            <a:solidFill>
              <a:srgbClr val="333333"/>
            </a:solidFill>
            <a:prstDash val="solid"/>
          </a:ln>
        </p:spPr>
        <p:txBody>
          <a:bodyPr/>
          <a:p/>
        </p:txBody>
      </p:sp>
      <p:sp>
        <p:nvSpPr>
          <p:cNvPr id="23" name="Text 21"/>
          <p:cNvSpPr/>
          <p:nvPr/>
        </p:nvSpPr>
        <p:spPr>
          <a:xfrm>
            <a:off x="1188720" y="5230368"/>
            <a:ext cx="365760" cy="786384"/>
          </a:xfrm>
          <a:prstGeom prst="rect">
            <a:avLst/>
          </a:prstGeom>
          <a:noFill/>
          <a:ln/>
        </p:spPr>
        <p:txBody>
          <a:bodyPr wrap="square" lIns="0" tIns="0" rIns="0" bIns="0" rtlCol="0" anchor="ctr"/>
          <a:lstStyle/>
          <a:p>
            <a:pPr marL="0" indent="0" algn="ctr">
              <a:buNone/>
            </a:pPr>
            <a:r>
              <a:rPr lang="en-US" sz="1500" b="1" dirty="0">
                <a:solidFill>
                  <a:srgbClr val="9C5A0B"/>
                </a:solidFill>
                <a:latin typeface="Arial" pitchFamily="34" charset="0"/>
                <a:ea typeface="Arial" pitchFamily="34" charset="-122"/>
                <a:cs typeface="Arial" pitchFamily="34" charset="-120"/>
              </a:rPr>
              <a:t>5</a:t>
            </a:r>
            <a:endParaRPr lang="en-US" sz="1500" dirty="0"/>
          </a:p>
        </p:txBody>
      </p:sp>
      <p:sp>
        <p:nvSpPr>
          <p:cNvPr id="24" name="Text 22"/>
          <p:cNvSpPr/>
          <p:nvPr/>
        </p:nvSpPr>
        <p:spPr>
          <a:xfrm>
            <a:off x="1691640" y="5321808"/>
            <a:ext cx="9326880" cy="310896"/>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SELFIES validity does not guarantee valid polymer connectivity</a:t>
            </a:r>
            <a:endParaRPr lang="en-US" sz="1300" dirty="0"/>
          </a:p>
        </p:txBody>
      </p:sp>
      <p:sp>
        <p:nvSpPr>
          <p:cNvPr id="25" name="Text 23"/>
          <p:cNvSpPr/>
          <p:nvPr/>
        </p:nvSpPr>
        <p:spPr>
          <a:xfrm>
            <a:off x="1691640" y="5632704"/>
            <a:ext cx="9326880" cy="329184"/>
          </a:xfrm>
          <a:prstGeom prst="rect">
            <a:avLst/>
          </a:prstGeom>
          <a:noFill/>
          <a:ln/>
        </p:spPr>
        <p:txBody>
          <a:bodyPr wrap="square" lIns="0" tIns="0" rIns="0" bIns="0" rtlCol="0" anchor="ctr"/>
          <a:lstStyle/>
          <a:p>
            <a:pPr marL="0" indent="0">
              <a:buNone/>
            </a:pPr>
            <a:r>
              <a:rPr lang="en-US" sz="1150" dirty="0">
                <a:solidFill>
                  <a:srgbClr val="2E2E2E"/>
                </a:solidFill>
                <a:latin typeface="Arial" pitchFamily="34" charset="0"/>
                <a:ea typeface="Arial" pitchFamily="34" charset="-122"/>
                <a:cs typeface="Arial" pitchFamily="34" charset="-120"/>
              </a:rPr>
              <a:t>A decoded string is a valid molecule, but exactly two chain endpoints are a separate check.</a:t>
            </a:r>
            <a:endParaRPr lang="en-US" sz="1150" dirty="0"/>
          </a:p>
        </p:txBody>
      </p:sp>
      <p:sp>
        <p:nvSpPr>
          <p:cNvPr id="26" name="Text 24"/>
          <p:cNvSpPr/>
          <p:nvPr/>
        </p:nvSpPr>
        <p:spPr>
          <a:xfrm>
            <a:off x="960120" y="6144768"/>
            <a:ext cx="10241280" cy="274320"/>
          </a:xfrm>
          <a:prstGeom prst="rect">
            <a:avLst/>
          </a:prstGeom>
          <a:noFill/>
          <a:ln/>
        </p:spPr>
        <p:txBody>
          <a:bodyPr wrap="square" lIns="0" tIns="0" rIns="0" bIns="0" rtlCol="0" anchor="ctr"/>
          <a:lstStyle/>
          <a:p>
            <a:pPr marL="0" indent="0" algn="ctr">
              <a:buNone/>
            </a:pPr>
            <a:r>
              <a:rPr lang="en-US" sz="1150" i="1" dirty="0">
                <a:solidFill>
                  <a:srgbClr val="5C5C5C"/>
                </a:solidFill>
                <a:latin typeface="Arial" pitchFamily="34" charset="0"/>
                <a:ea typeface="Arial" pitchFamily="34" charset="-122"/>
                <a:cs typeface="Arial" pitchFamily="34" charset="-120"/>
              </a:rPr>
              <a:t>Stating these explicitly is part of the contribution, not a caveat to it.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Key Takeaway</a:t>
            </a:r>
            <a:endParaRPr lang="en-US" sz="2900" dirty="0"/>
          </a:p>
        </p:txBody>
      </p:sp>
      <p:sp>
        <p:nvSpPr>
          <p:cNvPr id="4" name="Text 2"/>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26</a:t>
            </a:r>
            <a:endParaRPr lang="en-US" sz="1000" dirty="0"/>
          </a:p>
        </p:txBody>
      </p:sp>
      <p:sp>
        <p:nvSpPr>
          <p:cNvPr id="5" name="Shape 3"/>
          <p:cNvSpPr/>
          <p:nvPr/>
        </p:nvSpPr>
        <p:spPr>
          <a:xfrm>
            <a:off x="1143000" y="1828800"/>
            <a:ext cx="2194560" cy="1051560"/>
          </a:xfrm>
          <a:prstGeom prst="roundRect">
            <a:avLst>
              <a:gd name="adj" fmla="val 6957"/>
            </a:avLst>
          </a:prstGeom>
          <a:solidFill>
            <a:srgbClr val="ECECEC"/>
          </a:solidFill>
          <a:ln w="12700">
            <a:solidFill>
              <a:srgbClr val="333333"/>
            </a:solidFill>
            <a:prstDash val="solid"/>
          </a:ln>
        </p:spPr>
        <p:txBody>
          <a:bodyPr/>
          <a:p/>
        </p:txBody>
      </p:sp>
      <p:sp>
        <p:nvSpPr>
          <p:cNvPr id="6" name="Text 4"/>
          <p:cNvSpPr/>
          <p:nvPr/>
        </p:nvSpPr>
        <p:spPr>
          <a:xfrm>
            <a:off x="1216152" y="1828800"/>
            <a:ext cx="2048256" cy="1051560"/>
          </a:xfrm>
          <a:prstGeom prst="rect">
            <a:avLst/>
          </a:prstGeom>
          <a:noFill/>
          <a:ln/>
        </p:spPr>
        <p:txBody>
          <a:bodyPr wrap="square" lIns="0" tIns="0" rIns="0" bIns="0" rtlCol="0" anchor="ctr"/>
          <a:lstStyle/>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Natural-language</a:t>
            </a:r>
            <a:endParaRPr lang="en-US" sz="1250" dirty="0"/>
          </a:p>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understanding</a:t>
            </a:r>
            <a:endParaRPr lang="en-US" sz="1250" dirty="0"/>
          </a:p>
        </p:txBody>
      </p:sp>
      <p:sp>
        <p:nvSpPr>
          <p:cNvPr id="7" name="Text 5"/>
          <p:cNvSpPr/>
          <p:nvPr/>
        </p:nvSpPr>
        <p:spPr>
          <a:xfrm>
            <a:off x="3355848" y="2148840"/>
            <a:ext cx="365760" cy="411480"/>
          </a:xfrm>
          <a:prstGeom prst="rect">
            <a:avLst/>
          </a:prstGeom>
          <a:noFill/>
          <a:ln/>
        </p:spPr>
        <p:txBody>
          <a:bodyPr wrap="square" lIns="0" tIns="0" rIns="0" bIns="0" rtlCol="0" anchor="ctr"/>
          <a:lstStyle/>
          <a:p>
            <a:pPr marL="0" indent="0" algn="ctr">
              <a:buNone/>
            </a:pPr>
            <a:r>
              <a:rPr lang="en-US" sz="2000" b="1" dirty="0">
                <a:solidFill>
                  <a:srgbClr val="5C5C5C"/>
                </a:solidFill>
                <a:latin typeface="Arial" pitchFamily="34" charset="0"/>
                <a:ea typeface="Arial" pitchFamily="34" charset="-122"/>
                <a:cs typeface="Arial" pitchFamily="34" charset="-120"/>
              </a:rPr>
              <a:t>+</a:t>
            </a:r>
            <a:endParaRPr lang="en-US" sz="2000" dirty="0"/>
          </a:p>
        </p:txBody>
      </p:sp>
      <p:sp>
        <p:nvSpPr>
          <p:cNvPr id="8" name="Shape 6"/>
          <p:cNvSpPr/>
          <p:nvPr/>
        </p:nvSpPr>
        <p:spPr>
          <a:xfrm>
            <a:off x="3749040" y="1828800"/>
            <a:ext cx="2194560" cy="1051560"/>
          </a:xfrm>
          <a:prstGeom prst="roundRect">
            <a:avLst>
              <a:gd name="adj" fmla="val 6957"/>
            </a:avLst>
          </a:prstGeom>
          <a:solidFill>
            <a:srgbClr val="DCF2E4"/>
          </a:solidFill>
          <a:ln w="12700">
            <a:solidFill>
              <a:srgbClr val="333333"/>
            </a:solidFill>
            <a:prstDash val="solid"/>
          </a:ln>
        </p:spPr>
        <p:txBody>
          <a:bodyPr/>
          <a:p/>
        </p:txBody>
      </p:sp>
      <p:sp>
        <p:nvSpPr>
          <p:cNvPr id="9" name="Text 7"/>
          <p:cNvSpPr/>
          <p:nvPr/>
        </p:nvSpPr>
        <p:spPr>
          <a:xfrm>
            <a:off x="3822192" y="1828800"/>
            <a:ext cx="2048256" cy="1051560"/>
          </a:xfrm>
          <a:prstGeom prst="rect">
            <a:avLst/>
          </a:prstGeom>
          <a:noFill/>
          <a:ln/>
        </p:spPr>
        <p:txBody>
          <a:bodyPr wrap="square" lIns="0" tIns="0" rIns="0" bIns="0" rtlCol="0" anchor="ctr"/>
          <a:lstStyle/>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Polymer</a:t>
            </a:r>
            <a:endParaRPr lang="en-US" sz="1250" dirty="0"/>
          </a:p>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generation</a:t>
            </a:r>
            <a:endParaRPr lang="en-US" sz="1250" dirty="0"/>
          </a:p>
        </p:txBody>
      </p:sp>
      <p:sp>
        <p:nvSpPr>
          <p:cNvPr id="10" name="Text 8"/>
          <p:cNvSpPr/>
          <p:nvPr/>
        </p:nvSpPr>
        <p:spPr>
          <a:xfrm>
            <a:off x="5961888" y="2148840"/>
            <a:ext cx="365760" cy="411480"/>
          </a:xfrm>
          <a:prstGeom prst="rect">
            <a:avLst/>
          </a:prstGeom>
          <a:noFill/>
          <a:ln/>
        </p:spPr>
        <p:txBody>
          <a:bodyPr wrap="square" lIns="0" tIns="0" rIns="0" bIns="0" rtlCol="0" anchor="ctr"/>
          <a:lstStyle/>
          <a:p>
            <a:pPr marL="0" indent="0" algn="ctr">
              <a:buNone/>
            </a:pPr>
            <a:r>
              <a:rPr lang="en-US" sz="2000" b="1" dirty="0">
                <a:solidFill>
                  <a:srgbClr val="5C5C5C"/>
                </a:solidFill>
                <a:latin typeface="Arial" pitchFamily="34" charset="0"/>
                <a:ea typeface="Arial" pitchFamily="34" charset="-122"/>
                <a:cs typeface="Arial" pitchFamily="34" charset="-120"/>
              </a:rPr>
              <a:t>+</a:t>
            </a:r>
            <a:endParaRPr lang="en-US" sz="2000" dirty="0"/>
          </a:p>
        </p:txBody>
      </p:sp>
      <p:sp>
        <p:nvSpPr>
          <p:cNvPr id="11" name="Shape 9"/>
          <p:cNvSpPr/>
          <p:nvPr/>
        </p:nvSpPr>
        <p:spPr>
          <a:xfrm>
            <a:off x="6355080" y="1828800"/>
            <a:ext cx="2194560" cy="1051560"/>
          </a:xfrm>
          <a:prstGeom prst="roundRect">
            <a:avLst>
              <a:gd name="adj" fmla="val 6957"/>
            </a:avLst>
          </a:prstGeom>
          <a:solidFill>
            <a:srgbClr val="DCF2E4"/>
          </a:solidFill>
          <a:ln w="12700">
            <a:solidFill>
              <a:srgbClr val="333333"/>
            </a:solidFill>
            <a:prstDash val="solid"/>
          </a:ln>
        </p:spPr>
        <p:txBody>
          <a:bodyPr/>
          <a:p/>
        </p:txBody>
      </p:sp>
      <p:sp>
        <p:nvSpPr>
          <p:cNvPr id="12" name="Text 10"/>
          <p:cNvSpPr/>
          <p:nvPr/>
        </p:nvSpPr>
        <p:spPr>
          <a:xfrm>
            <a:off x="6428232" y="1828800"/>
            <a:ext cx="2048256" cy="1051560"/>
          </a:xfrm>
          <a:prstGeom prst="rect">
            <a:avLst/>
          </a:prstGeom>
          <a:noFill/>
          <a:ln/>
        </p:spPr>
        <p:txBody>
          <a:bodyPr wrap="square" lIns="0" tIns="0" rIns="0" bIns="0" rtlCol="0" anchor="ctr"/>
          <a:lstStyle/>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Property</a:t>
            </a:r>
            <a:endParaRPr lang="en-US" sz="1250" dirty="0"/>
          </a:p>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prediction</a:t>
            </a:r>
            <a:endParaRPr lang="en-US" sz="1250" dirty="0"/>
          </a:p>
        </p:txBody>
      </p:sp>
      <p:sp>
        <p:nvSpPr>
          <p:cNvPr id="13" name="Text 11"/>
          <p:cNvSpPr/>
          <p:nvPr/>
        </p:nvSpPr>
        <p:spPr>
          <a:xfrm>
            <a:off x="8567928" y="2148840"/>
            <a:ext cx="365760" cy="411480"/>
          </a:xfrm>
          <a:prstGeom prst="rect">
            <a:avLst/>
          </a:prstGeom>
          <a:noFill/>
          <a:ln/>
        </p:spPr>
        <p:txBody>
          <a:bodyPr wrap="square" lIns="0" tIns="0" rIns="0" bIns="0" rtlCol="0" anchor="ctr"/>
          <a:lstStyle/>
          <a:p>
            <a:pPr marL="0" indent="0" algn="ctr">
              <a:buNone/>
            </a:pPr>
            <a:r>
              <a:rPr lang="en-US" sz="2000" b="1" dirty="0">
                <a:solidFill>
                  <a:srgbClr val="5C5C5C"/>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8961120" y="1828800"/>
            <a:ext cx="2194560" cy="1051560"/>
          </a:xfrm>
          <a:prstGeom prst="roundRect">
            <a:avLst>
              <a:gd name="adj" fmla="val 6957"/>
            </a:avLst>
          </a:prstGeom>
          <a:solidFill>
            <a:srgbClr val="E3EDF8"/>
          </a:solidFill>
          <a:ln w="12700">
            <a:solidFill>
              <a:srgbClr val="333333"/>
            </a:solidFill>
            <a:prstDash val="solid"/>
          </a:ln>
        </p:spPr>
        <p:txBody>
          <a:bodyPr/>
          <a:p/>
        </p:txBody>
      </p:sp>
      <p:sp>
        <p:nvSpPr>
          <p:cNvPr id="15" name="Text 13"/>
          <p:cNvSpPr/>
          <p:nvPr/>
        </p:nvSpPr>
        <p:spPr>
          <a:xfrm>
            <a:off x="9034272" y="1828800"/>
            <a:ext cx="2048256" cy="1051560"/>
          </a:xfrm>
          <a:prstGeom prst="rect">
            <a:avLst/>
          </a:prstGeom>
          <a:noFill/>
          <a:ln/>
        </p:spPr>
        <p:txBody>
          <a:bodyPr wrap="square" lIns="0" tIns="0" rIns="0" bIns="0" rtlCol="0" anchor="ctr"/>
          <a:lstStyle/>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Uncertainty-aware</a:t>
            </a:r>
            <a:endParaRPr lang="en-US" sz="1250" dirty="0"/>
          </a:p>
          <a:p>
            <a:pPr marL="0" indent="0" algn="ctr">
              <a:lnSpc>
                <a:spcPts val="1563"/>
              </a:lnSpc>
              <a:buNone/>
            </a:pPr>
            <a:r>
              <a:rPr lang="en-US" sz="1250" b="1" dirty="0">
                <a:solidFill>
                  <a:srgbClr val="111111"/>
                </a:solidFill>
                <a:latin typeface="Arial" pitchFamily="34" charset="0"/>
                <a:ea typeface="Arial" pitchFamily="34" charset="-122"/>
                <a:cs typeface="Arial" pitchFamily="34" charset="-120"/>
              </a:rPr>
              <a:t>validation</a:t>
            </a:r>
            <a:endParaRPr lang="en-US" sz="1250" dirty="0"/>
          </a:p>
        </p:txBody>
      </p:sp>
      <p:sp>
        <p:nvSpPr>
          <p:cNvPr id="16" name="Shape 14"/>
          <p:cNvSpPr/>
          <p:nvPr/>
        </p:nvSpPr>
        <p:spPr>
          <a:xfrm>
            <a:off x="960120" y="3200400"/>
            <a:ext cx="10241280" cy="1143000"/>
          </a:xfrm>
          <a:prstGeom prst="roundRect">
            <a:avLst>
              <a:gd name="adj" fmla="val 6400"/>
            </a:avLst>
          </a:prstGeom>
          <a:solidFill>
            <a:srgbClr val="DCF2E4"/>
          </a:solidFill>
          <a:ln w="12700">
            <a:solidFill>
              <a:srgbClr val="333333"/>
            </a:solidFill>
            <a:prstDash val="solid"/>
          </a:ln>
        </p:spPr>
        <p:txBody>
          <a:bodyPr/>
          <a:p/>
        </p:txBody>
      </p:sp>
      <p:sp>
        <p:nvSpPr>
          <p:cNvPr id="17" name="Text 15"/>
          <p:cNvSpPr/>
          <p:nvPr/>
        </p:nvSpPr>
        <p:spPr>
          <a:xfrm>
            <a:off x="960120" y="3310128"/>
            <a:ext cx="10241280" cy="274320"/>
          </a:xfrm>
          <a:prstGeom prst="rect">
            <a:avLst/>
          </a:prstGeom>
          <a:noFill/>
          <a:ln/>
        </p:spPr>
        <p:txBody>
          <a:bodyPr wrap="square" lIns="0" tIns="0" rIns="0" bIns="0" rtlCol="0" anchor="ctr"/>
          <a:lstStyle/>
          <a:p>
            <a:pPr marL="0" indent="0" algn="ctr">
              <a:buNone/>
            </a:pPr>
            <a:r>
              <a:rPr lang="en-US" sz="1150" b="1" dirty="0">
                <a:solidFill>
                  <a:srgbClr val="156B33"/>
                </a:solidFill>
                <a:latin typeface="Arial" pitchFamily="34" charset="0"/>
                <a:ea typeface="Arial" pitchFamily="34" charset="-122"/>
                <a:cs typeface="Arial" pitchFamily="34" charset="-120"/>
              </a:rPr>
              <a:t>Main contribution</a:t>
            </a:r>
            <a:endParaRPr lang="en-US" sz="1150" dirty="0"/>
          </a:p>
        </p:txBody>
      </p:sp>
      <p:sp>
        <p:nvSpPr>
          <p:cNvPr id="18" name="Text 16"/>
          <p:cNvSpPr/>
          <p:nvPr/>
        </p:nvSpPr>
        <p:spPr>
          <a:xfrm>
            <a:off x="960120" y="3584448"/>
            <a:ext cx="10241280" cy="640080"/>
          </a:xfrm>
          <a:prstGeom prst="rect">
            <a:avLst/>
          </a:prstGeom>
          <a:noFill/>
          <a:ln/>
        </p:spPr>
        <p:txBody>
          <a:bodyPr wrap="square" lIns="0" tIns="0" rIns="0" bIns="0" rtlCol="0" anchor="ctr"/>
          <a:lstStyle/>
          <a:p>
            <a:pPr marL="0" indent="0" algn="ctr">
              <a:lnSpc>
                <a:spcPts val="2400"/>
              </a:lnSpc>
              <a:buNone/>
            </a:pPr>
            <a:r>
              <a:rPr lang="en-US" sz="1800" b="1" dirty="0">
                <a:solidFill>
                  <a:srgbClr val="111111"/>
                </a:solidFill>
                <a:latin typeface="Arial" pitchFamily="34" charset="0"/>
                <a:ea typeface="Arial" pitchFamily="34" charset="-122"/>
                <a:cs typeface="Arial" pitchFamily="34" charset="-120"/>
              </a:rPr>
              <a:t>A natural-language, literature-grounded (RAG) inverse-design interface with validated conditioning and explicit uncertainty.</a:t>
            </a:r>
            <a:endParaRPr lang="en-US" sz="1800" dirty="0"/>
          </a:p>
        </p:txBody>
      </p:sp>
      <p:sp>
        <p:nvSpPr>
          <p:cNvPr id="19" name="Shape 17"/>
          <p:cNvSpPr/>
          <p:nvPr/>
        </p:nvSpPr>
        <p:spPr>
          <a:xfrm>
            <a:off x="960120" y="4617720"/>
            <a:ext cx="10241280" cy="1234440"/>
          </a:xfrm>
          <a:prstGeom prst="roundRect">
            <a:avLst>
              <a:gd name="adj" fmla="val 5926"/>
            </a:avLst>
          </a:prstGeom>
          <a:solidFill>
            <a:srgbClr val="FBEEDA"/>
          </a:solidFill>
          <a:ln w="12700">
            <a:solidFill>
              <a:srgbClr val="333333"/>
            </a:solidFill>
            <a:prstDash val="solid"/>
          </a:ln>
        </p:spPr>
        <p:txBody>
          <a:bodyPr/>
          <a:p/>
        </p:txBody>
      </p:sp>
      <p:sp>
        <p:nvSpPr>
          <p:cNvPr id="20" name="Text 18"/>
          <p:cNvSpPr/>
          <p:nvPr/>
        </p:nvSpPr>
        <p:spPr>
          <a:xfrm>
            <a:off x="960120" y="4736592"/>
            <a:ext cx="10241280" cy="274320"/>
          </a:xfrm>
          <a:prstGeom prst="rect">
            <a:avLst/>
          </a:prstGeom>
          <a:noFill/>
          <a:ln/>
        </p:spPr>
        <p:txBody>
          <a:bodyPr wrap="square" lIns="0" tIns="0" rIns="0" bIns="0" rtlCol="0" anchor="ctr"/>
          <a:lstStyle/>
          <a:p>
            <a:pPr marL="0" indent="0" algn="ctr">
              <a:buNone/>
            </a:pPr>
            <a:r>
              <a:rPr lang="en-US" sz="1150" b="1" dirty="0">
                <a:solidFill>
                  <a:srgbClr val="9C5A0B"/>
                </a:solidFill>
                <a:latin typeface="Arial" pitchFamily="34" charset="0"/>
                <a:ea typeface="Arial" pitchFamily="34" charset="-122"/>
                <a:cs typeface="Arial" pitchFamily="34" charset="-120"/>
              </a:rPr>
              <a:t>What comes next</a:t>
            </a:r>
            <a:endParaRPr lang="en-US" sz="1150" dirty="0"/>
          </a:p>
        </p:txBody>
      </p:sp>
      <p:sp>
        <p:nvSpPr>
          <p:cNvPr id="21" name="Text 19"/>
          <p:cNvSpPr/>
          <p:nvPr/>
        </p:nvSpPr>
        <p:spPr>
          <a:xfrm>
            <a:off x="960120" y="5010912"/>
            <a:ext cx="10241280" cy="365760"/>
          </a:xfrm>
          <a:prstGeom prst="rect">
            <a:avLst/>
          </a:prstGeom>
          <a:noFill/>
          <a:ln/>
        </p:spPr>
        <p:txBody>
          <a:bodyPr wrap="square" lIns="0" tIns="0" rIns="0" bIns="0" rtlCol="0" anchor="ctr"/>
          <a:lstStyle/>
          <a:p>
            <a:pPr marL="0" indent="0" algn="ctr">
              <a:buNone/>
            </a:pPr>
            <a:r>
              <a:rPr lang="en-US" sz="1700" b="1" dirty="0">
                <a:solidFill>
                  <a:srgbClr val="111111"/>
                </a:solidFill>
                <a:latin typeface="Arial" pitchFamily="34" charset="0"/>
                <a:ea typeface="Arial" pitchFamily="34" charset="-122"/>
                <a:cs typeface="Arial" pitchFamily="34" charset="-120"/>
              </a:rPr>
              <a:t>Experimental (lab) validation of the generated candidates</a:t>
            </a:r>
            <a:endParaRPr lang="en-US" sz="1700" dirty="0"/>
          </a:p>
        </p:txBody>
      </p:sp>
      <p:sp>
        <p:nvSpPr>
          <p:cNvPr id="22" name="Text 20"/>
          <p:cNvSpPr/>
          <p:nvPr/>
        </p:nvSpPr>
        <p:spPr>
          <a:xfrm>
            <a:off x="960120" y="5394960"/>
            <a:ext cx="10241280" cy="320040"/>
          </a:xfrm>
          <a:prstGeom prst="rect">
            <a:avLst/>
          </a:prstGeom>
          <a:noFill/>
          <a:ln/>
        </p:spPr>
        <p:txBody>
          <a:bodyPr wrap="square" lIns="0" tIns="0" rIns="0" bIns="0" rtlCol="0" anchor="ctr"/>
          <a:lstStyle/>
          <a:p>
            <a:pPr marL="0" indent="0" algn="ctr">
              <a:buNone/>
            </a:pPr>
            <a:r>
              <a:rPr lang="en-US" sz="1250" dirty="0">
                <a:solidFill>
                  <a:srgbClr val="2E2E2E"/>
                </a:solidFill>
                <a:latin typeface="Arial" pitchFamily="34" charset="0"/>
                <a:ea typeface="Arial" pitchFamily="34" charset="-122"/>
                <a:cs typeface="Arial" pitchFamily="34" charset="-120"/>
              </a:rPr>
              <a:t>Conditioning is validated — the generator provably follows property targets (+178.5 °C across the sweep).</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9BE3A8"/>
        </a:solidFill>
        <a:effectLst/>
      </p:bgPr>
    </p:bg>
    <p:spTree>
      <p:nvGrpSpPr>
        <p:cNvPr id="1" name=""/>
        <p:cNvGrpSpPr/>
        <p:nvPr/>
      </p:nvGrpSpPr>
      <p:grpSpPr>
        <a:xfrm>
          <a:off x="0" y="0"/>
          <a:ext cx="0" cy="0"/>
          <a:chOff x="0" y="0"/>
          <a:chExt cx="0" cy="0"/>
        </a:xfrm>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914400" y="2377440"/>
            <a:ext cx="10360152" cy="2057400"/>
          </a:xfrm>
          <a:prstGeom prst="rect">
            <a:avLst/>
          </a:prstGeom>
          <a:noFill/>
          <a:ln/>
        </p:spPr>
        <p:txBody>
          <a:bodyPr wrap="square" lIns="0" tIns="0" rIns="0" bIns="0" rtlCol="0" anchor="ctr"/>
          <a:lstStyle/>
          <a:p>
            <a:pPr marL="0" indent="0" algn="ctr">
              <a:buNone/>
            </a:pPr>
            <a:r>
              <a:rPr lang="en-US" sz="4600" b="1" dirty="0">
                <a:solidFill>
                  <a:srgbClr val="111111"/>
                </a:solidFill>
                <a:latin typeface="Arial" pitchFamily="34" charset="0"/>
                <a:ea typeface="Arial" pitchFamily="34" charset="-122"/>
                <a:cs typeface="Arial" pitchFamily="34" charset="-120"/>
              </a:rPr>
              <a:t>Thank You</a:t>
            </a:r>
            <a:endParaRPr lang="en-US" sz="4600" dirty="0"/>
          </a:p>
        </p:txBody>
      </p:sp>
      <p:sp>
        <p:nvSpPr>
          <p:cNvPr id="4" name="Text 2"/>
          <p:cNvSpPr/>
          <p:nvPr/>
        </p:nvSpPr>
        <p:spPr>
          <a:xfrm>
            <a:off x="914400" y="3383280"/>
            <a:ext cx="10360152" cy="548640"/>
          </a:xfrm>
          <a:prstGeom prst="rect">
            <a:avLst/>
          </a:prstGeom>
          <a:noFill/>
          <a:ln/>
        </p:spPr>
        <p:txBody>
          <a:bodyPr wrap="square" lIns="0" tIns="0" rIns="0" bIns="0" rtlCol="0" anchor="ctr"/>
          <a:lstStyle/>
          <a:p>
            <a:pPr marL="0" indent="0" algn="ctr">
              <a:buNone/>
            </a:pPr>
            <a:endParaRPr lang="en-US" sz="2400" dirty="0"/>
          </a:p>
        </p:txBody>
      </p:sp>
      <p:sp>
        <p:nvSpPr>
          <p:cNvPr id="5" name="Shape 3"/>
          <p:cNvSpPr/>
          <p:nvPr/>
        </p:nvSpPr>
        <p:spPr>
          <a:xfrm>
            <a:off x="5641848" y="4206240"/>
            <a:ext cx="914400" cy="41148"/>
          </a:xfrm>
          <a:prstGeom prst="rect">
            <a:avLst/>
          </a:prstGeom>
          <a:solidFill>
            <a:srgbClr val="156B33"/>
          </a:solidFill>
          <a:ln w="12700">
            <a:solidFill>
              <a:srgbClr val="333333"/>
            </a:solidFill>
            <a:prstDash val="solid"/>
          </a:ln>
        </p:spPr>
        <p:txBody>
          <a:bodyPr/>
          <a:p/>
        </p:txBody>
      </p:sp>
      <p:sp>
        <p:nvSpPr>
          <p:cNvPr id="6" name="Text 4"/>
          <p:cNvSpPr/>
          <p:nvPr/>
        </p:nvSpPr>
        <p:spPr>
          <a:xfrm>
            <a:off x="914400" y="4434840"/>
            <a:ext cx="10360152" cy="365760"/>
          </a:xfrm>
          <a:prstGeom prst="rect">
            <a:avLst/>
          </a:prstGeom>
          <a:noFill/>
          <a:ln/>
        </p:spPr>
        <p:txBody>
          <a:bodyPr wrap="square" lIns="0" tIns="0" rIns="0" bIns="0" rtlCol="0" anchor="ctr"/>
          <a:lstStyle/>
          <a:p>
            <a:pPr marL="0" indent="0" algn="ctr">
              <a:buNone/>
            </a:pPr>
            <a:endParaRPr lang="en-US" sz="13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9BE3A8"/>
        </a:solidFill>
        <a:effectLst/>
      </p:bgPr>
    </p:bg>
    <p:spTree>
      <p:nvGrpSpPr>
        <p:cNvPr id="1" name=""/>
        <p:cNvGrpSpPr/>
        <p:nvPr/>
      </p:nvGrpSpPr>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6  ·  METHODOLOGY</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Interface &amp; Safeguards</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19</a:t>
            </a:r>
            <a:endParaRPr lang="en-US" sz="1000" dirty="0"/>
          </a:p>
        </p:txBody>
      </p:sp>
      <p:sp>
        <p:nvSpPr>
          <p:cNvPr id="6" name="Shape 4"/>
          <p:cNvSpPr/>
          <p:nvPr/>
        </p:nvSpPr>
        <p:spPr>
          <a:xfrm>
            <a:off x="960120" y="1737360"/>
            <a:ext cx="3200400" cy="3291840"/>
          </a:xfrm>
          <a:prstGeom prst="roundRect">
            <a:avLst>
              <a:gd name="adj" fmla="val 2286"/>
            </a:avLst>
          </a:prstGeom>
          <a:solidFill>
            <a:srgbClr val="DCF2E4"/>
          </a:solidFill>
          <a:ln w="12700">
            <a:solidFill>
              <a:srgbClr val="333333"/>
            </a:solidFill>
            <a:prstDash val="solid"/>
          </a:ln>
        </p:spPr>
        <p:txBody>
          <a:bodyPr/>
          <a:p/>
        </p:txBody>
      </p:sp>
      <p:sp>
        <p:nvSpPr>
          <p:cNvPr id="7" name="Shape 5"/>
          <p:cNvSpPr/>
          <p:nvPr/>
        </p:nvSpPr>
        <p:spPr>
          <a:xfrm>
            <a:off x="1216152" y="1965960"/>
            <a:ext cx="475488" cy="475488"/>
          </a:xfrm>
          <a:prstGeom prst="ellipse">
            <a:avLst/>
          </a:prstGeom>
          <a:solidFill>
            <a:srgbClr val="156B33"/>
          </a:solidFill>
          <a:ln w="12700">
            <a:solidFill>
              <a:srgbClr val="333333"/>
            </a:solidFill>
            <a:prstDash val="solid"/>
          </a:ln>
        </p:spPr>
        <p:txBody>
          <a:bodyPr/>
          <a:p/>
        </p:txBody>
      </p:sp>
      <p:sp>
        <p:nvSpPr>
          <p:cNvPr id="8" name="Text 6"/>
          <p:cNvSpPr/>
          <p:nvPr/>
        </p:nvSpPr>
        <p:spPr>
          <a:xfrm>
            <a:off x="1216152" y="196596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9" name="Text 7"/>
          <p:cNvSpPr/>
          <p:nvPr/>
        </p:nvSpPr>
        <p:spPr>
          <a:xfrm>
            <a:off x="1216152" y="2578608"/>
            <a:ext cx="2697480" cy="365760"/>
          </a:xfrm>
          <a:prstGeom prst="rect">
            <a:avLst/>
          </a:prstGeom>
          <a:noFill/>
          <a:ln/>
        </p:spPr>
        <p:txBody>
          <a:bodyPr wrap="square" lIns="0" tIns="0" rIns="0" bIns="0" rtlCol="0" anchor="ctr"/>
          <a:lstStyle/>
          <a:p>
            <a:pPr marL="0" indent="0">
              <a:buNone/>
            </a:pPr>
            <a:r>
              <a:rPr lang="en-US" sz="1600" b="1" dirty="0">
                <a:solidFill>
                  <a:srgbClr val="111111"/>
                </a:solidFill>
                <a:latin typeface="Arial" pitchFamily="34" charset="0"/>
                <a:ea typeface="Arial" pitchFamily="34" charset="-122"/>
                <a:cs typeface="Arial" pitchFamily="34" charset="-120"/>
              </a:rPr>
              <a:t>Ask in plain English</a:t>
            </a:r>
            <a:endParaRPr lang="en-US" sz="1600" dirty="0"/>
          </a:p>
        </p:txBody>
      </p:sp>
      <p:sp>
        <p:nvSpPr>
          <p:cNvPr id="10" name="Text 8"/>
          <p:cNvSpPr/>
          <p:nvPr/>
        </p:nvSpPr>
        <p:spPr>
          <a:xfrm>
            <a:off x="1216152" y="3035808"/>
            <a:ext cx="2697480" cy="1737360"/>
          </a:xfrm>
          <a:prstGeom prst="rect">
            <a:avLst/>
          </a:prstGeom>
          <a:noFill/>
          <a:ln/>
        </p:spPr>
        <p:txBody>
          <a:bodyPr wrap="square" lIns="0" tIns="0" rIns="0" bIns="0" rtlCol="0" anchor="ctr"/>
          <a:lstStyle/>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Type a request, e.g. “glass transition above 200”</a:t>
            </a:r>
            <a:endParaRPr lang="en-US" sz="1150" dirty="0"/>
          </a:p>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Optional checkbox: RAG literature grounding</a:t>
            </a:r>
            <a:endParaRPr lang="en-US" sz="1150" dirty="0"/>
          </a:p>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“Understood as” table shows the parsed targets</a:t>
            </a:r>
            <a:endParaRPr lang="en-US" sz="1150" dirty="0"/>
          </a:p>
        </p:txBody>
      </p:sp>
      <p:sp>
        <p:nvSpPr>
          <p:cNvPr id="11" name="Shape 9"/>
          <p:cNvSpPr/>
          <p:nvPr/>
        </p:nvSpPr>
        <p:spPr>
          <a:xfrm>
            <a:off x="4389120" y="1737360"/>
            <a:ext cx="3200400" cy="3291840"/>
          </a:xfrm>
          <a:prstGeom prst="roundRect">
            <a:avLst>
              <a:gd name="adj" fmla="val 2286"/>
            </a:avLst>
          </a:prstGeom>
          <a:solidFill>
            <a:srgbClr val="FBEEDA"/>
          </a:solidFill>
          <a:ln w="12700">
            <a:solidFill>
              <a:srgbClr val="333333"/>
            </a:solidFill>
            <a:prstDash val="solid"/>
          </a:ln>
        </p:spPr>
        <p:txBody>
          <a:bodyPr/>
          <a:p/>
        </p:txBody>
      </p:sp>
      <p:sp>
        <p:nvSpPr>
          <p:cNvPr id="12" name="Shape 10"/>
          <p:cNvSpPr/>
          <p:nvPr/>
        </p:nvSpPr>
        <p:spPr>
          <a:xfrm>
            <a:off x="4645152" y="1965960"/>
            <a:ext cx="475488" cy="475488"/>
          </a:xfrm>
          <a:prstGeom prst="ellipse">
            <a:avLst/>
          </a:prstGeom>
          <a:solidFill>
            <a:srgbClr val="9C5A0B"/>
          </a:solidFill>
          <a:ln w="12700">
            <a:solidFill>
              <a:srgbClr val="333333"/>
            </a:solidFill>
            <a:prstDash val="solid"/>
          </a:ln>
        </p:spPr>
        <p:txBody>
          <a:bodyPr/>
          <a:p/>
        </p:txBody>
      </p:sp>
      <p:sp>
        <p:nvSpPr>
          <p:cNvPr id="13" name="Text 11"/>
          <p:cNvSpPr/>
          <p:nvPr/>
        </p:nvSpPr>
        <p:spPr>
          <a:xfrm>
            <a:off x="4645152" y="196596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4" name="Text 12"/>
          <p:cNvSpPr/>
          <p:nvPr/>
        </p:nvSpPr>
        <p:spPr>
          <a:xfrm>
            <a:off x="4645152" y="2578608"/>
            <a:ext cx="2697480" cy="365760"/>
          </a:xfrm>
          <a:prstGeom prst="rect">
            <a:avLst/>
          </a:prstGeom>
          <a:noFill/>
          <a:ln/>
        </p:spPr>
        <p:txBody>
          <a:bodyPr wrap="square" lIns="0" tIns="0" rIns="0" bIns="0" rtlCol="0" anchor="ctr"/>
          <a:lstStyle/>
          <a:p>
            <a:pPr marL="0" indent="0">
              <a:buNone/>
            </a:pPr>
            <a:r>
              <a:rPr lang="en-US" sz="1600" b="1" dirty="0">
                <a:solidFill>
                  <a:srgbClr val="111111"/>
                </a:solidFill>
                <a:latin typeface="Arial" pitchFamily="34" charset="0"/>
                <a:ea typeface="Arial" pitchFamily="34" charset="-122"/>
                <a:cs typeface="Arial" pitchFamily="34" charset="-120"/>
              </a:rPr>
              <a:t>Get checked candidates</a:t>
            </a:r>
            <a:endParaRPr lang="en-US" sz="1600" dirty="0"/>
          </a:p>
        </p:txBody>
      </p:sp>
      <p:sp>
        <p:nvSpPr>
          <p:cNvPr id="15" name="Text 13"/>
          <p:cNvSpPr/>
          <p:nvPr/>
        </p:nvSpPr>
        <p:spPr>
          <a:xfrm>
            <a:off x="4645152" y="3035808"/>
            <a:ext cx="2697480" cy="1737360"/>
          </a:xfrm>
          <a:prstGeom prst="rect">
            <a:avLst/>
          </a:prstGeom>
          <a:noFill/>
          <a:ln/>
        </p:spPr>
        <p:txBody>
          <a:bodyPr wrap="square" lIns="0" tIns="0" rIns="0" bIns="0" rtlCol="0" anchor="ctr"/>
          <a:lstStyle/>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Rejection sampling until candidates meet every target</a:t>
            </a:r>
            <a:endParaRPr lang="en-US" sz="1150" dirty="0"/>
          </a:p>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Each candidate: SMILES, predicted properties, novelty</a:t>
            </a:r>
            <a:endParaRPr lang="en-US" sz="1150" dirty="0"/>
          </a:p>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Yield metrics and CSV download</a:t>
            </a:r>
            <a:endParaRPr lang="en-US" sz="1150" dirty="0"/>
          </a:p>
        </p:txBody>
      </p:sp>
      <p:sp>
        <p:nvSpPr>
          <p:cNvPr id="16" name="Shape 14"/>
          <p:cNvSpPr/>
          <p:nvPr/>
        </p:nvSpPr>
        <p:spPr>
          <a:xfrm>
            <a:off x="7818120" y="1737360"/>
            <a:ext cx="3200400" cy="3291840"/>
          </a:xfrm>
          <a:prstGeom prst="roundRect">
            <a:avLst>
              <a:gd name="adj" fmla="val 2286"/>
            </a:avLst>
          </a:prstGeom>
          <a:solidFill>
            <a:srgbClr val="E3EDF8"/>
          </a:solidFill>
          <a:ln w="12700">
            <a:solidFill>
              <a:srgbClr val="333333"/>
            </a:solidFill>
            <a:prstDash val="solid"/>
          </a:ln>
        </p:spPr>
        <p:txBody>
          <a:bodyPr/>
          <a:p/>
        </p:txBody>
      </p:sp>
      <p:sp>
        <p:nvSpPr>
          <p:cNvPr id="17" name="Shape 15"/>
          <p:cNvSpPr/>
          <p:nvPr/>
        </p:nvSpPr>
        <p:spPr>
          <a:xfrm>
            <a:off x="8074152" y="1965960"/>
            <a:ext cx="475488" cy="475488"/>
          </a:xfrm>
          <a:prstGeom prst="ellipse">
            <a:avLst/>
          </a:prstGeom>
          <a:solidFill>
            <a:srgbClr val="1B4F8A"/>
          </a:solidFill>
          <a:ln w="12700">
            <a:solidFill>
              <a:srgbClr val="333333"/>
            </a:solidFill>
            <a:prstDash val="solid"/>
          </a:ln>
        </p:spPr>
        <p:txBody>
          <a:bodyPr/>
          <a:p/>
        </p:txBody>
      </p:sp>
      <p:sp>
        <p:nvSpPr>
          <p:cNvPr id="18" name="Text 16"/>
          <p:cNvSpPr/>
          <p:nvPr/>
        </p:nvSpPr>
        <p:spPr>
          <a:xfrm>
            <a:off x="8074152" y="196596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9" name="Text 17"/>
          <p:cNvSpPr/>
          <p:nvPr/>
        </p:nvSpPr>
        <p:spPr>
          <a:xfrm>
            <a:off x="8074152" y="2578608"/>
            <a:ext cx="2697480" cy="365760"/>
          </a:xfrm>
          <a:prstGeom prst="rect">
            <a:avLst/>
          </a:prstGeom>
          <a:noFill/>
          <a:ln/>
        </p:spPr>
        <p:txBody>
          <a:bodyPr wrap="square" lIns="0" tIns="0" rIns="0" bIns="0" rtlCol="0" anchor="ctr"/>
          <a:lstStyle/>
          <a:p>
            <a:pPr marL="0" indent="0">
              <a:buNone/>
            </a:pPr>
            <a:r>
              <a:rPr lang="en-US" sz="1600" b="1" dirty="0">
                <a:solidFill>
                  <a:srgbClr val="111111"/>
                </a:solidFill>
                <a:latin typeface="Arial" pitchFamily="34" charset="0"/>
                <a:ea typeface="Arial" pitchFamily="34" charset="-122"/>
                <a:cs typeface="Arial" pitchFamily="34" charset="-120"/>
              </a:rPr>
              <a:t>Anti-hallucination gate</a:t>
            </a:r>
            <a:endParaRPr lang="en-US" sz="1600" dirty="0"/>
          </a:p>
        </p:txBody>
      </p:sp>
      <p:sp>
        <p:nvSpPr>
          <p:cNvPr id="20" name="Text 18"/>
          <p:cNvSpPr/>
          <p:nvPr/>
        </p:nvSpPr>
        <p:spPr>
          <a:xfrm>
            <a:off x="8074152" y="3035808"/>
            <a:ext cx="2697480" cy="1737360"/>
          </a:xfrm>
          <a:prstGeom prst="rect">
            <a:avLst/>
          </a:prstGeom>
          <a:noFill/>
          <a:ln/>
        </p:spPr>
        <p:txBody>
          <a:bodyPr wrap="square" lIns="0" tIns="0" rIns="0" bIns="0" rtlCol="0" anchor="ctr"/>
          <a:lstStyle/>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No recognised property → nothing is generated</a:t>
            </a:r>
            <a:endParaRPr lang="en-US" sz="1150" dirty="0"/>
          </a:p>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Targets outside the data range raise a warning</a:t>
            </a:r>
            <a:endParaRPr lang="en-US" sz="1150" dirty="0"/>
          </a:p>
          <a:p>
            <a:pPr marL="342900" indent="-342900">
              <a:lnSpc>
                <a:spcPts val="1668"/>
              </a:lnSpc>
              <a:spcAft>
                <a:spcPts val="700"/>
              </a:spcAft>
              <a:buSzPct val="100000"/>
              <a:buChar char="•"/>
            </a:pPr>
            <a:r>
              <a:rPr lang="en-US" sz="1150" dirty="0">
                <a:solidFill>
                  <a:srgbClr val="2E2E2E"/>
                </a:solidFill>
                <a:latin typeface="Arial" pitchFamily="34" charset="0"/>
                <a:ea typeface="Arial" pitchFamily="34" charset="-122"/>
                <a:cs typeface="Arial" pitchFamily="34" charset="-120"/>
              </a:rPr>
              <a:t>Values are labelled Oracle predictions, not lab data</a:t>
            </a:r>
            <a:endParaRPr lang="en-US" sz="1150" dirty="0"/>
          </a:p>
        </p:txBody>
      </p:sp>
      <p:sp>
        <p:nvSpPr>
          <p:cNvPr id="21" name="Shape 19"/>
          <p:cNvSpPr/>
          <p:nvPr/>
        </p:nvSpPr>
        <p:spPr>
          <a:xfrm>
            <a:off x="960120" y="5230368"/>
            <a:ext cx="10241280" cy="685800"/>
          </a:xfrm>
          <a:prstGeom prst="roundRect">
            <a:avLst>
              <a:gd name="adj" fmla="val 10667"/>
            </a:avLst>
          </a:prstGeom>
          <a:solidFill>
            <a:srgbClr val="ECECEC"/>
          </a:solidFill>
          <a:ln w="12700">
            <a:solidFill>
              <a:srgbClr val="333333"/>
            </a:solidFill>
            <a:prstDash val="solid"/>
          </a:ln>
        </p:spPr>
        <p:txBody>
          <a:bodyPr/>
          <a:p/>
        </p:txBody>
      </p:sp>
      <p:sp>
        <p:nvSpPr>
          <p:cNvPr id="22" name="Text 20"/>
          <p:cNvSpPr/>
          <p:nvPr/>
        </p:nvSpPr>
        <p:spPr>
          <a:xfrm>
            <a:off x="960120" y="5230368"/>
            <a:ext cx="10241280" cy="685800"/>
          </a:xfrm>
          <a:prstGeom prst="rect">
            <a:avLst/>
          </a:prstGeom>
          <a:noFill/>
          <a:ln/>
        </p:spPr>
        <p:txBody>
          <a:bodyPr wrap="square" lIns="0" tIns="0" rIns="0" bIns="0" rtlCol="0" anchor="ctr"/>
          <a:lstStyle/>
          <a:p>
            <a:pPr marL="0" indent="0" algn="ctr">
              <a:buNone/>
            </a:pPr>
            <a:r>
              <a:rPr lang="en-US" sz="1400" b="1" dirty="0">
                <a:solidFill>
                  <a:srgbClr val="111111"/>
                </a:solidFill>
                <a:latin typeface="Arial" pitchFamily="34" charset="0"/>
                <a:ea typeface="Arial" pitchFamily="34" charset="-122"/>
                <a:cs typeface="Arial" pitchFamily="34" charset="-120"/>
              </a:rPr>
              <a:t>A Streamlit app: plain-English request in, Oracle-checked polymer candidates out.</a:t>
            </a:r>
            <a:endParaRPr lang="en-US" sz="14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9BE3A8"/>
        </a:solidFill>
        <a:effectLst/>
      </p:bgPr>
    </p:bg>
    <p:spTree>
      <p:nvGrpSpPr>
        <p:cNvPr id="1" name=""/>
        <p:cNvGrpSpPr/>
        <p:nvPr/>
      </p:nvGrpSpPr>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7  ·  RESULTS</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dirty="0">
                <a:solidFill>
                  <a:srgbClr val="111111"/>
                </a:solidFill>
                <a:latin typeface="Arial" pitchFamily="34" charset="0"/>
                <a:ea typeface="Arial" pitchFamily="34" charset="-122"/>
                <a:cs typeface="Arial" pitchFamily="34" charset="-120"/>
              </a:rPr>
              <a:t>Closed-Loop Benchmark</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22</a:t>
            </a:r>
            <a:endParaRPr lang="en-US" sz="1000" dirty="0"/>
          </a:p>
        </p:txBody>
      </p:sp>
      <p:sp>
        <p:nvSpPr>
          <p:cNvPr id="21" name="Shape 19"/>
          <p:cNvSpPr/>
          <p:nvPr/>
        </p:nvSpPr>
        <p:spPr>
          <a:xfrm>
            <a:off x="960120" y="4709160"/>
            <a:ext cx="10241280" cy="960120"/>
          </a:xfrm>
          <a:prstGeom prst="roundRect">
            <a:avLst>
              <a:gd name="adj" fmla="val 10667"/>
            </a:avLst>
          </a:prstGeom>
          <a:solidFill>
            <a:srgbClr val="ECECEC"/>
          </a:solidFill>
          <a:ln w="12700">
            <a:solidFill>
              <a:srgbClr val="333333"/>
            </a:solidFill>
            <a:prstDash val="solid"/>
          </a:ln>
        </p:spPr>
        <p:txBody>
          <a:bodyPr/>
          <a:p/>
        </p:txBody>
      </p:sp>
      <p:sp>
        <p:nvSpPr>
          <p:cNvPr id="22" name="Text 20"/>
          <p:cNvSpPr/>
          <p:nvPr/>
        </p:nvSpPr>
        <p:spPr>
          <a:xfrm>
            <a:off x="960120" y="4709160"/>
            <a:ext cx="10241280" cy="960120"/>
          </a:xfrm>
          <a:prstGeom prst="rect">
            <a:avLst/>
          </a:prstGeom>
          <a:noFill/>
          <a:ln/>
        </p:spPr>
        <p:txBody>
          <a:bodyPr wrap="square" lIns="365760" tIns="0" rIns="365760" bIns="0" rtlCol="0" anchor="ctr"/>
          <a:lstStyle/>
          <a:p>
            <a:pPr marL="0" indent="0" algn="ctr">
              <a:buNone/>
            </a:pPr>
            <a:r>
              <a:rPr lang="en-US" sz="1400" b="1" dirty="0">
                <a:solidFill>
                  <a:srgbClr val="111111"/>
                </a:solidFill>
                <a:latin typeface="Arial" pitchFamily="34" charset="0"/>
                <a:ea typeface="Arial" pitchFamily="34" charset="-122"/>
                <a:cs typeface="Arial" pitchFamily="34" charset="-120"/>
              </a:rPr>
              <a:t>Tg, density and FFV targets reach 68–92% yield. The hard Tg + low-density corner is 1.1% per shot — rejection sampling still finds 20 novel candidates in 1,024 samples.</a:t>
            </a:r>
            <a:endParaRPr lang="en-US" sz="1400" dirty="0"/>
          </a:p>
        </p:txBody>
      </p:sp>
      <p:sp>
        <p:nvSpPr>
          <p:cNvPr id="23" name="TextBox 22"/>
          <p:cNvSpPr txBox="1"/>
          <p:nvPr/>
        </p:nvSpPr>
        <p:spPr>
          <a:xfrm>
            <a:off x="960120" y="1481328"/>
            <a:ext cx="10241280" cy="320040"/>
          </a:xfrm>
          <a:prstGeom prst="rect">
            <a:avLst/>
          </a:prstGeom>
          <a:noFill/>
        </p:spPr>
        <p:txBody>
          <a:bodyPr wrap="square">
            <a:spAutoFit/>
          </a:bodyPr>
          <a:lstStyle/>
          <a:p>
            <a:r>
              <a:rPr sz="1200">
                <a:solidFill>
                  <a:srgbClr val="111111"/>
                </a:solidFill>
                <a:latin typeface="Arial"/>
              </a:rPr>
              <a:t>N = 300 per query, guidance 3.0.  Yield = valid generations meeting every constraint.  Lift = conditional − unconditional yield.</a:t>
            </a:r>
          </a:p>
        </p:txBody>
      </p:sp>
      <p:graphicFrame>
        <p:nvGraphicFramePr>
          <p:cNvPr id="24" name="Table 23"/>
          <p:cNvGraphicFramePr>
            <a:graphicFrameLocks noGrp="1"/>
          </p:cNvGraphicFramePr>
          <p:nvPr/>
        </p:nvGraphicFramePr>
        <p:xfrm>
          <a:off x="960120" y="1920240"/>
          <a:ext cx="10241280" cy="2468880"/>
        </p:xfrm>
        <a:graphic>
          <a:graphicData uri="http://schemas.openxmlformats.org/drawingml/2006/table">
            <a:tbl>
              <a:tblPr>
                <a:tableStyleId>{2D5ABB26-0587-4C30-8999-92F81FD0307C}</a:tableStyleId>
              </a:tblPr>
              <a:tblGrid>
                <a:gridCol w="4206240"/>
                <a:gridCol w="1463040"/>
                <a:gridCol w="1463040"/>
                <a:gridCol w="1645920"/>
                <a:gridCol w="1463040"/>
              </a:tblGrid>
              <a:tr h="384048">
                <a:tc>
                  <a:txBody>
                    <a:bodyPr/>
                    <a:lstStyle/>
                    <a:p>
                      <a:pPr algn="l"/>
                      <a:r>
                        <a:rPr sz="1250" b="1">
                          <a:solidFill>
                            <a:srgbClr val="FFFFFF"/>
                          </a:solidFill>
                          <a:latin typeface="Arial"/>
                        </a:rPr>
                        <a:t>Query</a:t>
                      </a:r>
                    </a:p>
                  </a:txBody>
                  <a:tcPr anchor="ctr" marL="127000" marR="76200" marT="12700" marB="12700">
                    <a:solidFill>
                      <a:srgbClr val="156B33"/>
                    </a:solidFill>
                  </a:tcPr>
                </a:tc>
                <a:tc>
                  <a:txBody>
                    <a:bodyPr/>
                    <a:lstStyle/>
                    <a:p>
                      <a:pPr algn="ctr"/>
                      <a:r>
                        <a:rPr sz="1250" b="1">
                          <a:solidFill>
                            <a:srgbClr val="FFFFFF"/>
                          </a:solidFill>
                          <a:latin typeface="Arial"/>
                        </a:rPr>
                        <a:t>Validity</a:t>
                      </a:r>
                    </a:p>
                  </a:txBody>
                  <a:tcPr anchor="ctr" marL="127000" marR="76200" marT="12700" marB="12700">
                    <a:solidFill>
                      <a:srgbClr val="156B33"/>
                    </a:solidFill>
                  </a:tcPr>
                </a:tc>
                <a:tc>
                  <a:txBody>
                    <a:bodyPr/>
                    <a:lstStyle/>
                    <a:p>
                      <a:pPr algn="ctr"/>
                      <a:r>
                        <a:rPr sz="1250" b="1">
                          <a:solidFill>
                            <a:srgbClr val="FFFFFF"/>
                          </a:solidFill>
                          <a:latin typeface="Arial"/>
                        </a:rPr>
                        <a:t>Novelty</a:t>
                      </a:r>
                    </a:p>
                  </a:txBody>
                  <a:tcPr anchor="ctr" marL="127000" marR="76200" marT="12700" marB="12700">
                    <a:solidFill>
                      <a:srgbClr val="156B33"/>
                    </a:solidFill>
                  </a:tcPr>
                </a:tc>
                <a:tc>
                  <a:txBody>
                    <a:bodyPr/>
                    <a:lstStyle/>
                    <a:p>
                      <a:pPr algn="ctr"/>
                      <a:r>
                        <a:rPr sz="1250" b="1">
                          <a:solidFill>
                            <a:srgbClr val="FFFFFF"/>
                          </a:solidFill>
                          <a:latin typeface="Arial"/>
                        </a:rPr>
                        <a:t>Cond. yield</a:t>
                      </a:r>
                    </a:p>
                  </a:txBody>
                  <a:tcPr anchor="ctr" marL="127000" marR="76200" marT="12700" marB="12700">
                    <a:solidFill>
                      <a:srgbClr val="156B33"/>
                    </a:solidFill>
                  </a:tcPr>
                </a:tc>
                <a:tc>
                  <a:txBody>
                    <a:bodyPr/>
                    <a:lstStyle/>
                    <a:p>
                      <a:pPr algn="ctr"/>
                      <a:r>
                        <a:rPr sz="1250" b="1">
                          <a:solidFill>
                            <a:srgbClr val="FFFFFF"/>
                          </a:solidFill>
                          <a:latin typeface="Arial"/>
                        </a:rPr>
                        <a:t>Lift</a:t>
                      </a:r>
                    </a:p>
                  </a:txBody>
                  <a:tcPr anchor="ctr" marL="127000" marR="76200" marT="12700" marB="12700">
                    <a:solidFill>
                      <a:srgbClr val="156B33"/>
                    </a:solidFill>
                  </a:tcPr>
                </a:tc>
              </a:tr>
              <a:tr h="347472">
                <a:tc>
                  <a:txBody>
                    <a:bodyPr/>
                    <a:lstStyle/>
                    <a:p>
                      <a:pPr algn="l"/>
                      <a:r>
                        <a:rPr sz="1200" b="0">
                          <a:solidFill>
                            <a:srgbClr val="111111"/>
                          </a:solidFill>
                          <a:latin typeface="Arial"/>
                        </a:rPr>
                        <a:t>high Tg</a:t>
                      </a:r>
                    </a:p>
                  </a:txBody>
                  <a:tcPr anchor="ctr" marL="127000" marR="76200" marT="12700" marB="12700">
                    <a:solidFill>
                      <a:srgbClr val="DCF2E4"/>
                    </a:solidFill>
                  </a:tcPr>
                </a:tc>
                <a:tc>
                  <a:txBody>
                    <a:bodyPr/>
                    <a:lstStyle/>
                    <a:p>
                      <a:pPr algn="ctr"/>
                      <a:r>
                        <a:rPr sz="1200" b="0">
                          <a:solidFill>
                            <a:srgbClr val="111111"/>
                          </a:solidFill>
                          <a:latin typeface="Arial"/>
                        </a:rPr>
                        <a:t>85%</a:t>
                      </a:r>
                    </a:p>
                  </a:txBody>
                  <a:tcPr anchor="ctr" marL="127000" marR="76200" marT="12700" marB="12700">
                    <a:solidFill>
                      <a:srgbClr val="DCF2E4"/>
                    </a:solidFill>
                  </a:tcPr>
                </a:tc>
                <a:tc>
                  <a:txBody>
                    <a:bodyPr/>
                    <a:lstStyle/>
                    <a:p>
                      <a:pPr algn="ctr"/>
                      <a:r>
                        <a:rPr sz="1200" b="0">
                          <a:solidFill>
                            <a:srgbClr val="111111"/>
                          </a:solidFill>
                          <a:latin typeface="Arial"/>
                        </a:rPr>
                        <a:t>88%</a:t>
                      </a:r>
                    </a:p>
                  </a:txBody>
                  <a:tcPr anchor="ctr" marL="127000" marR="76200" marT="12700" marB="12700">
                    <a:solidFill>
                      <a:srgbClr val="DCF2E4"/>
                    </a:solidFill>
                  </a:tcPr>
                </a:tc>
                <a:tc>
                  <a:txBody>
                    <a:bodyPr/>
                    <a:lstStyle/>
                    <a:p>
                      <a:pPr algn="ctr"/>
                      <a:r>
                        <a:rPr sz="1200" b="1">
                          <a:solidFill>
                            <a:srgbClr val="156B33"/>
                          </a:solidFill>
                          <a:latin typeface="Arial"/>
                        </a:rPr>
                        <a:t>68.0%</a:t>
                      </a:r>
                    </a:p>
                  </a:txBody>
                  <a:tcPr anchor="ctr" marL="127000" marR="76200" marT="12700" marB="12700">
                    <a:solidFill>
                      <a:srgbClr val="DCF2E4"/>
                    </a:solidFill>
                  </a:tcPr>
                </a:tc>
                <a:tc>
                  <a:txBody>
                    <a:bodyPr/>
                    <a:lstStyle/>
                    <a:p>
                      <a:pPr algn="ctr"/>
                      <a:r>
                        <a:rPr sz="1200" b="0">
                          <a:solidFill>
                            <a:srgbClr val="111111"/>
                          </a:solidFill>
                          <a:latin typeface="Arial"/>
                        </a:rPr>
                        <a:t>+58.4</a:t>
                      </a:r>
                    </a:p>
                  </a:txBody>
                  <a:tcPr anchor="ctr" marL="127000" marR="76200" marT="12700" marB="12700">
                    <a:solidFill>
                      <a:srgbClr val="DCF2E4"/>
                    </a:solidFill>
                  </a:tcPr>
                </a:tc>
              </a:tr>
              <a:tr h="347472">
                <a:tc>
                  <a:txBody>
                    <a:bodyPr/>
                    <a:lstStyle/>
                    <a:p>
                      <a:pPr algn="l"/>
                      <a:r>
                        <a:rPr sz="1200" b="0">
                          <a:solidFill>
                            <a:srgbClr val="111111"/>
                          </a:solidFill>
                          <a:latin typeface="Arial"/>
                        </a:rPr>
                        <a:t>low density</a:t>
                      </a:r>
                    </a:p>
                  </a:txBody>
                  <a:tcPr anchor="ctr" marL="127000" marR="76200" marT="12700" marB="12700">
                    <a:solidFill>
                      <a:srgbClr val="FFFFFF"/>
                    </a:solidFill>
                  </a:tcPr>
                </a:tc>
                <a:tc>
                  <a:txBody>
                    <a:bodyPr/>
                    <a:lstStyle/>
                    <a:p>
                      <a:pPr algn="ctr"/>
                      <a:r>
                        <a:rPr sz="1200" b="0">
                          <a:solidFill>
                            <a:srgbClr val="111111"/>
                          </a:solidFill>
                          <a:latin typeface="Arial"/>
                        </a:rPr>
                        <a:t>84%</a:t>
                      </a:r>
                    </a:p>
                  </a:txBody>
                  <a:tcPr anchor="ctr" marL="127000" marR="76200" marT="12700" marB="12700">
                    <a:solidFill>
                      <a:srgbClr val="FFFFFF"/>
                    </a:solidFill>
                  </a:tcPr>
                </a:tc>
                <a:tc>
                  <a:txBody>
                    <a:bodyPr/>
                    <a:lstStyle/>
                    <a:p>
                      <a:pPr algn="ctr"/>
                      <a:r>
                        <a:rPr sz="1200" b="0">
                          <a:solidFill>
                            <a:srgbClr val="111111"/>
                          </a:solidFill>
                          <a:latin typeface="Arial"/>
                        </a:rPr>
                        <a:t>93%</a:t>
                      </a:r>
                    </a:p>
                  </a:txBody>
                  <a:tcPr anchor="ctr" marL="127000" marR="76200" marT="12700" marB="12700">
                    <a:solidFill>
                      <a:srgbClr val="FFFFFF"/>
                    </a:solidFill>
                  </a:tcPr>
                </a:tc>
                <a:tc>
                  <a:txBody>
                    <a:bodyPr/>
                    <a:lstStyle/>
                    <a:p>
                      <a:pPr algn="ctr"/>
                      <a:r>
                        <a:rPr sz="1200" b="1">
                          <a:solidFill>
                            <a:srgbClr val="156B33"/>
                          </a:solidFill>
                          <a:latin typeface="Arial"/>
                        </a:rPr>
                        <a:t>91.7%</a:t>
                      </a:r>
                    </a:p>
                  </a:txBody>
                  <a:tcPr anchor="ctr" marL="127000" marR="76200" marT="12700" marB="12700">
                    <a:solidFill>
                      <a:srgbClr val="FFFFFF"/>
                    </a:solidFill>
                  </a:tcPr>
                </a:tc>
                <a:tc>
                  <a:txBody>
                    <a:bodyPr/>
                    <a:lstStyle/>
                    <a:p>
                      <a:pPr algn="ctr"/>
                      <a:r>
                        <a:rPr sz="1200" b="0">
                          <a:solidFill>
                            <a:srgbClr val="111111"/>
                          </a:solidFill>
                          <a:latin typeface="Arial"/>
                        </a:rPr>
                        <a:t>+86.2</a:t>
                      </a:r>
                    </a:p>
                  </a:txBody>
                  <a:tcPr anchor="ctr" marL="127000" marR="76200" marT="12700" marB="12700">
                    <a:solidFill>
                      <a:srgbClr val="FFFFFF"/>
                    </a:solidFill>
                  </a:tcPr>
                </a:tc>
              </a:tr>
              <a:tr h="347472">
                <a:tc>
                  <a:txBody>
                    <a:bodyPr/>
                    <a:lstStyle/>
                    <a:p>
                      <a:pPr algn="l"/>
                      <a:r>
                        <a:rPr sz="1200" b="0">
                          <a:solidFill>
                            <a:srgbClr val="111111"/>
                          </a:solidFill>
                          <a:latin typeface="Arial"/>
                        </a:rPr>
                        <a:t>high free volume (FFV)</a:t>
                      </a:r>
                    </a:p>
                  </a:txBody>
                  <a:tcPr anchor="ctr" marL="127000" marR="76200" marT="12700" marB="12700">
                    <a:solidFill>
                      <a:srgbClr val="DCF2E4"/>
                    </a:solidFill>
                  </a:tcPr>
                </a:tc>
                <a:tc>
                  <a:txBody>
                    <a:bodyPr/>
                    <a:lstStyle/>
                    <a:p>
                      <a:pPr algn="ctr"/>
                      <a:r>
                        <a:rPr sz="1200" b="0">
                          <a:solidFill>
                            <a:srgbClr val="111111"/>
                          </a:solidFill>
                          <a:latin typeface="Arial"/>
                        </a:rPr>
                        <a:t>80%</a:t>
                      </a:r>
                    </a:p>
                  </a:txBody>
                  <a:tcPr anchor="ctr" marL="127000" marR="76200" marT="12700" marB="12700">
                    <a:solidFill>
                      <a:srgbClr val="DCF2E4"/>
                    </a:solidFill>
                  </a:tcPr>
                </a:tc>
                <a:tc>
                  <a:txBody>
                    <a:bodyPr/>
                    <a:lstStyle/>
                    <a:p>
                      <a:pPr algn="ctr"/>
                      <a:r>
                        <a:rPr sz="1200" b="0">
                          <a:solidFill>
                            <a:srgbClr val="111111"/>
                          </a:solidFill>
                          <a:latin typeface="Arial"/>
                        </a:rPr>
                        <a:t>81%</a:t>
                      </a:r>
                    </a:p>
                  </a:txBody>
                  <a:tcPr anchor="ctr" marL="127000" marR="76200" marT="12700" marB="12700">
                    <a:solidFill>
                      <a:srgbClr val="DCF2E4"/>
                    </a:solidFill>
                  </a:tcPr>
                </a:tc>
                <a:tc>
                  <a:txBody>
                    <a:bodyPr/>
                    <a:lstStyle/>
                    <a:p>
                      <a:pPr algn="ctr"/>
                      <a:r>
                        <a:rPr sz="1200" b="1">
                          <a:solidFill>
                            <a:srgbClr val="156B33"/>
                          </a:solidFill>
                          <a:latin typeface="Arial"/>
                        </a:rPr>
                        <a:t>80.3%</a:t>
                      </a:r>
                    </a:p>
                  </a:txBody>
                  <a:tcPr anchor="ctr" marL="127000" marR="76200" marT="12700" marB="12700">
                    <a:solidFill>
                      <a:srgbClr val="DCF2E4"/>
                    </a:solidFill>
                  </a:tcPr>
                </a:tc>
                <a:tc>
                  <a:txBody>
                    <a:bodyPr/>
                    <a:lstStyle/>
                    <a:p>
                      <a:pPr algn="ctr"/>
                      <a:r>
                        <a:rPr sz="1200" b="0">
                          <a:solidFill>
                            <a:srgbClr val="111111"/>
                          </a:solidFill>
                          <a:latin typeface="Arial"/>
                        </a:rPr>
                        <a:t>+76.2</a:t>
                      </a:r>
                    </a:p>
                  </a:txBody>
                  <a:tcPr anchor="ctr" marL="127000" marR="76200" marT="12700" marB="12700">
                    <a:solidFill>
                      <a:srgbClr val="DCF2E4"/>
                    </a:solidFill>
                  </a:tcPr>
                </a:tc>
              </a:tr>
              <a:tr h="347472">
                <a:tc>
                  <a:txBody>
                    <a:bodyPr/>
                    <a:lstStyle/>
                    <a:p>
                      <a:pPr algn="l"/>
                      <a:r>
                        <a:rPr sz="1200" b="0">
                          <a:solidFill>
                            <a:srgbClr val="111111"/>
                          </a:solidFill>
                          <a:latin typeface="Arial"/>
                        </a:rPr>
                        <a:t>large radius of gyration (Rg)</a:t>
                      </a:r>
                    </a:p>
                  </a:txBody>
                  <a:tcPr anchor="ctr" marL="127000" marR="76200" marT="12700" marB="12700">
                    <a:solidFill>
                      <a:srgbClr val="FFFFFF"/>
                    </a:solidFill>
                  </a:tcPr>
                </a:tc>
                <a:tc>
                  <a:txBody>
                    <a:bodyPr/>
                    <a:lstStyle/>
                    <a:p>
                      <a:pPr algn="ctr"/>
                      <a:r>
                        <a:rPr sz="1200" b="0">
                          <a:solidFill>
                            <a:srgbClr val="111111"/>
                          </a:solidFill>
                          <a:latin typeface="Arial"/>
                        </a:rPr>
                        <a:t>92%</a:t>
                      </a:r>
                    </a:p>
                  </a:txBody>
                  <a:tcPr anchor="ctr" marL="127000" marR="76200" marT="12700" marB="12700">
                    <a:solidFill>
                      <a:srgbClr val="FFFFFF"/>
                    </a:solidFill>
                  </a:tcPr>
                </a:tc>
                <a:tc>
                  <a:txBody>
                    <a:bodyPr/>
                    <a:lstStyle/>
                    <a:p>
                      <a:pPr algn="ctr"/>
                      <a:r>
                        <a:rPr sz="1200" b="0">
                          <a:solidFill>
                            <a:srgbClr val="111111"/>
                          </a:solidFill>
                          <a:latin typeface="Arial"/>
                        </a:rPr>
                        <a:t>88%</a:t>
                      </a:r>
                    </a:p>
                  </a:txBody>
                  <a:tcPr anchor="ctr" marL="127000" marR="76200" marT="12700" marB="12700">
                    <a:solidFill>
                      <a:srgbClr val="FFFFFF"/>
                    </a:solidFill>
                  </a:tcPr>
                </a:tc>
                <a:tc>
                  <a:txBody>
                    <a:bodyPr/>
                    <a:lstStyle/>
                    <a:p>
                      <a:pPr algn="ctr"/>
                      <a:r>
                        <a:rPr sz="1200" b="1">
                          <a:solidFill>
                            <a:srgbClr val="156B33"/>
                          </a:solidFill>
                          <a:latin typeface="Arial"/>
                        </a:rPr>
                        <a:t>39.1%</a:t>
                      </a:r>
                    </a:p>
                  </a:txBody>
                  <a:tcPr anchor="ctr" marL="127000" marR="76200" marT="12700" marB="12700">
                    <a:solidFill>
                      <a:srgbClr val="FFFFFF"/>
                    </a:solidFill>
                  </a:tcPr>
                </a:tc>
                <a:tc>
                  <a:txBody>
                    <a:bodyPr/>
                    <a:lstStyle/>
                    <a:p>
                      <a:pPr algn="ctr"/>
                      <a:r>
                        <a:rPr sz="1200" b="0">
                          <a:solidFill>
                            <a:srgbClr val="111111"/>
                          </a:solidFill>
                          <a:latin typeface="Arial"/>
                        </a:rPr>
                        <a:t>+28.9</a:t>
                      </a:r>
                    </a:p>
                  </a:txBody>
                  <a:tcPr anchor="ctr" marL="127000" marR="76200" marT="12700" marB="12700">
                    <a:solidFill>
                      <a:srgbClr val="FFFFFF"/>
                    </a:solidFill>
                  </a:tcPr>
                </a:tc>
              </a:tr>
              <a:tr h="347472">
                <a:tc>
                  <a:txBody>
                    <a:bodyPr/>
                    <a:lstStyle/>
                    <a:p>
                      <a:pPr algn="l"/>
                      <a:r>
                        <a:rPr sz="1200" b="0">
                          <a:solidFill>
                            <a:srgbClr val="111111"/>
                          </a:solidFill>
                          <a:latin typeface="Arial"/>
                        </a:rPr>
                        <a:t>glass transition &gt; 200</a:t>
                      </a:r>
                    </a:p>
                  </a:txBody>
                  <a:tcPr anchor="ctr" marL="127000" marR="76200" marT="12700" marB="12700">
                    <a:solidFill>
                      <a:srgbClr val="DCF2E4"/>
                    </a:solidFill>
                  </a:tcPr>
                </a:tc>
                <a:tc>
                  <a:txBody>
                    <a:bodyPr/>
                    <a:lstStyle/>
                    <a:p>
                      <a:pPr algn="ctr"/>
                      <a:r>
                        <a:rPr sz="1200" b="0">
                          <a:solidFill>
                            <a:srgbClr val="111111"/>
                          </a:solidFill>
                          <a:latin typeface="Arial"/>
                        </a:rPr>
                        <a:t>77%</a:t>
                      </a:r>
                    </a:p>
                  </a:txBody>
                  <a:tcPr anchor="ctr" marL="127000" marR="76200" marT="12700" marB="12700">
                    <a:solidFill>
                      <a:srgbClr val="DCF2E4"/>
                    </a:solidFill>
                  </a:tcPr>
                </a:tc>
                <a:tc>
                  <a:txBody>
                    <a:bodyPr/>
                    <a:lstStyle/>
                    <a:p>
                      <a:pPr algn="ctr"/>
                      <a:r>
                        <a:rPr sz="1200" b="0">
                          <a:solidFill>
                            <a:srgbClr val="111111"/>
                          </a:solidFill>
                          <a:latin typeface="Arial"/>
                        </a:rPr>
                        <a:t>98%</a:t>
                      </a:r>
                    </a:p>
                  </a:txBody>
                  <a:tcPr anchor="ctr" marL="127000" marR="76200" marT="12700" marB="12700">
                    <a:solidFill>
                      <a:srgbClr val="DCF2E4"/>
                    </a:solidFill>
                  </a:tcPr>
                </a:tc>
                <a:tc>
                  <a:txBody>
                    <a:bodyPr/>
                    <a:lstStyle/>
                    <a:p>
                      <a:pPr algn="ctr"/>
                      <a:r>
                        <a:rPr sz="1200" b="1">
                          <a:solidFill>
                            <a:srgbClr val="156B33"/>
                          </a:solidFill>
                          <a:latin typeface="Arial"/>
                        </a:rPr>
                        <a:t>43.0%</a:t>
                      </a:r>
                    </a:p>
                  </a:txBody>
                  <a:tcPr anchor="ctr" marL="127000" marR="76200" marT="12700" marB="12700">
                    <a:solidFill>
                      <a:srgbClr val="DCF2E4"/>
                    </a:solidFill>
                  </a:tcPr>
                </a:tc>
                <a:tc>
                  <a:txBody>
                    <a:bodyPr/>
                    <a:lstStyle/>
                    <a:p>
                      <a:pPr algn="ctr"/>
                      <a:r>
                        <a:rPr sz="1200" b="0">
                          <a:solidFill>
                            <a:srgbClr val="111111"/>
                          </a:solidFill>
                          <a:latin typeface="Arial"/>
                        </a:rPr>
                        <a:t>+39.4</a:t>
                      </a:r>
                    </a:p>
                  </a:txBody>
                  <a:tcPr anchor="ctr" marL="127000" marR="76200" marT="12700" marB="12700">
                    <a:solidFill>
                      <a:srgbClr val="DCF2E4"/>
                    </a:solidFill>
                  </a:tcPr>
                </a:tc>
              </a:tr>
              <a:tr h="347472">
                <a:tc>
                  <a:txBody>
                    <a:bodyPr/>
                    <a:lstStyle/>
                    <a:p>
                      <a:pPr algn="l"/>
                      <a:r>
                        <a:rPr sz="1200" b="0">
                          <a:solidFill>
                            <a:srgbClr val="111111"/>
                          </a:solidFill>
                          <a:latin typeface="Arial"/>
                        </a:rPr>
                        <a:t>high Tg + low density (hard)</a:t>
                      </a:r>
                    </a:p>
                  </a:txBody>
                  <a:tcPr anchor="ctr" marL="127000" marR="76200" marT="12700" marB="12700">
                    <a:lnB w="9525">
                      <a:solidFill>
                        <a:srgbClr val="156B33"/>
                      </a:solidFill>
                    </a:lnB>
                    <a:solidFill>
                      <a:srgbClr val="FFFFFF"/>
                    </a:solidFill>
                  </a:tcPr>
                </a:tc>
                <a:tc>
                  <a:txBody>
                    <a:bodyPr/>
                    <a:lstStyle/>
                    <a:p>
                      <a:pPr algn="ctr"/>
                      <a:r>
                        <a:rPr sz="1200" b="0">
                          <a:solidFill>
                            <a:srgbClr val="111111"/>
                          </a:solidFill>
                          <a:latin typeface="Arial"/>
                        </a:rPr>
                        <a:t>60%</a:t>
                      </a:r>
                    </a:p>
                  </a:txBody>
                  <a:tcPr anchor="ctr" marL="127000" marR="76200" marT="12700" marB="12700">
                    <a:lnB w="9525">
                      <a:solidFill>
                        <a:srgbClr val="156B33"/>
                      </a:solidFill>
                    </a:lnB>
                    <a:solidFill>
                      <a:srgbClr val="FFFFFF"/>
                    </a:solidFill>
                  </a:tcPr>
                </a:tc>
                <a:tc>
                  <a:txBody>
                    <a:bodyPr/>
                    <a:lstStyle/>
                    <a:p>
                      <a:pPr algn="ctr"/>
                      <a:r>
                        <a:rPr sz="1200" b="0">
                          <a:solidFill>
                            <a:srgbClr val="111111"/>
                          </a:solidFill>
                          <a:latin typeface="Arial"/>
                        </a:rPr>
                        <a:t>93%</a:t>
                      </a:r>
                    </a:p>
                  </a:txBody>
                  <a:tcPr anchor="ctr" marL="127000" marR="76200" marT="12700" marB="12700">
                    <a:lnB w="9525">
                      <a:solidFill>
                        <a:srgbClr val="156B33"/>
                      </a:solidFill>
                    </a:lnB>
                    <a:solidFill>
                      <a:srgbClr val="FFFFFF"/>
                    </a:solidFill>
                  </a:tcPr>
                </a:tc>
                <a:tc>
                  <a:txBody>
                    <a:bodyPr/>
                    <a:lstStyle/>
                    <a:p>
                      <a:pPr algn="ctr"/>
                      <a:r>
                        <a:rPr sz="1200" b="1">
                          <a:solidFill>
                            <a:srgbClr val="156B33"/>
                          </a:solidFill>
                          <a:latin typeface="Arial"/>
                        </a:rPr>
                        <a:t>1.1%</a:t>
                      </a:r>
                    </a:p>
                  </a:txBody>
                  <a:tcPr anchor="ctr" marL="127000" marR="76200" marT="12700" marB="12700">
                    <a:lnB w="9525">
                      <a:solidFill>
                        <a:srgbClr val="156B33"/>
                      </a:solidFill>
                    </a:lnB>
                    <a:solidFill>
                      <a:srgbClr val="FFFFFF"/>
                    </a:solidFill>
                  </a:tcPr>
                </a:tc>
                <a:tc>
                  <a:txBody>
                    <a:bodyPr/>
                    <a:lstStyle/>
                    <a:p>
                      <a:pPr algn="ctr"/>
                      <a:r>
                        <a:rPr sz="1200" b="0">
                          <a:solidFill>
                            <a:srgbClr val="111111"/>
                          </a:solidFill>
                          <a:latin typeface="Arial"/>
                        </a:rPr>
                        <a:t>+1.1</a:t>
                      </a:r>
                    </a:p>
                  </a:txBody>
                  <a:tcPr anchor="ctr" marL="127000" marR="76200" marT="12700" marB="12700">
                    <a:lnB w="9525">
                      <a:solidFill>
                        <a:srgbClr val="156B33"/>
                      </a:solidFill>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9BE3A8"/>
        </a:solidFill>
        <a:effectLst/>
      </p:bgPr>
    </p:bg>
    <p:spTree>
      <p:nvGrpSpPr>
        <p:cNvPr id="1" name=""/>
        <p:cNvGrpSpPr/>
        <p:nvPr/>
      </p:nvGrpSpPr>
      <p:grpSpPr/>
      <p:sp>
        <p:nvSpPr>
          <p:cNvPr id="2" name="Shape 0"/>
          <p:cNvSpPr/>
          <p:nvPr/>
        </p:nvSpPr>
        <p:spPr>
          <a:xfrm>
            <a:off x="411480" y="292608"/>
            <a:ext cx="11365992" cy="6272784"/>
          </a:xfrm>
          <a:prstGeom prst="roundRect">
            <a:avLst>
              <a:gd name="adj" fmla="val 2332"/>
            </a:avLst>
          </a:prstGeom>
          <a:solidFill>
            <a:srgbClr val="FFFFFF"/>
          </a:solidFill>
          <a:ln w="12700">
            <a:solidFill>
              <a:srgbClr val="333333"/>
            </a:solidFill>
            <a:prstDash val="solid"/>
          </a:ln>
        </p:spPr>
        <p:txBody>
          <a:bodyPr/>
          <a:p/>
        </p:txBody>
      </p:sp>
      <p:sp>
        <p:nvSpPr>
          <p:cNvPr id="3" name="Text 1"/>
          <p:cNvSpPr/>
          <p:nvPr/>
        </p:nvSpPr>
        <p:spPr>
          <a:xfrm>
            <a:off x="868680" y="475488"/>
            <a:ext cx="7315200" cy="256032"/>
          </a:xfrm>
          <a:prstGeom prst="rect">
            <a:avLst/>
          </a:prstGeom>
          <a:noFill/>
          <a:ln/>
        </p:spPr>
        <p:txBody>
          <a:bodyPr wrap="square" lIns="0" tIns="0" rIns="0" bIns="0" rtlCol="0" anchor="ctr"/>
          <a:lstStyle/>
          <a:p>
            <a:pPr marL="0" indent="0">
              <a:buNone/>
            </a:pPr>
            <a:r>
              <a:rPr lang="en-US" sz="1000" b="1" kern="0" spc="120" dirty="0">
                <a:solidFill>
                  <a:srgbClr val="156B33"/>
                </a:solidFill>
                <a:latin typeface="Arial" pitchFamily="34" charset="0"/>
                <a:ea typeface="Arial" pitchFamily="34" charset="-122"/>
                <a:cs typeface="Arial" pitchFamily="34" charset="-120"/>
              </a:rPr>
              <a:t>REFERENCES</a:t>
            </a:r>
            <a:endParaRPr lang="en-US" sz="1000" dirty="0"/>
          </a:p>
        </p:txBody>
      </p:sp>
      <p:sp>
        <p:nvSpPr>
          <p:cNvPr id="4" name="Text 2"/>
          <p:cNvSpPr/>
          <p:nvPr/>
        </p:nvSpPr>
        <p:spPr>
          <a:xfrm>
            <a:off x="914400" y="749808"/>
            <a:ext cx="10360152" cy="658368"/>
          </a:xfrm>
          <a:prstGeom prst="rect">
            <a:avLst/>
          </a:prstGeom>
          <a:noFill/>
          <a:ln/>
        </p:spPr>
        <p:txBody>
          <a:bodyPr wrap="square" lIns="0" tIns="0" rIns="0" bIns="0" rtlCol="0" anchor="ctr"/>
          <a:lstStyle/>
          <a:p>
            <a:pPr marL="0" indent="0" algn="ctr">
              <a:buNone/>
            </a:pPr>
            <a:r>
              <a:rPr lang="en-US" sz="2900" b="1">
                <a:solidFill>
                  <a:srgbClr val="111111"/>
                </a:solidFill>
                <a:latin typeface="Arial" pitchFamily="34" charset="0"/>
                <a:ea typeface="Arial" pitchFamily="34" charset="-122"/>
                <a:cs typeface="Arial" pitchFamily="34" charset="-120"/>
              </a:rPr>
              <a:t>References</a:t>
            </a:r>
            <a:endParaRPr lang="en-US" sz="2900" dirty="0"/>
          </a:p>
        </p:txBody>
      </p:sp>
      <p:sp>
        <p:nvSpPr>
          <p:cNvPr id="5" name="Text 3"/>
          <p:cNvSpPr/>
          <p:nvPr/>
        </p:nvSpPr>
        <p:spPr>
          <a:xfrm>
            <a:off x="10881360" y="6053328"/>
            <a:ext cx="548640" cy="274320"/>
          </a:xfrm>
          <a:prstGeom prst="rect">
            <a:avLst/>
          </a:prstGeom>
          <a:noFill/>
          <a:ln/>
        </p:spPr>
        <p:txBody>
          <a:bodyPr wrap="square" lIns="0" tIns="0" rIns="0" bIns="0" rtlCol="0" anchor="ctr"/>
          <a:lstStyle/>
          <a:p>
            <a:pPr marL="0" indent="0" algn="r">
              <a:buNone/>
            </a:pPr>
            <a:r>
              <a:rPr lang="en-US" sz="1000" dirty="0">
                <a:solidFill>
                  <a:srgbClr val="9A9A9A"/>
                </a:solidFill>
                <a:latin typeface="Arial" pitchFamily="34" charset="0"/>
                <a:ea typeface="Arial" pitchFamily="34" charset="-122"/>
                <a:cs typeface="Arial" pitchFamily="34" charset="-120"/>
              </a:rPr>
              <a:t>27</a:t>
            </a:r>
            <a:endParaRPr lang="en-US" sz="1000" dirty="0"/>
          </a:p>
        </p:txBody>
      </p:sp>
      <p:sp>
        <p:nvSpPr>
          <p:cNvPr id="6" name="Shape 4"/>
          <p:cNvSpPr/>
          <p:nvPr/>
        </p:nvSpPr>
        <p:spPr>
          <a:xfrm>
            <a:off x="960120" y="1645920"/>
            <a:ext cx="10241280" cy="786384"/>
          </a:xfrm>
          <a:prstGeom prst="roundRect">
            <a:avLst>
              <a:gd name="adj" fmla="val 9302"/>
            </a:avLst>
          </a:prstGeom>
          <a:solidFill>
            <a:srgbClr val="DCF2E4"/>
          </a:solidFill>
          <a:ln w="12700">
            <a:solidFill>
              <a:srgbClr val="333333"/>
            </a:solidFill>
            <a:prstDash val="solid"/>
          </a:ln>
        </p:spPr>
        <p:txBody>
          <a:bodyPr/>
          <a:p/>
        </p:txBody>
      </p:sp>
      <p:sp>
        <p:nvSpPr>
          <p:cNvPr id="7" name="Text 5"/>
          <p:cNvSpPr/>
          <p:nvPr/>
        </p:nvSpPr>
        <p:spPr>
          <a:xfrm>
            <a:off x="1188720" y="1645920"/>
            <a:ext cx="365760" cy="786384"/>
          </a:xfrm>
          <a:prstGeom prst="rect">
            <a:avLst/>
          </a:prstGeom>
          <a:noFill/>
          <a:ln/>
        </p:spPr>
        <p:txBody>
          <a:bodyPr wrap="square" lIns="0" tIns="0" rIns="0" bIns="0" rtlCol="0" anchor="ctr"/>
          <a:lstStyle/>
          <a:p>
            <a:pPr marL="0" indent="0" algn="ctr">
              <a:buNone/>
            </a:pPr>
            <a:r>
              <a:rPr lang="en-US" sz="1500" b="1" dirty="0">
                <a:solidFill>
                  <a:srgbClr val="156B33"/>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1691640" y="1737360"/>
            <a:ext cx="9326880" cy="310896"/>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Batra et al. (2020)  ·  Chemistry of Materials 32(24), 10489–10500</a:t>
            </a:r>
            <a:endParaRPr lang="en-US" sz="1300" dirty="0"/>
          </a:p>
        </p:txBody>
      </p:sp>
      <p:sp>
        <p:nvSpPr>
          <p:cNvPr id="9" name="Text 7"/>
          <p:cNvSpPr/>
          <p:nvPr/>
        </p:nvSpPr>
        <p:spPr>
          <a:xfrm>
            <a:off x="1691640" y="2048256"/>
            <a:ext cx="9326880" cy="329184"/>
          </a:xfrm>
          <a:prstGeom prst="rect">
            <a:avLst/>
          </a:prstGeom>
          <a:noFill/>
          <a:ln/>
        </p:spPr>
        <p:txBody>
          <a:bodyPr wrap="square" lIns="0" tIns="0" rIns="0" bIns="0" rtlCol="0" anchor="ctr"/>
          <a:lstStyle/>
          <a:p>
            <a:pPr marL="0" indent="0">
              <a:buNone/>
            </a:pPr>
            <a:r>
              <a:rPr lang="en-US" sz="1150" dirty="0">
                <a:solidFill>
                  <a:srgbClr val="2E2E2E"/>
                </a:solidFill>
                <a:latin typeface="Arial" pitchFamily="34" charset="0"/>
                <a:ea typeface="Arial" pitchFamily="34" charset="-122"/>
                <a:cs typeface="Arial" pitchFamily="34" charset="-120"/>
              </a:rPr>
              <a:t>Polymers for extreme conditions designed using syntax-directed variational autoencoders</a:t>
            </a:r>
            <a:endParaRPr lang="en-US" sz="1150" dirty="0"/>
          </a:p>
        </p:txBody>
      </p:sp>
      <p:sp>
        <p:nvSpPr>
          <p:cNvPr id="10" name="Shape 8"/>
          <p:cNvSpPr/>
          <p:nvPr/>
        </p:nvSpPr>
        <p:spPr>
          <a:xfrm>
            <a:off x="960120" y="2542032"/>
            <a:ext cx="10241280" cy="786384"/>
          </a:xfrm>
          <a:prstGeom prst="roundRect">
            <a:avLst>
              <a:gd name="adj" fmla="val 9302"/>
            </a:avLst>
          </a:prstGeom>
          <a:solidFill>
            <a:srgbClr val="ECECEC"/>
          </a:solidFill>
          <a:ln w="12700">
            <a:solidFill>
              <a:srgbClr val="333333"/>
            </a:solidFill>
            <a:prstDash val="solid"/>
          </a:ln>
        </p:spPr>
        <p:txBody>
          <a:bodyPr/>
          <a:p/>
        </p:txBody>
      </p:sp>
      <p:sp>
        <p:nvSpPr>
          <p:cNvPr id="11" name="Text 9"/>
          <p:cNvSpPr/>
          <p:nvPr/>
        </p:nvSpPr>
        <p:spPr>
          <a:xfrm>
            <a:off x="1188720" y="2542032"/>
            <a:ext cx="365760" cy="786384"/>
          </a:xfrm>
          <a:prstGeom prst="rect">
            <a:avLst/>
          </a:prstGeom>
          <a:noFill/>
          <a:ln/>
        </p:spPr>
        <p:txBody>
          <a:bodyPr wrap="square" lIns="0" tIns="0" rIns="0" bIns="0" rtlCol="0" anchor="ctr"/>
          <a:lstStyle/>
          <a:p>
            <a:pPr marL="0" indent="0" algn="ctr">
              <a:buNone/>
            </a:pPr>
            <a:r>
              <a:rPr lang="en-US" sz="1500" b="1" dirty="0">
                <a:solidFill>
                  <a:srgbClr val="156B33"/>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1691640" y="2633472"/>
            <a:ext cx="9326880" cy="310896"/>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Krenn et al. (2020)  ·  Machine Learning: Science and Technology 1, 045024</a:t>
            </a:r>
            <a:endParaRPr lang="en-US" sz="1300" dirty="0"/>
          </a:p>
        </p:txBody>
      </p:sp>
      <p:sp>
        <p:nvSpPr>
          <p:cNvPr id="13" name="Text 11"/>
          <p:cNvSpPr/>
          <p:nvPr/>
        </p:nvSpPr>
        <p:spPr>
          <a:xfrm>
            <a:off x="1691640" y="2944368"/>
            <a:ext cx="9326880" cy="329184"/>
          </a:xfrm>
          <a:prstGeom prst="rect">
            <a:avLst/>
          </a:prstGeom>
          <a:noFill/>
          <a:ln/>
        </p:spPr>
        <p:txBody>
          <a:bodyPr wrap="square" lIns="0" tIns="0" rIns="0" bIns="0" rtlCol="0" anchor="ctr"/>
          <a:lstStyle/>
          <a:p>
            <a:pPr marL="0" indent="0">
              <a:buNone/>
            </a:pPr>
            <a:r>
              <a:rPr lang="en-US" sz="1150" dirty="0">
                <a:solidFill>
                  <a:srgbClr val="2E2E2E"/>
                </a:solidFill>
                <a:latin typeface="Arial" pitchFamily="34" charset="0"/>
                <a:ea typeface="Arial" pitchFamily="34" charset="-122"/>
                <a:cs typeface="Arial" pitchFamily="34" charset="-120"/>
              </a:rPr>
              <a:t>Self-referencing embedded strings (SELFIES): a 100% robust molecular string representation</a:t>
            </a:r>
            <a:endParaRPr lang="en-US" sz="1150" dirty="0"/>
          </a:p>
        </p:txBody>
      </p:sp>
      <p:sp>
        <p:nvSpPr>
          <p:cNvPr id="14" name="Shape 12"/>
          <p:cNvSpPr/>
          <p:nvPr/>
        </p:nvSpPr>
        <p:spPr>
          <a:xfrm>
            <a:off x="960120" y="3438144"/>
            <a:ext cx="10241280" cy="786384"/>
          </a:xfrm>
          <a:prstGeom prst="roundRect">
            <a:avLst>
              <a:gd name="adj" fmla="val 9302"/>
            </a:avLst>
          </a:prstGeom>
          <a:solidFill>
            <a:srgbClr val="DCF2E4"/>
          </a:solidFill>
          <a:ln w="12700">
            <a:solidFill>
              <a:srgbClr val="333333"/>
            </a:solidFill>
            <a:prstDash val="solid"/>
          </a:ln>
        </p:spPr>
        <p:txBody>
          <a:bodyPr/>
          <a:p/>
        </p:txBody>
      </p:sp>
      <p:sp>
        <p:nvSpPr>
          <p:cNvPr id="15" name="Text 13"/>
          <p:cNvSpPr/>
          <p:nvPr/>
        </p:nvSpPr>
        <p:spPr>
          <a:xfrm>
            <a:off x="1188720" y="3438144"/>
            <a:ext cx="365760" cy="786384"/>
          </a:xfrm>
          <a:prstGeom prst="rect">
            <a:avLst/>
          </a:prstGeom>
          <a:noFill/>
          <a:ln/>
        </p:spPr>
        <p:txBody>
          <a:bodyPr wrap="square" lIns="0" tIns="0" rIns="0" bIns="0" rtlCol="0" anchor="ctr"/>
          <a:lstStyle/>
          <a:p>
            <a:pPr marL="0" indent="0" algn="ctr">
              <a:buNone/>
            </a:pPr>
            <a:r>
              <a:rPr lang="en-US" sz="1500" b="1" dirty="0">
                <a:solidFill>
                  <a:srgbClr val="156B33"/>
                </a:solidFill>
                <a:latin typeface="Arial" pitchFamily="34" charset="0"/>
                <a:ea typeface="Arial" pitchFamily="34" charset="-122"/>
                <a:cs typeface="Arial" pitchFamily="34" charset="-120"/>
              </a:rPr>
              <a:t>3</a:t>
            </a:r>
            <a:endParaRPr lang="en-US" sz="1500" dirty="0"/>
          </a:p>
        </p:txBody>
      </p:sp>
      <p:sp>
        <p:nvSpPr>
          <p:cNvPr id="16" name="Text 14"/>
          <p:cNvSpPr/>
          <p:nvPr/>
        </p:nvSpPr>
        <p:spPr>
          <a:xfrm>
            <a:off x="1691640" y="3529584"/>
            <a:ext cx="9326880" cy="310896"/>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Ma &amp; Luo (2020)  ·  Journal of Chemical Information and Modeling 60(10), 4684–4690</a:t>
            </a:r>
            <a:endParaRPr lang="en-US" sz="1300" dirty="0"/>
          </a:p>
        </p:txBody>
      </p:sp>
      <p:sp>
        <p:nvSpPr>
          <p:cNvPr id="17" name="Text 15"/>
          <p:cNvSpPr/>
          <p:nvPr/>
        </p:nvSpPr>
        <p:spPr>
          <a:xfrm>
            <a:off x="1691640" y="3840480"/>
            <a:ext cx="9326880" cy="329184"/>
          </a:xfrm>
          <a:prstGeom prst="rect">
            <a:avLst/>
          </a:prstGeom>
          <a:noFill/>
          <a:ln/>
        </p:spPr>
        <p:txBody>
          <a:bodyPr wrap="square" lIns="0" tIns="0" rIns="0" bIns="0" rtlCol="0" anchor="ctr"/>
          <a:lstStyle/>
          <a:p>
            <a:pPr marL="0" indent="0">
              <a:buNone/>
            </a:pPr>
            <a:r>
              <a:rPr lang="en-US" sz="1150" dirty="0">
                <a:solidFill>
                  <a:srgbClr val="2E2E2E"/>
                </a:solidFill>
                <a:latin typeface="Arial" pitchFamily="34" charset="0"/>
                <a:ea typeface="Arial" pitchFamily="34" charset="-122"/>
                <a:cs typeface="Arial" pitchFamily="34" charset="-120"/>
              </a:rPr>
              <a:t>PI1M: a benchmark database for polymer informatics</a:t>
            </a:r>
            <a:endParaRPr lang="en-US" sz="1150" dirty="0"/>
          </a:p>
        </p:txBody>
      </p:sp>
      <p:sp>
        <p:nvSpPr>
          <p:cNvPr id="18" name="Shape 16"/>
          <p:cNvSpPr/>
          <p:nvPr/>
        </p:nvSpPr>
        <p:spPr>
          <a:xfrm>
            <a:off x="960120" y="4334256"/>
            <a:ext cx="10241280" cy="786384"/>
          </a:xfrm>
          <a:prstGeom prst="roundRect">
            <a:avLst>
              <a:gd name="adj" fmla="val 9302"/>
            </a:avLst>
          </a:prstGeom>
          <a:solidFill>
            <a:srgbClr val="ECECEC"/>
          </a:solidFill>
          <a:ln w="12700">
            <a:solidFill>
              <a:srgbClr val="333333"/>
            </a:solidFill>
            <a:prstDash val="solid"/>
          </a:ln>
        </p:spPr>
        <p:txBody>
          <a:bodyPr/>
          <a:p/>
        </p:txBody>
      </p:sp>
      <p:sp>
        <p:nvSpPr>
          <p:cNvPr id="19" name="Text 17"/>
          <p:cNvSpPr/>
          <p:nvPr/>
        </p:nvSpPr>
        <p:spPr>
          <a:xfrm>
            <a:off x="1188720" y="4334256"/>
            <a:ext cx="365760" cy="786384"/>
          </a:xfrm>
          <a:prstGeom prst="rect">
            <a:avLst/>
          </a:prstGeom>
          <a:noFill/>
          <a:ln/>
        </p:spPr>
        <p:txBody>
          <a:bodyPr wrap="square" lIns="0" tIns="0" rIns="0" bIns="0" rtlCol="0" anchor="ctr"/>
          <a:lstStyle/>
          <a:p>
            <a:pPr marL="0" indent="0" algn="ctr">
              <a:buNone/>
            </a:pPr>
            <a:r>
              <a:rPr lang="en-US" sz="1500" b="1" dirty="0">
                <a:solidFill>
                  <a:srgbClr val="156B33"/>
                </a:solidFill>
                <a:latin typeface="Arial" pitchFamily="34" charset="0"/>
                <a:ea typeface="Arial" pitchFamily="34" charset="-122"/>
                <a:cs typeface="Arial" pitchFamily="34" charset="-120"/>
              </a:rPr>
              <a:t>4</a:t>
            </a:r>
            <a:endParaRPr lang="en-US" sz="1500" dirty="0"/>
          </a:p>
        </p:txBody>
      </p:sp>
      <p:sp>
        <p:nvSpPr>
          <p:cNvPr id="20" name="Text 18"/>
          <p:cNvSpPr/>
          <p:nvPr/>
        </p:nvSpPr>
        <p:spPr>
          <a:xfrm>
            <a:off x="1691640" y="4425696"/>
            <a:ext cx="9326880" cy="310896"/>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Kuenneth &amp; Ramprasad (2023)  ·  Nature Communications 14, 4099</a:t>
            </a:r>
            <a:endParaRPr lang="en-US" sz="1300" dirty="0"/>
          </a:p>
        </p:txBody>
      </p:sp>
      <p:sp>
        <p:nvSpPr>
          <p:cNvPr id="21" name="Text 19"/>
          <p:cNvSpPr/>
          <p:nvPr/>
        </p:nvSpPr>
        <p:spPr>
          <a:xfrm>
            <a:off x="1691640" y="4736592"/>
            <a:ext cx="9326880" cy="329184"/>
          </a:xfrm>
          <a:prstGeom prst="rect">
            <a:avLst/>
          </a:prstGeom>
          <a:noFill/>
          <a:ln/>
        </p:spPr>
        <p:txBody>
          <a:bodyPr wrap="square" lIns="0" tIns="0" rIns="0" bIns="0" rtlCol="0" anchor="ctr"/>
          <a:lstStyle/>
          <a:p>
            <a:pPr marL="0" indent="0">
              <a:buNone/>
            </a:pPr>
            <a:r>
              <a:rPr lang="en-US" sz="1150" dirty="0">
                <a:solidFill>
                  <a:srgbClr val="2E2E2E"/>
                </a:solidFill>
                <a:latin typeface="Arial" pitchFamily="34" charset="0"/>
                <a:ea typeface="Arial" pitchFamily="34" charset="-122"/>
                <a:cs typeface="Arial" pitchFamily="34" charset="-120"/>
              </a:rPr>
              <a:t>polyBERT: a chemical language model to enable fully machine-driven ultrafast polymer informatics</a:t>
            </a:r>
            <a:endParaRPr lang="en-US" sz="1150" dirty="0"/>
          </a:p>
        </p:txBody>
      </p:sp>
      <p:sp>
        <p:nvSpPr>
          <p:cNvPr id="22" name="Shape 20"/>
          <p:cNvSpPr/>
          <p:nvPr/>
        </p:nvSpPr>
        <p:spPr>
          <a:xfrm>
            <a:off x="960120" y="5230368"/>
            <a:ext cx="10241280" cy="786384"/>
          </a:xfrm>
          <a:prstGeom prst="roundRect">
            <a:avLst>
              <a:gd name="adj" fmla="val 9302"/>
            </a:avLst>
          </a:prstGeom>
          <a:solidFill>
            <a:srgbClr val="DCF2E4"/>
          </a:solidFill>
          <a:ln w="12700">
            <a:solidFill>
              <a:srgbClr val="333333"/>
            </a:solidFill>
            <a:prstDash val="solid"/>
          </a:ln>
        </p:spPr>
        <p:txBody>
          <a:bodyPr/>
          <a:p/>
        </p:txBody>
      </p:sp>
      <p:sp>
        <p:nvSpPr>
          <p:cNvPr id="23" name="Text 21"/>
          <p:cNvSpPr/>
          <p:nvPr/>
        </p:nvSpPr>
        <p:spPr>
          <a:xfrm>
            <a:off x="1188720" y="5230368"/>
            <a:ext cx="365760" cy="786384"/>
          </a:xfrm>
          <a:prstGeom prst="rect">
            <a:avLst/>
          </a:prstGeom>
          <a:noFill/>
          <a:ln/>
        </p:spPr>
        <p:txBody>
          <a:bodyPr wrap="square" lIns="0" tIns="0" rIns="0" bIns="0" rtlCol="0" anchor="ctr"/>
          <a:lstStyle/>
          <a:p>
            <a:pPr marL="0" indent="0" algn="ctr">
              <a:buNone/>
            </a:pPr>
            <a:r>
              <a:rPr lang="en-US" sz="1500" b="1" dirty="0">
                <a:solidFill>
                  <a:srgbClr val="156B33"/>
                </a:solidFill>
                <a:latin typeface="Arial" pitchFamily="34" charset="0"/>
                <a:ea typeface="Arial" pitchFamily="34" charset="-122"/>
                <a:cs typeface="Arial" pitchFamily="34" charset="-120"/>
              </a:rPr>
              <a:t>5</a:t>
            </a:r>
            <a:endParaRPr lang="en-US" sz="1500" dirty="0"/>
          </a:p>
        </p:txBody>
      </p:sp>
      <p:sp>
        <p:nvSpPr>
          <p:cNvPr id="24" name="Text 22"/>
          <p:cNvSpPr/>
          <p:nvPr/>
        </p:nvSpPr>
        <p:spPr>
          <a:xfrm>
            <a:off x="1691640" y="5321808"/>
            <a:ext cx="9326880" cy="310896"/>
          </a:xfrm>
          <a:prstGeom prst="rect">
            <a:avLst/>
          </a:prstGeom>
          <a:noFill/>
          <a:ln/>
        </p:spPr>
        <p:txBody>
          <a:bodyPr wrap="square" lIns="0" tIns="0" rIns="0" bIns="0" rtlCol="0" anchor="ctr"/>
          <a:lstStyle/>
          <a:p>
            <a:pPr marL="0" indent="0">
              <a:buNone/>
            </a:pPr>
            <a:r>
              <a:rPr lang="en-US" sz="1300" b="1" dirty="0">
                <a:solidFill>
                  <a:srgbClr val="111111"/>
                </a:solidFill>
                <a:latin typeface="Arial" pitchFamily="34" charset="0"/>
                <a:ea typeface="Arial" pitchFamily="34" charset="-122"/>
                <a:cs typeface="Arial" pitchFamily="34" charset="-120"/>
              </a:rPr>
              <a:t>Open Polymer Prediction Challenge  ·  NeurIPS 2025</a:t>
            </a:r>
            <a:endParaRPr lang="en-US" sz="1300" dirty="0"/>
          </a:p>
        </p:txBody>
      </p:sp>
      <p:sp>
        <p:nvSpPr>
          <p:cNvPr id="25" name="Text 23"/>
          <p:cNvSpPr/>
          <p:nvPr/>
        </p:nvSpPr>
        <p:spPr>
          <a:xfrm>
            <a:off x="1691640" y="5632704"/>
            <a:ext cx="9326880" cy="329184"/>
          </a:xfrm>
          <a:prstGeom prst="rect">
            <a:avLst/>
          </a:prstGeom>
          <a:noFill/>
          <a:ln/>
        </p:spPr>
        <p:txBody>
          <a:bodyPr wrap="square" lIns="0" tIns="0" rIns="0" bIns="0" rtlCol="0" anchor="ctr"/>
          <a:lstStyle/>
          <a:p>
            <a:pPr marL="0" indent="0">
              <a:buNone/>
            </a:pPr>
            <a:r>
              <a:rPr lang="en-US" sz="1150" dirty="0">
                <a:solidFill>
                  <a:srgbClr val="2E2E2E"/>
                </a:solidFill>
                <a:latin typeface="Arial" pitchFamily="34" charset="0"/>
                <a:ea typeface="Arial" pitchFamily="34" charset="-122"/>
                <a:cs typeface="Arial" pitchFamily="34" charset="-120"/>
              </a:rPr>
              <a:t>7,973 polymers with five MD-simulated properties: Tg, FFV, Tc, Density, Rg</a:t>
            </a:r>
            <a:endParaRPr lang="en-US" sz="1150" dirty="0"/>
          </a:p>
        </p:txBody>
      </p:sp>
      <p:sp>
        <p:nvSpPr>
          <p:cNvPr id="26" name="Text 24"/>
          <p:cNvSpPr/>
          <p:nvPr/>
        </p:nvSpPr>
        <p:spPr>
          <a:xfrm>
            <a:off x="960120" y="6144768"/>
            <a:ext cx="10241280" cy="274320"/>
          </a:xfrm>
          <a:prstGeom prst="rect">
            <a:avLst/>
          </a:prstGeom>
          <a:noFill/>
          <a:ln/>
        </p:spPr>
        <p:txBody>
          <a:bodyPr wrap="square" lIns="0" tIns="0" rIns="0" bIns="0" rtlCol="0" anchor="ctr"/>
          <a:lstStyle/>
          <a:p>
            <a:pPr marL="0" indent="0" algn="ctr">
              <a:buNone/>
            </a:pPr>
            <a:r>
              <a:rPr lang="en-US" sz="1150" i="1" dirty="0">
                <a:solidFill>
                  <a:srgbClr val="5C5C5C"/>
                </a:solidFill>
                <a:latin typeface="Arial" pitchFamily="34" charset="0"/>
                <a:ea typeface="Arial" pitchFamily="34" charset="-122"/>
                <a:cs typeface="Arial" pitchFamily="34" charset="-120"/>
              </a:rPr>
              <a:t>RAG corpus: 21 peer-reviewed polymer structure–property papers, retrieved per query and cited in every answer.</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2154</Words>
  <Application>Microsoft Office PowerPoint</Application>
  <PresentationFormat>Widescreen</PresentationFormat>
  <Paragraphs>502</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Aakash Gs</cp:lastModifiedBy>
  <cp:revision>4</cp:revision>
  <dcterms:created xsi:type="dcterms:W3CDTF">2026-08-19T05:58:26Z</dcterms:created>
  <dcterms:modified xsi:type="dcterms:W3CDTF">2026-08-19T10:46:21Z</dcterms:modified>
</cp:coreProperties>
</file>